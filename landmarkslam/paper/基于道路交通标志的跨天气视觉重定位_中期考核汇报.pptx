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</p:sldIdLst>
  <p:notesMasterIdLst>
    <p:notesMasterId r:id="rId3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notesMaster" Target="notesMasters/notesMaster1.xml"/><Relationship Id="rId34" Type="http://schemas.openxmlformats.org/officeDocument/2006/relationships/presProps" Target="presProps.xml"/><Relationship Id="rId35" Type="http://schemas.openxmlformats.org/officeDocument/2006/relationships/viewProps" Target="viewProps.xml"/><Relationship Id="rId36" Type="http://schemas.openxmlformats.org/officeDocument/2006/relationships/theme" Target="theme/theme1.xml"/><Relationship Id="rId3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2-1.png"/><Relationship Id="rId2" Type="http://schemas.openxmlformats.org/officeDocument/2006/relationships/image" Target="../media/image-1002-2.png"/><Relationship Id="rId3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56032" y="201168"/>
            <a:ext cx="384048" cy="384048"/>
          </a:xfrm>
          <a:prstGeom prst="rect">
            <a:avLst/>
          </a:prstGeom>
          <a:solidFill>
            <a:srgbClr val="FFFFFF"/>
          </a:solidFill>
          <a:ln w="25400">
            <a:solidFill>
              <a:srgbClr val="8C8C8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84632" y="347472"/>
            <a:ext cx="384048" cy="384048"/>
          </a:xfrm>
          <a:prstGeom prst="rect">
            <a:avLst/>
          </a:prstGeom>
          <a:solidFill>
            <a:srgbClr val="394179"/>
          </a:solidFill>
          <a:ln w="12700">
            <a:solidFill>
              <a:srgbClr val="394179"/>
            </a:solidFill>
            <a:prstDash val="solid"/>
          </a:ln>
        </p:spPr>
      </p:sp>
      <p:pic>
        <p:nvPicPr>
          <p:cNvPr id="4" name="Image 0" descr="/home/ehuy/ORBSLAM3-TrafficSign-Pose/landmarkslam/paper/assets/reference_theme/cvp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12480" y="18288"/>
            <a:ext cx="868680" cy="749808"/>
          </a:xfrm>
          <a:prstGeom prst="rect">
            <a:avLst/>
          </a:prstGeom>
        </p:spPr>
      </p:pic>
      <p:pic>
        <p:nvPicPr>
          <p:cNvPr id="5" name="Image 1" descr="/home/ehuy/ORBSLAM3-TrafficSign-Pose/landmarkslam/paper/assets/reference_theme/anhui_university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64040" y="118872"/>
            <a:ext cx="2331720" cy="548640"/>
          </a:xfrm>
          <a:prstGeom prst="rect">
            <a:avLst/>
          </a:prstGeom>
        </p:spPr>
      </p:pic>
      <p:sp>
        <p:nvSpPr>
          <p:cNvPr id="6" name="Shape 2"/>
          <p:cNvSpPr/>
          <p:nvPr/>
        </p:nvSpPr>
        <p:spPr>
          <a:xfrm>
            <a:off x="0" y="841248"/>
            <a:ext cx="12191695" cy="73152"/>
          </a:xfrm>
          <a:prstGeom prst="rect">
            <a:avLst/>
          </a:prstGeom>
          <a:solidFill>
            <a:srgbClr val="394179"/>
          </a:solidFill>
          <a:ln w="12700">
            <a:solidFill>
              <a:srgbClr val="394179"/>
            </a:solidFill>
            <a:prstDash val="solid"/>
          </a:ln>
        </p:spPr>
      </p:sp>
      <p:sp>
        <p:nvSpPr>
          <p:cNvPr id="7" name="Shape 3"/>
          <p:cNvSpPr/>
          <p:nvPr/>
        </p:nvSpPr>
        <p:spPr>
          <a:xfrm>
            <a:off x="0" y="914400"/>
            <a:ext cx="12191695" cy="32004"/>
          </a:xfrm>
          <a:prstGeom prst="rect">
            <a:avLst/>
          </a:prstGeom>
          <a:solidFill>
            <a:srgbClr val="B8B8B8">
              <a:alpha val="70000"/>
            </a:srgbClr>
          </a:solidFill>
          <a:ln w="12700">
            <a:solidFill>
              <a:srgbClr val="B8B8B8">
                <a:alpha val="0"/>
              </a:srgbClr>
            </a:solidFill>
            <a:prstDash val="solid"/>
          </a:ln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39728" y="656539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A8A8A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39728" y="656539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A8A8A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image" Target="../media/image-10-6.png"/><Relationship Id="rId7" Type="http://schemas.openxmlformats.org/officeDocument/2006/relationships/image" Target="../media/image-10-7.png"/><Relationship Id="rId8" Type="http://schemas.openxmlformats.org/officeDocument/2006/relationships/slideLayout" Target="../slideLayouts/slideLayout2.xml"/><Relationship Id="rId9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image" Target="../media/image-11-5.png"/><Relationship Id="rId6" Type="http://schemas.openxmlformats.org/officeDocument/2006/relationships/image" Target="../media/image-11-6.png"/><Relationship Id="rId7" Type="http://schemas.openxmlformats.org/officeDocument/2006/relationships/slideLayout" Target="../slideLayouts/slideLayout2.xml"/><Relationship Id="rId8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image" Target="../media/image-12-4.pn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image" Target="../media/image-14-3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image" Target="../media/image-16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image" Target="../media/image-18-2.png"/><Relationship Id="rId3" Type="http://schemas.openxmlformats.org/officeDocument/2006/relationships/image" Target="../media/image-18-3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image" Target="../media/image-19-2.png"/><Relationship Id="rId3" Type="http://schemas.openxmlformats.org/officeDocument/2006/relationships/image" Target="../media/image-19-3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image" Target="../media/image-21-2.png"/><Relationship Id="rId3" Type="http://schemas.openxmlformats.org/officeDocument/2006/relationships/image" Target="../media/image-21-3.png"/><Relationship Id="rId4" Type="http://schemas.openxmlformats.org/officeDocument/2006/relationships/image" Target="../media/image-21-4.png"/><Relationship Id="rId5" Type="http://schemas.openxmlformats.org/officeDocument/2006/relationships/image" Target="../media/image-21-5.png"/><Relationship Id="rId6" Type="http://schemas.openxmlformats.org/officeDocument/2006/relationships/slideLayout" Target="../slideLayouts/slideLayout2.xml"/><Relationship Id="rId7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image" Target="../media/image-23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png"/><Relationship Id="rId2" Type="http://schemas.openxmlformats.org/officeDocument/2006/relationships/image" Target="../media/image-24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6-1.png"/><Relationship Id="rId2" Type="http://schemas.openxmlformats.org/officeDocument/2006/relationships/image" Target="../media/image-26-2.png"/><Relationship Id="rId3" Type="http://schemas.openxmlformats.org/officeDocument/2006/relationships/image" Target="../media/image-26-3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971800" y="1993392"/>
            <a:ext cx="6263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70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中期考核汇报</a:t>
            </a:r>
            <a:endParaRPr lang="en-US" sz="3700" dirty="0"/>
          </a:p>
        </p:txBody>
      </p:sp>
      <p:sp>
        <p:nvSpPr>
          <p:cNvPr id="3" name="Text 1"/>
          <p:cNvSpPr/>
          <p:nvPr/>
        </p:nvSpPr>
        <p:spPr>
          <a:xfrm>
            <a:off x="1280160" y="2999232"/>
            <a:ext cx="9646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基于道路交通标志的跨天气视觉重定位方法研究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434840" y="3977640"/>
            <a:ext cx="33375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姓名：________</a:t>
            </a:r>
            <a:endParaRPr lang="en-US" sz="16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学号：________</a:t>
            </a:r>
            <a:endParaRPr lang="en-US" sz="16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导师：________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4206240" y="598932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2026.10.29</a:t>
            </a:r>
            <a:endParaRPr lang="en-US" sz="2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39728" y="656539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A8A8A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950976"/>
            <a:ext cx="3154680" cy="5907024"/>
          </a:xfrm>
          <a:prstGeom prst="rect">
            <a:avLst/>
          </a:prstGeom>
          <a:solidFill>
            <a:srgbClr val="394179"/>
          </a:solidFill>
          <a:ln w="12700">
            <a:solidFill>
              <a:srgbClr val="394179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9728" y="2523744"/>
            <a:ext cx="2926080" cy="0"/>
          </a:xfrm>
          <a:prstGeom prst="line">
            <a:avLst/>
          </a:prstGeom>
          <a:noFill/>
          <a:ln w="12700">
            <a:solidFill>
              <a:srgbClr val="AAB1D1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9728" y="3822192"/>
            <a:ext cx="2926080" cy="0"/>
          </a:xfrm>
          <a:prstGeom prst="line">
            <a:avLst/>
          </a:prstGeom>
          <a:noFill/>
          <a:ln w="12700">
            <a:solidFill>
              <a:srgbClr val="AAB1D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41248" y="2880360"/>
            <a:ext cx="157276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目 录</a:t>
            </a:r>
            <a:endParaRPr lang="en-US" sz="2500" dirty="0"/>
          </a:p>
        </p:txBody>
      </p:sp>
      <p:sp>
        <p:nvSpPr>
          <p:cNvPr id="6" name="Text 4"/>
          <p:cNvSpPr/>
          <p:nvPr/>
        </p:nvSpPr>
        <p:spPr>
          <a:xfrm>
            <a:off x="841248" y="3364992"/>
            <a:ext cx="15727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CONTENTS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681728" y="1325880"/>
            <a:ext cx="530352" cy="530352"/>
          </a:xfrm>
          <a:prstGeom prst="ellipse">
            <a:avLst/>
          </a:prstGeom>
          <a:solidFill>
            <a:srgbClr val="394179"/>
          </a:solidFill>
          <a:ln w="12700">
            <a:solidFill>
              <a:srgbClr val="39417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681728" y="1444752"/>
            <a:ext cx="5303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806440" y="1417320"/>
            <a:ext cx="4297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研究背景与意义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4681728" y="2148840"/>
            <a:ext cx="530352" cy="530352"/>
          </a:xfrm>
          <a:prstGeom prst="ellipse">
            <a:avLst/>
          </a:prstGeom>
          <a:solidFill>
            <a:srgbClr val="394179"/>
          </a:solidFill>
          <a:ln w="12700">
            <a:solidFill>
              <a:srgbClr val="39417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681728" y="2267712"/>
            <a:ext cx="5303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806440" y="2240280"/>
            <a:ext cx="4297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研究现状与趋势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4681728" y="2971800"/>
            <a:ext cx="530352" cy="530352"/>
          </a:xfrm>
          <a:prstGeom prst="ellipse">
            <a:avLst/>
          </a:prstGeom>
          <a:solidFill>
            <a:srgbClr val="394179"/>
          </a:solidFill>
          <a:ln w="12700">
            <a:solidFill>
              <a:srgbClr val="394179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681728" y="3090672"/>
            <a:ext cx="5303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5806440" y="3063240"/>
            <a:ext cx="4297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研究内容与方案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4681728" y="3794760"/>
            <a:ext cx="530352" cy="530352"/>
          </a:xfrm>
          <a:prstGeom prst="ellipse">
            <a:avLst/>
          </a:prstGeom>
          <a:solidFill>
            <a:srgbClr val="394179"/>
          </a:solidFill>
          <a:ln w="12700">
            <a:solidFill>
              <a:srgbClr val="394179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681728" y="3913632"/>
            <a:ext cx="5303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5806440" y="3886200"/>
            <a:ext cx="4297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研究进度与计划</a:t>
            </a:r>
            <a:endParaRPr lang="en-US" sz="1800" dirty="0"/>
          </a:p>
        </p:txBody>
      </p:sp>
      <p:sp>
        <p:nvSpPr>
          <p:cNvPr id="19" name="Shape 17"/>
          <p:cNvSpPr/>
          <p:nvPr/>
        </p:nvSpPr>
        <p:spPr>
          <a:xfrm>
            <a:off x="4681728" y="4617720"/>
            <a:ext cx="530352" cy="530352"/>
          </a:xfrm>
          <a:prstGeom prst="ellipse">
            <a:avLst/>
          </a:prstGeom>
          <a:solidFill>
            <a:srgbClr val="394179"/>
          </a:solidFill>
          <a:ln w="12700">
            <a:solidFill>
              <a:srgbClr val="394179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681728" y="4736592"/>
            <a:ext cx="5303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806440" y="4709160"/>
            <a:ext cx="4297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论文框架</a:t>
            </a:r>
            <a:endParaRPr lang="en-US" sz="1800" dirty="0"/>
          </a:p>
        </p:txBody>
      </p:sp>
      <p:sp>
        <p:nvSpPr>
          <p:cNvPr id="22" name="Shape 20"/>
          <p:cNvSpPr/>
          <p:nvPr/>
        </p:nvSpPr>
        <p:spPr>
          <a:xfrm>
            <a:off x="4681728" y="5440680"/>
            <a:ext cx="530352" cy="530352"/>
          </a:xfrm>
          <a:prstGeom prst="ellipse">
            <a:avLst/>
          </a:prstGeom>
          <a:solidFill>
            <a:srgbClr val="394179"/>
          </a:solidFill>
          <a:ln w="12700">
            <a:solidFill>
              <a:srgbClr val="394179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681728" y="5559552"/>
            <a:ext cx="5303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5806440" y="5532120"/>
            <a:ext cx="4297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主要参考文献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39728" y="656539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A8A8A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481328" y="2697480"/>
            <a:ext cx="2084832" cy="1353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0" b="1" dirty="0">
                <a:solidFill>
                  <a:srgbClr val="39417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01</a:t>
            </a:r>
            <a:endParaRPr lang="en-US" sz="8200" dirty="0"/>
          </a:p>
        </p:txBody>
      </p:sp>
      <p:sp>
        <p:nvSpPr>
          <p:cNvPr id="3" name="Text 1"/>
          <p:cNvSpPr/>
          <p:nvPr/>
        </p:nvSpPr>
        <p:spPr>
          <a:xfrm>
            <a:off x="1481328" y="3383280"/>
            <a:ext cx="20848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39417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PART  ONE</a:t>
            </a:r>
            <a:endParaRPr lang="en-US" sz="1900" dirty="0"/>
          </a:p>
        </p:txBody>
      </p:sp>
      <p:sp>
        <p:nvSpPr>
          <p:cNvPr id="4" name="Text 2"/>
          <p:cNvSpPr/>
          <p:nvPr/>
        </p:nvSpPr>
        <p:spPr>
          <a:xfrm>
            <a:off x="5166360" y="2788920"/>
            <a:ext cx="4754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研究背景与意义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4983480" y="3639312"/>
            <a:ext cx="5623560" cy="0"/>
          </a:xfrm>
          <a:prstGeom prst="line">
            <a:avLst/>
          </a:prstGeom>
          <a:noFill/>
          <a:ln w="15240">
            <a:solidFill>
              <a:srgbClr val="394179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533888" y="3575304"/>
            <a:ext cx="146304" cy="146304"/>
          </a:xfrm>
          <a:prstGeom prst="ellipse">
            <a:avLst/>
          </a:prstGeom>
          <a:solidFill>
            <a:srgbClr val="394179"/>
          </a:solidFill>
          <a:ln w="12700">
            <a:solidFill>
              <a:srgbClr val="39417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257800" y="4023360"/>
            <a:ext cx="5257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Research background and significance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39728" y="656539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A8A8A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78992" y="256032"/>
            <a:ext cx="717804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跨条件重定位：同一路段，两次经过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585216" y="1005840"/>
            <a:ext cx="9875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4D64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真实采集数据：车辆、阴影和观察距离改变，固定道路标志仍可对应</a:t>
            </a:r>
            <a:endParaRPr lang="en-US" sz="920" dirty="0"/>
          </a:p>
        </p:txBody>
      </p:sp>
      <p:sp>
        <p:nvSpPr>
          <p:cNvPr id="4" name="Text 2"/>
          <p:cNvSpPr/>
          <p:nvPr/>
        </p:nvSpPr>
        <p:spPr>
          <a:xfrm>
            <a:off x="9555480" y="1005840"/>
            <a:ext cx="1874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80" b="1" dirty="0">
                <a:solidFill>
                  <a:srgbClr val="3941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研究背景与意义</a:t>
            </a:r>
            <a:endParaRPr lang="en-US" sz="880" dirty="0"/>
          </a:p>
        </p:txBody>
      </p:sp>
      <p:sp>
        <p:nvSpPr>
          <p:cNvPr id="5" name="Shape 3"/>
          <p:cNvSpPr/>
          <p:nvPr/>
        </p:nvSpPr>
        <p:spPr>
          <a:xfrm>
            <a:off x="475488" y="1298448"/>
            <a:ext cx="5504688" cy="3291840"/>
          </a:xfrm>
          <a:prstGeom prst="roundRect">
            <a:avLst>
              <a:gd name="adj" fmla="val 1111"/>
            </a:avLst>
          </a:prstGeom>
          <a:solidFill>
            <a:srgbClr val="FFFFFF"/>
          </a:solidFill>
          <a:ln w="15240">
            <a:solidFill>
              <a:srgbClr val="BCCBE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208776" y="1298448"/>
            <a:ext cx="5504688" cy="3291840"/>
          </a:xfrm>
          <a:prstGeom prst="roundRect">
            <a:avLst>
              <a:gd name="adj" fmla="val 1111"/>
            </a:avLst>
          </a:prstGeom>
          <a:solidFill>
            <a:srgbClr val="FFFFFF"/>
          </a:solidFill>
          <a:ln w="15240">
            <a:solidFill>
              <a:srgbClr val="8FD5CA"/>
            </a:solidFill>
            <a:prstDash val="solid"/>
          </a:ln>
        </p:spPr>
      </p:sp>
      <p:pic>
        <p:nvPicPr>
          <p:cNvPr id="7" name="Image 0" descr="/home/ehuy/ORBSLAM3-TrafficSign-Pose/manual_split/seg_manual_1/rgb/1782374541342045184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1417320"/>
            <a:ext cx="5266944" cy="2980944"/>
          </a:xfrm>
          <a:prstGeom prst="rect">
            <a:avLst/>
          </a:prstGeom>
        </p:spPr>
      </p:pic>
      <p:pic>
        <p:nvPicPr>
          <p:cNvPr id="8" name="Image 1" descr="/home/ehuy/ORBSLAM3-TrafficSign-Pose/manual_split/seg_manual_181/rgb/1782375931252223232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27648" y="1417320"/>
            <a:ext cx="5266944" cy="2980944"/>
          </a:xfrm>
          <a:prstGeom prst="rect">
            <a:avLst/>
          </a:prstGeom>
        </p:spPr>
      </p:pic>
      <p:sp>
        <p:nvSpPr>
          <p:cNvPr id="9" name="Shape 5"/>
          <p:cNvSpPr/>
          <p:nvPr/>
        </p:nvSpPr>
        <p:spPr>
          <a:xfrm>
            <a:off x="2487168" y="2039112"/>
            <a:ext cx="1005840" cy="420624"/>
          </a:xfrm>
          <a:prstGeom prst="rect">
            <a:avLst/>
          </a:prstGeom>
          <a:solidFill>
            <a:srgbClr val="FFFFFF">
              <a:alpha val="0"/>
            </a:srgbClr>
          </a:solidFill>
          <a:ln w="38100">
            <a:solidFill>
              <a:srgbClr val="F59E0B"/>
            </a:solidFill>
            <a:prstDash val="solid"/>
          </a:ln>
        </p:spPr>
      </p:sp>
      <p:sp>
        <p:nvSpPr>
          <p:cNvPr id="10" name="Shape 6"/>
          <p:cNvSpPr/>
          <p:nvPr/>
        </p:nvSpPr>
        <p:spPr>
          <a:xfrm>
            <a:off x="8577072" y="2093976"/>
            <a:ext cx="1005840" cy="438912"/>
          </a:xfrm>
          <a:prstGeom prst="rect">
            <a:avLst/>
          </a:prstGeom>
          <a:solidFill>
            <a:srgbClr val="FFFFFF">
              <a:alpha val="0"/>
            </a:srgbClr>
          </a:solidFill>
          <a:ln w="38100">
            <a:solidFill>
              <a:srgbClr val="12B8A6"/>
            </a:solidFill>
            <a:prstDash val="solid"/>
          </a:ln>
        </p:spPr>
      </p:sp>
      <p:sp>
        <p:nvSpPr>
          <p:cNvPr id="11" name="Shape 7"/>
          <p:cNvSpPr/>
          <p:nvPr/>
        </p:nvSpPr>
        <p:spPr>
          <a:xfrm>
            <a:off x="3493008" y="2240280"/>
            <a:ext cx="5084064" cy="73152"/>
          </a:xfrm>
          <a:prstGeom prst="line">
            <a:avLst/>
          </a:prstGeom>
          <a:noFill/>
          <a:ln w="25400">
            <a:solidFill>
              <a:srgbClr val="12B8A6"/>
            </a:solidFill>
            <a:prstDash val="solid"/>
            <a:headEnd type="none"/>
            <a:tailEnd type="triangle"/>
          </a:ln>
        </p:spPr>
      </p:sp>
      <p:sp>
        <p:nvSpPr>
          <p:cNvPr id="12" name="Shape 8"/>
          <p:cNvSpPr/>
          <p:nvPr/>
        </p:nvSpPr>
        <p:spPr>
          <a:xfrm>
            <a:off x="4590288" y="1947672"/>
            <a:ext cx="2926080" cy="585216"/>
          </a:xfrm>
          <a:prstGeom prst="roundRect">
            <a:avLst>
              <a:gd name="adj" fmla="val 7813"/>
            </a:avLst>
          </a:prstGeom>
          <a:solidFill>
            <a:srgbClr val="EAF8F5">
              <a:alpha val="95000"/>
            </a:srgbClr>
          </a:solidFill>
          <a:ln w="12700">
            <a:solidFill>
              <a:srgbClr val="77CDBF"/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4773168" y="2112264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87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同一固定交通标志</a:t>
            </a:r>
            <a:endParaRPr lang="en-US" sz="1300" dirty="0"/>
          </a:p>
        </p:txBody>
      </p:sp>
      <p:sp>
        <p:nvSpPr>
          <p:cNvPr id="14" name="Shape 10"/>
          <p:cNvSpPr/>
          <p:nvPr/>
        </p:nvSpPr>
        <p:spPr>
          <a:xfrm>
            <a:off x="594360" y="3922776"/>
            <a:ext cx="5266944" cy="475488"/>
          </a:xfrm>
          <a:prstGeom prst="rect">
            <a:avLst/>
          </a:prstGeom>
          <a:solidFill>
            <a:srgbClr val="102D49">
              <a:alpha val="88000"/>
            </a:srgbClr>
          </a:solidFill>
          <a:ln w="12700">
            <a:solidFill>
              <a:srgbClr val="102D49">
                <a:alpha val="0"/>
              </a:srgbClr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786384" y="4078224"/>
            <a:ext cx="4892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3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第一次经过｜参考序列：GPS + SLAM/VIO + 标志观测</a:t>
            </a:r>
            <a:endParaRPr lang="en-US" sz="1030" dirty="0"/>
          </a:p>
        </p:txBody>
      </p:sp>
      <p:sp>
        <p:nvSpPr>
          <p:cNvPr id="16" name="Shape 12"/>
          <p:cNvSpPr/>
          <p:nvPr/>
        </p:nvSpPr>
        <p:spPr>
          <a:xfrm>
            <a:off x="6327648" y="3922776"/>
            <a:ext cx="5266944" cy="475488"/>
          </a:xfrm>
          <a:prstGeom prst="rect">
            <a:avLst/>
          </a:prstGeom>
          <a:solidFill>
            <a:srgbClr val="087666">
              <a:alpha val="90000"/>
            </a:srgbClr>
          </a:solidFill>
          <a:ln w="12700">
            <a:solidFill>
              <a:srgbClr val="087666">
                <a:alpha val="0"/>
              </a:srgbClr>
            </a:solidFill>
            <a:prstDash val="solid"/>
          </a:ln>
        </p:spPr>
      </p:sp>
      <p:sp>
        <p:nvSpPr>
          <p:cNvPr id="17" name="Text 13"/>
          <p:cNvSpPr/>
          <p:nvPr/>
        </p:nvSpPr>
        <p:spPr>
          <a:xfrm>
            <a:off x="6519672" y="4078224"/>
            <a:ext cx="4892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3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第二次经过｜待定位序列：重识别同一标志</a:t>
            </a:r>
            <a:endParaRPr lang="en-US" sz="1030" dirty="0"/>
          </a:p>
        </p:txBody>
      </p:sp>
      <p:sp>
        <p:nvSpPr>
          <p:cNvPr id="18" name="Shape 14"/>
          <p:cNvSpPr/>
          <p:nvPr/>
        </p:nvSpPr>
        <p:spPr>
          <a:xfrm>
            <a:off x="594360" y="4818888"/>
            <a:ext cx="3675888" cy="960120"/>
          </a:xfrm>
          <a:prstGeom prst="roundRect">
            <a:avLst>
              <a:gd name="adj" fmla="val 5714"/>
            </a:avLst>
          </a:prstGeom>
          <a:solidFill>
            <a:srgbClr val="FFF1F1"/>
          </a:solidFill>
          <a:ln w="12700">
            <a:solidFill>
              <a:srgbClr val="F2B9B9"/>
            </a:solidFill>
            <a:prstDash val="solid"/>
          </a:ln>
        </p:spPr>
      </p:sp>
      <p:sp>
        <p:nvSpPr>
          <p:cNvPr id="19" name="Text 15"/>
          <p:cNvSpPr/>
          <p:nvPr/>
        </p:nvSpPr>
        <p:spPr>
          <a:xfrm>
            <a:off x="841248" y="5010912"/>
            <a:ext cx="153619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5535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传统外观重定位</a:t>
            </a:r>
            <a:endParaRPr lang="en-US" sz="1300" dirty="0"/>
          </a:p>
        </p:txBody>
      </p:sp>
      <p:sp>
        <p:nvSpPr>
          <p:cNvPr id="20" name="Text 16"/>
          <p:cNvSpPr/>
          <p:nvPr/>
        </p:nvSpPr>
        <p:spPr>
          <a:xfrm>
            <a:off x="2240280" y="4956048"/>
            <a:ext cx="17190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10" dirty="0">
                <a:solidFill>
                  <a:srgbClr val="82404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车辆 / 阴影 / 天气改变</a:t>
            </a:r>
            <a:endParaRPr lang="en-US" sz="1010" dirty="0"/>
          </a:p>
          <a:p>
            <a:pPr algn="ctr" indent="0" marL="0">
              <a:buNone/>
            </a:pPr>
            <a:r>
              <a:rPr lang="en-US" sz="1010" dirty="0">
                <a:solidFill>
                  <a:srgbClr val="82404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历史地图场景特征易失配</a:t>
            </a:r>
            <a:endParaRPr lang="en-US" sz="1010" dirty="0"/>
          </a:p>
        </p:txBody>
      </p:sp>
      <p:sp>
        <p:nvSpPr>
          <p:cNvPr id="21" name="Text 17"/>
          <p:cNvSpPr/>
          <p:nvPr/>
        </p:nvSpPr>
        <p:spPr>
          <a:xfrm>
            <a:off x="3675888" y="4992624"/>
            <a:ext cx="320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E553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×</a:t>
            </a:r>
            <a:endParaRPr lang="en-US" sz="2800" dirty="0"/>
          </a:p>
        </p:txBody>
      </p:sp>
      <p:sp>
        <p:nvSpPr>
          <p:cNvPr id="22" name="Shape 18"/>
          <p:cNvSpPr/>
          <p:nvPr/>
        </p:nvSpPr>
        <p:spPr>
          <a:xfrm>
            <a:off x="4480560" y="5294376"/>
            <a:ext cx="749808" cy="0"/>
          </a:xfrm>
          <a:prstGeom prst="line">
            <a:avLst/>
          </a:prstGeom>
          <a:noFill/>
          <a:ln w="31750">
            <a:solidFill>
              <a:srgbClr val="12B8A6"/>
            </a:solidFill>
            <a:prstDash val="solid"/>
            <a:headEnd type="none"/>
            <a:tailEnd type="triangle"/>
          </a:ln>
        </p:spPr>
      </p:sp>
      <p:sp>
        <p:nvSpPr>
          <p:cNvPr id="23" name="Shape 19"/>
          <p:cNvSpPr/>
          <p:nvPr/>
        </p:nvSpPr>
        <p:spPr>
          <a:xfrm>
            <a:off x="5413248" y="4818888"/>
            <a:ext cx="6181344" cy="960120"/>
          </a:xfrm>
          <a:prstGeom prst="roundRect">
            <a:avLst>
              <a:gd name="adj" fmla="val 5714"/>
            </a:avLst>
          </a:prstGeom>
          <a:solidFill>
            <a:srgbClr val="EAF8F5"/>
          </a:solidFill>
          <a:ln w="15240">
            <a:solidFill>
              <a:srgbClr val="8FD5CA"/>
            </a:solidFill>
            <a:prstDash val="solid"/>
          </a:ln>
        </p:spPr>
      </p:sp>
      <p:sp>
        <p:nvSpPr>
          <p:cNvPr id="24" name="Text 20"/>
          <p:cNvSpPr/>
          <p:nvPr/>
        </p:nvSpPr>
        <p:spPr>
          <a:xfrm>
            <a:off x="5669280" y="5010912"/>
            <a:ext cx="96012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87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本文思路</a:t>
            </a:r>
            <a:endParaRPr lang="en-US" sz="1300" dirty="0"/>
          </a:p>
        </p:txBody>
      </p:sp>
      <p:sp>
        <p:nvSpPr>
          <p:cNvPr id="25" name="Text 21"/>
          <p:cNvSpPr/>
          <p:nvPr/>
        </p:nvSpPr>
        <p:spPr>
          <a:xfrm>
            <a:off x="6839712" y="4965192"/>
            <a:ext cx="141732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2B8A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同一标志重识别</a:t>
            </a:r>
            <a:endParaRPr lang="en-US" sz="1150" dirty="0"/>
          </a:p>
        </p:txBody>
      </p:sp>
      <p:sp>
        <p:nvSpPr>
          <p:cNvPr id="26" name="Shape 22"/>
          <p:cNvSpPr/>
          <p:nvPr/>
        </p:nvSpPr>
        <p:spPr>
          <a:xfrm>
            <a:off x="8302752" y="5239512"/>
            <a:ext cx="429768" cy="0"/>
          </a:xfrm>
          <a:prstGeom prst="line">
            <a:avLst/>
          </a:prstGeom>
          <a:noFill/>
          <a:ln w="27940">
            <a:solidFill>
              <a:srgbClr val="12B8A6"/>
            </a:solidFill>
            <a:prstDash val="solid"/>
            <a:headEnd type="none"/>
            <a:tailEnd type="triangle"/>
          </a:ln>
        </p:spPr>
      </p:sp>
      <p:sp>
        <p:nvSpPr>
          <p:cNvPr id="27" name="Text 23"/>
          <p:cNvSpPr/>
          <p:nvPr/>
        </p:nvSpPr>
        <p:spPr>
          <a:xfrm>
            <a:off x="8796528" y="4965192"/>
            <a:ext cx="128016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2B8A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两次观测几何</a:t>
            </a:r>
            <a:endParaRPr lang="en-US" sz="1150" dirty="0"/>
          </a:p>
        </p:txBody>
      </p:sp>
      <p:sp>
        <p:nvSpPr>
          <p:cNvPr id="28" name="Shape 24"/>
          <p:cNvSpPr/>
          <p:nvPr/>
        </p:nvSpPr>
        <p:spPr>
          <a:xfrm>
            <a:off x="10122408" y="5239512"/>
            <a:ext cx="347472" cy="0"/>
          </a:xfrm>
          <a:prstGeom prst="line">
            <a:avLst/>
          </a:prstGeom>
          <a:noFill/>
          <a:ln w="27940">
            <a:solidFill>
              <a:srgbClr val="12B8A6"/>
            </a:solidFill>
            <a:prstDash val="solid"/>
            <a:headEnd type="none"/>
            <a:tailEnd type="triangle"/>
          </a:ln>
        </p:spPr>
      </p:sp>
      <p:sp>
        <p:nvSpPr>
          <p:cNvPr id="29" name="Text 25"/>
          <p:cNvSpPr/>
          <p:nvPr/>
        </p:nvSpPr>
        <p:spPr>
          <a:xfrm>
            <a:off x="10424160" y="4919472"/>
            <a:ext cx="10241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80" b="1" dirty="0">
                <a:solidFill>
                  <a:srgbClr val="18A36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T_C1C2 + 参考 GPS</a:t>
            </a:r>
            <a:endParaRPr lang="en-US" sz="1080" dirty="0"/>
          </a:p>
          <a:p>
            <a:pPr algn="ctr" indent="0" marL="0">
              <a:buNone/>
            </a:pPr>
            <a:r>
              <a:rPr lang="en-US" sz="1080" b="1" dirty="0">
                <a:solidFill>
                  <a:srgbClr val="18A36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→ 当前 GPS</a:t>
            </a:r>
            <a:endParaRPr lang="en-US" sz="1080" dirty="0"/>
          </a:p>
        </p:txBody>
      </p:sp>
      <p:sp>
        <p:nvSpPr>
          <p:cNvPr id="30" name="Shape 26"/>
          <p:cNvSpPr/>
          <p:nvPr/>
        </p:nvSpPr>
        <p:spPr>
          <a:xfrm>
            <a:off x="1325880" y="5989320"/>
            <a:ext cx="9555480" cy="438912"/>
          </a:xfrm>
          <a:prstGeom prst="roundRect">
            <a:avLst>
              <a:gd name="adj" fmla="val 10417"/>
            </a:avLst>
          </a:prstGeom>
          <a:solidFill>
            <a:srgbClr val="EEF3FA"/>
          </a:solidFill>
          <a:ln w="12700">
            <a:solidFill>
              <a:srgbClr val="C9D6E6"/>
            </a:solidFill>
            <a:prstDash val="solid"/>
          </a:ln>
        </p:spPr>
      </p:sp>
      <p:sp>
        <p:nvSpPr>
          <p:cNvPr id="31" name="Text 27"/>
          <p:cNvSpPr/>
          <p:nvPr/>
        </p:nvSpPr>
        <p:spPr>
          <a:xfrm>
            <a:off x="1572768" y="6117336"/>
            <a:ext cx="9052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20" b="1" dirty="0">
                <a:solidFill>
                  <a:srgbClr val="3941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核心：不先求交通标志的 GPS；以其为共同参照，直接恢复两次车辆之间的米制相对位移。</a:t>
            </a:r>
            <a:endParaRPr lang="en-US" sz="122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39728" y="656539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A8A8A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78992" y="256032"/>
            <a:ext cx="717804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真实道路画面中，问题具体发生在哪里？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585216" y="1005840"/>
            <a:ext cx="9875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4D64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以同一路段两次采集画面为例</a:t>
            </a:r>
            <a:endParaRPr lang="en-US" sz="920" dirty="0"/>
          </a:p>
        </p:txBody>
      </p:sp>
      <p:sp>
        <p:nvSpPr>
          <p:cNvPr id="4" name="Text 2"/>
          <p:cNvSpPr/>
          <p:nvPr/>
        </p:nvSpPr>
        <p:spPr>
          <a:xfrm>
            <a:off x="9555480" y="1005840"/>
            <a:ext cx="1874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80" b="1" dirty="0">
                <a:solidFill>
                  <a:srgbClr val="3941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研究背景与意义</a:t>
            </a:r>
            <a:endParaRPr lang="en-US" sz="880" dirty="0"/>
          </a:p>
        </p:txBody>
      </p:sp>
      <p:pic>
        <p:nvPicPr>
          <p:cNvPr id="5" name="Image 0" descr="/home/ehuy/ORBSLAM3-TrafficSign-Pose/manual_split/seg_manual_1/rgb/1782374541342045184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1353312"/>
            <a:ext cx="5257800" cy="2971800"/>
          </a:xfrm>
          <a:prstGeom prst="rect">
            <a:avLst/>
          </a:prstGeom>
        </p:spPr>
      </p:pic>
      <p:pic>
        <p:nvPicPr>
          <p:cNvPr id="6" name="Image 1" descr="/home/ehuy/ORBSLAM3-TrafficSign-Pose/manual_split/seg_manual_181/rgb/1782375931252223232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36792" y="1353312"/>
            <a:ext cx="5257800" cy="2971800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2468880" y="1965960"/>
            <a:ext cx="1060704" cy="475488"/>
          </a:xfrm>
          <a:prstGeom prst="rect">
            <a:avLst/>
          </a:prstGeom>
          <a:solidFill>
            <a:srgbClr val="FFFFFF">
              <a:alpha val="0"/>
            </a:srgbClr>
          </a:solidFill>
          <a:ln w="38100">
            <a:solidFill>
              <a:srgbClr val="F59E0B"/>
            </a:solidFill>
            <a:prstDash val="solid"/>
          </a:ln>
        </p:spPr>
      </p:sp>
      <p:sp>
        <p:nvSpPr>
          <p:cNvPr id="8" name="Shape 4"/>
          <p:cNvSpPr/>
          <p:nvPr/>
        </p:nvSpPr>
        <p:spPr>
          <a:xfrm>
            <a:off x="8558784" y="2029968"/>
            <a:ext cx="1078992" cy="475488"/>
          </a:xfrm>
          <a:prstGeom prst="rect">
            <a:avLst/>
          </a:prstGeom>
          <a:solidFill>
            <a:srgbClr val="FFFFFF">
              <a:alpha val="0"/>
            </a:srgbClr>
          </a:solidFill>
          <a:ln w="38100">
            <a:solidFill>
              <a:srgbClr val="12B8A6"/>
            </a:solidFill>
            <a:prstDash val="solid"/>
          </a:ln>
        </p:spPr>
      </p:sp>
      <p:sp>
        <p:nvSpPr>
          <p:cNvPr id="9" name="Shape 5"/>
          <p:cNvSpPr/>
          <p:nvPr/>
        </p:nvSpPr>
        <p:spPr>
          <a:xfrm>
            <a:off x="960120" y="2395728"/>
            <a:ext cx="1097280" cy="676656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E55353"/>
            </a:solidFill>
            <a:prstDash val="solid"/>
          </a:ln>
        </p:spPr>
      </p:sp>
      <p:sp>
        <p:nvSpPr>
          <p:cNvPr id="10" name="Shape 6"/>
          <p:cNvSpPr/>
          <p:nvPr/>
        </p:nvSpPr>
        <p:spPr>
          <a:xfrm>
            <a:off x="6967728" y="2359152"/>
            <a:ext cx="1389888" cy="822960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E55353"/>
            </a:solidFill>
            <a:prstDash val="solid"/>
          </a:ln>
        </p:spPr>
      </p:sp>
      <p:sp>
        <p:nvSpPr>
          <p:cNvPr id="11" name="Shape 7"/>
          <p:cNvSpPr/>
          <p:nvPr/>
        </p:nvSpPr>
        <p:spPr>
          <a:xfrm>
            <a:off x="2148840" y="3913632"/>
            <a:ext cx="1417320" cy="310896"/>
          </a:xfrm>
          <a:prstGeom prst="roundRect">
            <a:avLst>
              <a:gd name="adj" fmla="val 17647"/>
            </a:avLst>
          </a:prstGeom>
          <a:solidFill>
            <a:srgbClr val="EDF4FF"/>
          </a:solidFill>
          <a:ln w="12700">
            <a:solidFill>
              <a:srgbClr val="EDF4FF"/>
            </a:solidFill>
            <a:prstDash val="solid"/>
          </a:ln>
        </p:spPr>
      </p:sp>
      <p:sp>
        <p:nvSpPr>
          <p:cNvPr id="12" name="Text 8"/>
          <p:cNvSpPr/>
          <p:nvPr/>
        </p:nvSpPr>
        <p:spPr>
          <a:xfrm>
            <a:off x="2203704" y="3977640"/>
            <a:ext cx="130759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2367D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参考序列</a:t>
            </a:r>
            <a:endParaRPr lang="en-US" sz="880" dirty="0"/>
          </a:p>
        </p:txBody>
      </p:sp>
      <p:sp>
        <p:nvSpPr>
          <p:cNvPr id="13" name="Shape 9"/>
          <p:cNvSpPr/>
          <p:nvPr/>
        </p:nvSpPr>
        <p:spPr>
          <a:xfrm>
            <a:off x="8183880" y="3913632"/>
            <a:ext cx="1600200" cy="310896"/>
          </a:xfrm>
          <a:prstGeom prst="roundRect">
            <a:avLst>
              <a:gd name="adj" fmla="val 17647"/>
            </a:avLst>
          </a:prstGeom>
          <a:solidFill>
            <a:srgbClr val="EAF8F5"/>
          </a:solidFill>
          <a:ln w="12700">
            <a:solidFill>
              <a:srgbClr val="EAF8F5"/>
            </a:solidFill>
            <a:prstDash val="solid"/>
          </a:ln>
        </p:spPr>
      </p:sp>
      <p:sp>
        <p:nvSpPr>
          <p:cNvPr id="14" name="Text 10"/>
          <p:cNvSpPr/>
          <p:nvPr/>
        </p:nvSpPr>
        <p:spPr>
          <a:xfrm>
            <a:off x="8238744" y="3977640"/>
            <a:ext cx="149047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12B8A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待定位序列</a:t>
            </a:r>
            <a:endParaRPr lang="en-US" sz="880" dirty="0"/>
          </a:p>
        </p:txBody>
      </p:sp>
      <p:sp>
        <p:nvSpPr>
          <p:cNvPr id="15" name="Shape 11"/>
          <p:cNvSpPr/>
          <p:nvPr/>
        </p:nvSpPr>
        <p:spPr>
          <a:xfrm>
            <a:off x="603504" y="4645152"/>
            <a:ext cx="2633472" cy="1024128"/>
          </a:xfrm>
          <a:prstGeom prst="roundRect">
            <a:avLst>
              <a:gd name="adj" fmla="val 4464"/>
            </a:avLst>
          </a:prstGeom>
          <a:solidFill>
            <a:srgbClr val="FFF1F1"/>
          </a:solidFill>
          <a:ln w="15240">
            <a:solidFill>
              <a:srgbClr val="E55353"/>
            </a:solidFill>
            <a:prstDash val="solid"/>
          </a:ln>
        </p:spPr>
      </p:sp>
      <p:sp>
        <p:nvSpPr>
          <p:cNvPr id="16" name="Text 12"/>
          <p:cNvSpPr/>
          <p:nvPr/>
        </p:nvSpPr>
        <p:spPr>
          <a:xfrm>
            <a:off x="740664" y="4837176"/>
            <a:ext cx="347472" cy="347472"/>
          </a:xfrm>
          <a:prstGeom prst="ellipse">
            <a:avLst/>
          </a:prstGeom>
          <a:solidFill>
            <a:srgbClr val="E55353"/>
          </a:solidFill>
          <a:ln>
            <a:solidFill>
              <a:srgbClr val="E55353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1500" dirty="0"/>
          </a:p>
        </p:txBody>
      </p:sp>
      <p:sp>
        <p:nvSpPr>
          <p:cNvPr id="17" name="Text 13"/>
          <p:cNvSpPr/>
          <p:nvPr/>
        </p:nvSpPr>
        <p:spPr>
          <a:xfrm>
            <a:off x="1170432" y="4791456"/>
            <a:ext cx="179222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E5535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外观变化</a:t>
            </a:r>
            <a:endParaRPr lang="en-US" sz="1250" dirty="0"/>
          </a:p>
        </p:txBody>
      </p:sp>
      <p:sp>
        <p:nvSpPr>
          <p:cNvPr id="18" name="Text 14"/>
          <p:cNvSpPr/>
          <p:nvPr/>
        </p:nvSpPr>
        <p:spPr>
          <a:xfrm>
            <a:off x="786384" y="5138928"/>
            <a:ext cx="226771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20" dirty="0">
                <a:solidFill>
                  <a:srgbClr val="4D64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车辆、阴影、天气使历史地图特征失配</a:t>
            </a:r>
            <a:endParaRPr lang="en-US" sz="920" dirty="0"/>
          </a:p>
        </p:txBody>
      </p:sp>
      <p:sp>
        <p:nvSpPr>
          <p:cNvPr id="19" name="Shape 15"/>
          <p:cNvSpPr/>
          <p:nvPr/>
        </p:nvSpPr>
        <p:spPr>
          <a:xfrm>
            <a:off x="3456432" y="4645152"/>
            <a:ext cx="2633472" cy="1024128"/>
          </a:xfrm>
          <a:prstGeom prst="roundRect">
            <a:avLst>
              <a:gd name="adj" fmla="val 4464"/>
            </a:avLst>
          </a:prstGeom>
          <a:solidFill>
            <a:srgbClr val="FFF7E8"/>
          </a:solidFill>
          <a:ln w="15240">
            <a:solidFill>
              <a:srgbClr val="F59E0B"/>
            </a:solidFill>
            <a:prstDash val="solid"/>
          </a:ln>
        </p:spPr>
      </p:sp>
      <p:sp>
        <p:nvSpPr>
          <p:cNvPr id="20" name="Text 16"/>
          <p:cNvSpPr/>
          <p:nvPr/>
        </p:nvSpPr>
        <p:spPr>
          <a:xfrm>
            <a:off x="3593592" y="4837176"/>
            <a:ext cx="347472" cy="347472"/>
          </a:xfrm>
          <a:prstGeom prst="ellipse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1500" dirty="0"/>
          </a:p>
        </p:txBody>
      </p:sp>
      <p:sp>
        <p:nvSpPr>
          <p:cNvPr id="21" name="Text 17"/>
          <p:cNvSpPr/>
          <p:nvPr/>
        </p:nvSpPr>
        <p:spPr>
          <a:xfrm>
            <a:off x="4023360" y="4791456"/>
            <a:ext cx="179222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59E0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弱视差</a:t>
            </a:r>
            <a:endParaRPr lang="en-US" sz="1250" dirty="0"/>
          </a:p>
        </p:txBody>
      </p:sp>
      <p:sp>
        <p:nvSpPr>
          <p:cNvPr id="22" name="Text 18"/>
          <p:cNvSpPr/>
          <p:nvPr/>
        </p:nvSpPr>
        <p:spPr>
          <a:xfrm>
            <a:off x="3639312" y="5138928"/>
            <a:ext cx="226771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20" dirty="0">
                <a:solidFill>
                  <a:srgbClr val="4D64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前向行驶时标志靠近 FOE，像素变化小</a:t>
            </a:r>
            <a:endParaRPr lang="en-US" sz="920" dirty="0"/>
          </a:p>
        </p:txBody>
      </p:sp>
      <p:sp>
        <p:nvSpPr>
          <p:cNvPr id="23" name="Shape 19"/>
          <p:cNvSpPr/>
          <p:nvPr/>
        </p:nvSpPr>
        <p:spPr>
          <a:xfrm>
            <a:off x="6309360" y="4645152"/>
            <a:ext cx="2633472" cy="1024128"/>
          </a:xfrm>
          <a:prstGeom prst="roundRect">
            <a:avLst>
              <a:gd name="adj" fmla="val 4464"/>
            </a:avLst>
          </a:prstGeom>
          <a:solidFill>
            <a:srgbClr val="EDF4FF"/>
          </a:solidFill>
          <a:ln w="15240">
            <a:solidFill>
              <a:srgbClr val="2367D1"/>
            </a:solidFill>
            <a:prstDash val="solid"/>
          </a:ln>
        </p:spPr>
      </p:sp>
      <p:sp>
        <p:nvSpPr>
          <p:cNvPr id="24" name="Text 20"/>
          <p:cNvSpPr/>
          <p:nvPr/>
        </p:nvSpPr>
        <p:spPr>
          <a:xfrm>
            <a:off x="6446520" y="4837176"/>
            <a:ext cx="347472" cy="347472"/>
          </a:xfrm>
          <a:prstGeom prst="ellipse">
            <a:avLst/>
          </a:prstGeom>
          <a:solidFill>
            <a:srgbClr val="2367D1"/>
          </a:solidFill>
          <a:ln>
            <a:solidFill>
              <a:srgbClr val="2367D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1500" dirty="0"/>
          </a:p>
        </p:txBody>
      </p:sp>
      <p:sp>
        <p:nvSpPr>
          <p:cNvPr id="25" name="Text 21"/>
          <p:cNvSpPr/>
          <p:nvPr/>
        </p:nvSpPr>
        <p:spPr>
          <a:xfrm>
            <a:off x="6876288" y="4791456"/>
            <a:ext cx="179222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367D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尺度模糊</a:t>
            </a:r>
            <a:endParaRPr lang="en-US" sz="1250" dirty="0"/>
          </a:p>
        </p:txBody>
      </p:sp>
      <p:sp>
        <p:nvSpPr>
          <p:cNvPr id="26" name="Text 22"/>
          <p:cNvSpPr/>
          <p:nvPr/>
        </p:nvSpPr>
        <p:spPr>
          <a:xfrm>
            <a:off x="6492240" y="5138928"/>
            <a:ext cx="226771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20" dirty="0">
                <a:solidFill>
                  <a:srgbClr val="4D64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单目单应性只给出 t/d，缺少米制尺度</a:t>
            </a:r>
            <a:endParaRPr lang="en-US" sz="920" dirty="0"/>
          </a:p>
        </p:txBody>
      </p:sp>
      <p:sp>
        <p:nvSpPr>
          <p:cNvPr id="27" name="Shape 23"/>
          <p:cNvSpPr/>
          <p:nvPr/>
        </p:nvSpPr>
        <p:spPr>
          <a:xfrm>
            <a:off x="9162288" y="4645152"/>
            <a:ext cx="2633472" cy="1024128"/>
          </a:xfrm>
          <a:prstGeom prst="roundRect">
            <a:avLst>
              <a:gd name="adj" fmla="val 4464"/>
            </a:avLst>
          </a:prstGeom>
          <a:solidFill>
            <a:srgbClr val="F3EFFF"/>
          </a:solidFill>
          <a:ln w="15240">
            <a:solidFill>
              <a:srgbClr val="7657D5"/>
            </a:solidFill>
            <a:prstDash val="solid"/>
          </a:ln>
        </p:spPr>
      </p:sp>
      <p:sp>
        <p:nvSpPr>
          <p:cNvPr id="28" name="Text 24"/>
          <p:cNvSpPr/>
          <p:nvPr/>
        </p:nvSpPr>
        <p:spPr>
          <a:xfrm>
            <a:off x="9299448" y="4837176"/>
            <a:ext cx="347472" cy="347472"/>
          </a:xfrm>
          <a:prstGeom prst="ellipse">
            <a:avLst/>
          </a:prstGeom>
          <a:solidFill>
            <a:srgbClr val="7657D5"/>
          </a:solidFill>
          <a:ln>
            <a:solidFill>
              <a:srgbClr val="7657D5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</a:t>
            </a:r>
            <a:endParaRPr lang="en-US" sz="1500" dirty="0"/>
          </a:p>
        </p:txBody>
      </p:sp>
      <p:sp>
        <p:nvSpPr>
          <p:cNvPr id="29" name="Text 25"/>
          <p:cNvSpPr/>
          <p:nvPr/>
        </p:nvSpPr>
        <p:spPr>
          <a:xfrm>
            <a:off x="9729216" y="4791456"/>
            <a:ext cx="179222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7657D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多解歧义</a:t>
            </a:r>
            <a:endParaRPr lang="en-US" sz="1250" dirty="0"/>
          </a:p>
        </p:txBody>
      </p:sp>
      <p:sp>
        <p:nvSpPr>
          <p:cNvPr id="30" name="Text 26"/>
          <p:cNvSpPr/>
          <p:nvPr/>
        </p:nvSpPr>
        <p:spPr>
          <a:xfrm>
            <a:off x="9345168" y="5138928"/>
            <a:ext cx="226771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20" dirty="0">
                <a:solidFill>
                  <a:srgbClr val="4D64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同一 H 产生多组姿态，需判断物理真解</a:t>
            </a:r>
            <a:endParaRPr lang="en-US" sz="920" dirty="0"/>
          </a:p>
        </p:txBody>
      </p:sp>
      <p:sp>
        <p:nvSpPr>
          <p:cNvPr id="31" name="Text 27"/>
          <p:cNvSpPr/>
          <p:nvPr/>
        </p:nvSpPr>
        <p:spPr>
          <a:xfrm>
            <a:off x="1005840" y="5980176"/>
            <a:ext cx="10195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3941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因此：用“可重复识别的固定标志 + 几何尺度恢复”替代对整个场景外观的强依赖。</a:t>
            </a:r>
            <a:endParaRPr lang="en-US" sz="13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39728" y="656539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A8A8A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78992" y="256032"/>
            <a:ext cx="717804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应用场景与数据基础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585216" y="1005840"/>
            <a:ext cx="9875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4D64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D456 图像/IMU + RTK-GNSS + 真实道路重复行驶</a:t>
            </a:r>
            <a:endParaRPr lang="en-US" sz="920" dirty="0"/>
          </a:p>
        </p:txBody>
      </p:sp>
      <p:sp>
        <p:nvSpPr>
          <p:cNvPr id="4" name="Text 2"/>
          <p:cNvSpPr/>
          <p:nvPr/>
        </p:nvSpPr>
        <p:spPr>
          <a:xfrm>
            <a:off x="9555480" y="1005840"/>
            <a:ext cx="1874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80" b="1" dirty="0">
                <a:solidFill>
                  <a:srgbClr val="3941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研究背景与意义</a:t>
            </a:r>
            <a:endParaRPr lang="en-US" sz="880" dirty="0"/>
          </a:p>
        </p:txBody>
      </p:sp>
      <p:pic>
        <p:nvPicPr>
          <p:cNvPr id="5" name="Image 0" descr="/home/ehuy/ORBSLAM3-TrafficSign-Pose/manual_split/seg_manual_1/rgb/1782374541342045184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1325880"/>
            <a:ext cx="3730752" cy="2103120"/>
          </a:xfrm>
          <a:prstGeom prst="rect">
            <a:avLst/>
          </a:prstGeom>
        </p:spPr>
      </p:pic>
      <p:pic>
        <p:nvPicPr>
          <p:cNvPr id="6" name="Image 1" descr="/home/ehuy/ORBSLAM3-TrafficSign-Pose/manual_split/seg_manual_181/rgb/1782375931252223232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" y="3593592"/>
            <a:ext cx="3730752" cy="2103120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1883664" y="1755648"/>
            <a:ext cx="749808" cy="329184"/>
          </a:xfrm>
          <a:prstGeom prst="rect">
            <a:avLst/>
          </a:prstGeom>
          <a:solidFill>
            <a:srgbClr val="FFFFFF">
              <a:alpha val="0"/>
            </a:srgbClr>
          </a:solidFill>
          <a:ln w="31750">
            <a:solidFill>
              <a:srgbClr val="F59E0B"/>
            </a:solidFill>
            <a:prstDash val="solid"/>
          </a:ln>
        </p:spPr>
      </p:sp>
      <p:sp>
        <p:nvSpPr>
          <p:cNvPr id="8" name="Shape 4"/>
          <p:cNvSpPr/>
          <p:nvPr/>
        </p:nvSpPr>
        <p:spPr>
          <a:xfrm>
            <a:off x="2148840" y="4078224"/>
            <a:ext cx="768096" cy="347472"/>
          </a:xfrm>
          <a:prstGeom prst="rect">
            <a:avLst/>
          </a:prstGeom>
          <a:solidFill>
            <a:srgbClr val="FFFFFF">
              <a:alpha val="0"/>
            </a:srgbClr>
          </a:solidFill>
          <a:ln w="31750">
            <a:solidFill>
              <a:srgbClr val="12B8A6"/>
            </a:solidFill>
            <a:prstDash val="solid"/>
          </a:ln>
        </p:spPr>
      </p:sp>
      <p:sp>
        <p:nvSpPr>
          <p:cNvPr id="9" name="Shape 5"/>
          <p:cNvSpPr/>
          <p:nvPr/>
        </p:nvSpPr>
        <p:spPr>
          <a:xfrm>
            <a:off x="786384" y="2990088"/>
            <a:ext cx="1463040" cy="310896"/>
          </a:xfrm>
          <a:prstGeom prst="roundRect">
            <a:avLst>
              <a:gd name="adj" fmla="val 17647"/>
            </a:avLst>
          </a:prstGeom>
          <a:solidFill>
            <a:srgbClr val="EDF4FF"/>
          </a:solidFill>
          <a:ln w="12700">
            <a:solidFill>
              <a:srgbClr val="EDF4FF"/>
            </a:solidFill>
            <a:prstDash val="solid"/>
          </a:ln>
        </p:spPr>
      </p:sp>
      <p:sp>
        <p:nvSpPr>
          <p:cNvPr id="10" name="Text 6"/>
          <p:cNvSpPr/>
          <p:nvPr/>
        </p:nvSpPr>
        <p:spPr>
          <a:xfrm>
            <a:off x="841248" y="3054096"/>
            <a:ext cx="135331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2367D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第一次经过</a:t>
            </a:r>
            <a:endParaRPr lang="en-US" sz="880" dirty="0"/>
          </a:p>
        </p:txBody>
      </p:sp>
      <p:sp>
        <p:nvSpPr>
          <p:cNvPr id="11" name="Shape 7"/>
          <p:cNvSpPr/>
          <p:nvPr/>
        </p:nvSpPr>
        <p:spPr>
          <a:xfrm>
            <a:off x="786384" y="5257800"/>
            <a:ext cx="1463040" cy="310896"/>
          </a:xfrm>
          <a:prstGeom prst="roundRect">
            <a:avLst>
              <a:gd name="adj" fmla="val 17647"/>
            </a:avLst>
          </a:prstGeom>
          <a:solidFill>
            <a:srgbClr val="EAF8F5"/>
          </a:solidFill>
          <a:ln w="12700">
            <a:solidFill>
              <a:srgbClr val="EAF8F5"/>
            </a:solidFill>
            <a:prstDash val="solid"/>
          </a:ln>
        </p:spPr>
      </p:sp>
      <p:sp>
        <p:nvSpPr>
          <p:cNvPr id="12" name="Text 8"/>
          <p:cNvSpPr/>
          <p:nvPr/>
        </p:nvSpPr>
        <p:spPr>
          <a:xfrm>
            <a:off x="841248" y="5321808"/>
            <a:ext cx="135331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12B8A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第二次经过</a:t>
            </a:r>
            <a:endParaRPr lang="en-US" sz="880" dirty="0"/>
          </a:p>
        </p:txBody>
      </p:sp>
      <p:pic>
        <p:nvPicPr>
          <p:cNvPr id="13" name="Image 2" descr="/home/ehuy/ORBSLAM3-TrafficSign-Pose/landmarkslam/implement/data/test_pairs/full_gps/gps_trajectory_full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98848" y="1307592"/>
            <a:ext cx="7059168" cy="4370832"/>
          </a:xfrm>
          <a:prstGeom prst="rect">
            <a:avLst/>
          </a:prstGeom>
        </p:spPr>
      </p:pic>
      <p:sp>
        <p:nvSpPr>
          <p:cNvPr id="14" name="Shape 9"/>
          <p:cNvSpPr/>
          <p:nvPr/>
        </p:nvSpPr>
        <p:spPr>
          <a:xfrm>
            <a:off x="4956048" y="5239512"/>
            <a:ext cx="6144768" cy="658368"/>
          </a:xfrm>
          <a:prstGeom prst="roundRect">
            <a:avLst>
              <a:gd name="adj" fmla="val 6944"/>
            </a:avLst>
          </a:prstGeom>
          <a:solidFill>
            <a:srgbClr val="FFFFFF">
              <a:alpha val="95000"/>
            </a:srgbClr>
          </a:solidFill>
          <a:ln w="12700">
            <a:solidFill>
              <a:srgbClr val="D8E2EC"/>
            </a:solidFill>
            <a:prstDash val="solid"/>
          </a:ln>
        </p:spPr>
      </p:sp>
      <p:sp>
        <p:nvSpPr>
          <p:cNvPr id="15" name="Text 10"/>
          <p:cNvSpPr/>
          <p:nvPr/>
        </p:nvSpPr>
        <p:spPr>
          <a:xfrm>
            <a:off x="5138928" y="5449824"/>
            <a:ext cx="15727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2367D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D456 图像 30 FPS</a:t>
            </a:r>
            <a:endParaRPr lang="en-US" sz="1050" dirty="0"/>
          </a:p>
        </p:txBody>
      </p:sp>
      <p:sp>
        <p:nvSpPr>
          <p:cNvPr id="16" name="Text 11"/>
          <p:cNvSpPr/>
          <p:nvPr/>
        </p:nvSpPr>
        <p:spPr>
          <a:xfrm>
            <a:off x="7059168" y="5449824"/>
            <a:ext cx="142646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2B8A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IMU 约 200 Hz</a:t>
            </a:r>
            <a:endParaRPr lang="en-US" sz="1050" dirty="0"/>
          </a:p>
        </p:txBody>
      </p:sp>
      <p:sp>
        <p:nvSpPr>
          <p:cNvPr id="17" name="Text 12"/>
          <p:cNvSpPr/>
          <p:nvPr/>
        </p:nvSpPr>
        <p:spPr>
          <a:xfrm>
            <a:off x="8869680" y="5449824"/>
            <a:ext cx="1591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8A36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RTK-GNSS 真值</a:t>
            </a:r>
            <a:endParaRPr lang="en-US" sz="1050" dirty="0"/>
          </a:p>
        </p:txBody>
      </p:sp>
      <p:sp>
        <p:nvSpPr>
          <p:cNvPr id="18" name="Text 13"/>
          <p:cNvSpPr/>
          <p:nvPr/>
        </p:nvSpPr>
        <p:spPr>
          <a:xfrm>
            <a:off x="1005840" y="5998464"/>
            <a:ext cx="10104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3941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数据形成完整证据链：真实画面 → 两次重复观测 → SLAM/VIO 运动 → GPS 结果验证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39728" y="656539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A8A8A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481328" y="2697480"/>
            <a:ext cx="2084832" cy="1353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0" b="1" dirty="0">
                <a:solidFill>
                  <a:srgbClr val="39417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02</a:t>
            </a:r>
            <a:endParaRPr lang="en-US" sz="8200" dirty="0"/>
          </a:p>
        </p:txBody>
      </p:sp>
      <p:sp>
        <p:nvSpPr>
          <p:cNvPr id="3" name="Text 1"/>
          <p:cNvSpPr/>
          <p:nvPr/>
        </p:nvSpPr>
        <p:spPr>
          <a:xfrm>
            <a:off x="1481328" y="3383280"/>
            <a:ext cx="20848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39417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PART  TWO</a:t>
            </a:r>
            <a:endParaRPr lang="en-US" sz="1900" dirty="0"/>
          </a:p>
        </p:txBody>
      </p:sp>
      <p:sp>
        <p:nvSpPr>
          <p:cNvPr id="4" name="Text 2"/>
          <p:cNvSpPr/>
          <p:nvPr/>
        </p:nvSpPr>
        <p:spPr>
          <a:xfrm>
            <a:off x="5166360" y="2788920"/>
            <a:ext cx="4754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研究现状与趋势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4983480" y="3639312"/>
            <a:ext cx="5623560" cy="0"/>
          </a:xfrm>
          <a:prstGeom prst="line">
            <a:avLst/>
          </a:prstGeom>
          <a:noFill/>
          <a:ln w="15240">
            <a:solidFill>
              <a:srgbClr val="394179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533888" y="3575304"/>
            <a:ext cx="146304" cy="146304"/>
          </a:xfrm>
          <a:prstGeom prst="ellipse">
            <a:avLst/>
          </a:prstGeom>
          <a:solidFill>
            <a:srgbClr val="394179"/>
          </a:solidFill>
          <a:ln w="12700">
            <a:solidFill>
              <a:srgbClr val="39417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257800" y="4023360"/>
            <a:ext cx="5257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Research status and trend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39728" y="656539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A8A8A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78992" y="256032"/>
            <a:ext cx="717804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相关研究在同一个真实定位场景中有什么不同？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9555480" y="1005840"/>
            <a:ext cx="1874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80" b="1" dirty="0">
                <a:solidFill>
                  <a:srgbClr val="3941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研究现状与趋势</a:t>
            </a:r>
            <a:endParaRPr lang="en-US" sz="880" dirty="0"/>
          </a:p>
        </p:txBody>
      </p:sp>
      <p:pic>
        <p:nvPicPr>
          <p:cNvPr id="4" name="Image 0" descr="/home/ehuy/ORBSLAM3-TrafficSign-Pose/manual_split/seg_manual_1/rgb/1782374541342045184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1353312"/>
            <a:ext cx="5230368" cy="2953512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2432304" y="1956816"/>
            <a:ext cx="1060704" cy="457200"/>
          </a:xfrm>
          <a:prstGeom prst="rect">
            <a:avLst/>
          </a:prstGeom>
          <a:solidFill>
            <a:srgbClr val="FFFFFF">
              <a:alpha val="0"/>
            </a:srgbClr>
          </a:solidFill>
          <a:ln w="38100">
            <a:solidFill>
              <a:srgbClr val="F59E0B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841248" y="4535424"/>
            <a:ext cx="4681728" cy="841248"/>
          </a:xfrm>
          <a:prstGeom prst="roundRect">
            <a:avLst>
              <a:gd name="adj" fmla="val 5435"/>
            </a:avLst>
          </a:prstGeom>
          <a:solidFill>
            <a:srgbClr val="FFF7E8"/>
          </a:solidFill>
          <a:ln w="12700">
            <a:solidFill>
              <a:srgbClr val="F2D9A4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1078992" y="4791456"/>
            <a:ext cx="4206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59E0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共识：交通标志位置固定、语义明确，适合作为长期语义路标</a:t>
            </a:r>
            <a:endParaRPr lang="en-US" sz="1150" dirty="0"/>
          </a:p>
        </p:txBody>
      </p:sp>
      <p:sp>
        <p:nvSpPr>
          <p:cNvPr id="8" name="Shape 5"/>
          <p:cNvSpPr/>
          <p:nvPr/>
        </p:nvSpPr>
        <p:spPr>
          <a:xfrm>
            <a:off x="6108192" y="1335024"/>
            <a:ext cx="5413248" cy="896112"/>
          </a:xfrm>
          <a:prstGeom prst="roundRect">
            <a:avLst>
              <a:gd name="adj" fmla="val 5102"/>
            </a:avLst>
          </a:prstGeom>
          <a:solidFill>
            <a:srgbClr val="FFF1F1"/>
          </a:solidFill>
          <a:ln w="12700">
            <a:solidFill>
              <a:srgbClr val="E55353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6327648" y="1508760"/>
            <a:ext cx="14813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5535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标志绝对地图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7909560" y="1463040"/>
            <a:ext cx="2331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80" dirty="0">
                <a:solidFill>
                  <a:srgbClr val="4D64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需预存标志 GPS / 3D 坐标</a:t>
            </a:r>
            <a:endParaRPr lang="en-US" sz="980" dirty="0"/>
          </a:p>
        </p:txBody>
      </p:sp>
      <p:sp>
        <p:nvSpPr>
          <p:cNvPr id="11" name="Text 8"/>
          <p:cNvSpPr/>
          <p:nvPr/>
        </p:nvSpPr>
        <p:spPr>
          <a:xfrm>
            <a:off x="10287000" y="1517904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E553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Yuan 2017 · Qu 2015</a:t>
            </a:r>
            <a:endParaRPr lang="en-US" sz="880" dirty="0"/>
          </a:p>
        </p:txBody>
      </p:sp>
      <p:sp>
        <p:nvSpPr>
          <p:cNvPr id="12" name="Shape 9"/>
          <p:cNvSpPr/>
          <p:nvPr/>
        </p:nvSpPr>
        <p:spPr>
          <a:xfrm>
            <a:off x="6108192" y="2432304"/>
            <a:ext cx="5413248" cy="896112"/>
          </a:xfrm>
          <a:prstGeom prst="roundRect">
            <a:avLst>
              <a:gd name="adj" fmla="val 5102"/>
            </a:avLst>
          </a:prstGeom>
          <a:solidFill>
            <a:srgbClr val="FFF7E8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6327648" y="2606040"/>
            <a:ext cx="14813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稀疏语义地图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7909560" y="2560320"/>
            <a:ext cx="2331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80" dirty="0">
                <a:solidFill>
                  <a:srgbClr val="4D64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需先建立标志点线的 2D–3D 对应</a:t>
            </a:r>
            <a:endParaRPr lang="en-US" sz="980" dirty="0"/>
          </a:p>
        </p:txBody>
      </p:sp>
      <p:sp>
        <p:nvSpPr>
          <p:cNvPr id="15" name="Text 12"/>
          <p:cNvSpPr/>
          <p:nvPr/>
        </p:nvSpPr>
        <p:spPr>
          <a:xfrm>
            <a:off x="10287000" y="2615184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F59E0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Chen 2022 · You 2019</a:t>
            </a:r>
            <a:endParaRPr lang="en-US" sz="880" dirty="0"/>
          </a:p>
        </p:txBody>
      </p:sp>
      <p:sp>
        <p:nvSpPr>
          <p:cNvPr id="16" name="Shape 13"/>
          <p:cNvSpPr/>
          <p:nvPr/>
        </p:nvSpPr>
        <p:spPr>
          <a:xfrm>
            <a:off x="6108192" y="3529584"/>
            <a:ext cx="5413248" cy="896112"/>
          </a:xfrm>
          <a:prstGeom prst="roundRect">
            <a:avLst>
              <a:gd name="adj" fmla="val 5102"/>
            </a:avLst>
          </a:prstGeom>
          <a:solidFill>
            <a:srgbClr val="EDF4FF"/>
          </a:solidFill>
          <a:ln w="12700">
            <a:solidFill>
              <a:srgbClr val="2367D1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6327648" y="3703320"/>
            <a:ext cx="14813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367D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跨条件语义定位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7909560" y="3657600"/>
            <a:ext cx="2331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80" dirty="0">
                <a:solidFill>
                  <a:srgbClr val="4D64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用语义/3D 描述子抑制季节光照变化</a:t>
            </a:r>
            <a:endParaRPr lang="en-US" sz="980" dirty="0"/>
          </a:p>
        </p:txBody>
      </p:sp>
      <p:sp>
        <p:nvSpPr>
          <p:cNvPr id="19" name="Text 16"/>
          <p:cNvSpPr/>
          <p:nvPr/>
        </p:nvSpPr>
        <p:spPr>
          <a:xfrm>
            <a:off x="10287000" y="3712464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2367D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Schönberger 2018 · LAPS-II</a:t>
            </a:r>
            <a:endParaRPr lang="en-US" sz="880" dirty="0"/>
          </a:p>
        </p:txBody>
      </p:sp>
      <p:sp>
        <p:nvSpPr>
          <p:cNvPr id="20" name="Shape 17"/>
          <p:cNvSpPr/>
          <p:nvPr/>
        </p:nvSpPr>
        <p:spPr>
          <a:xfrm>
            <a:off x="6108192" y="4626864"/>
            <a:ext cx="5413248" cy="896112"/>
          </a:xfrm>
          <a:prstGeom prst="roundRect">
            <a:avLst>
              <a:gd name="adj" fmla="val 5102"/>
            </a:avLst>
          </a:prstGeom>
          <a:solidFill>
            <a:srgbClr val="EAF8F5"/>
          </a:solidFill>
          <a:ln w="27940">
            <a:solidFill>
              <a:srgbClr val="12B8A6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6327648" y="4800600"/>
            <a:ext cx="14813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2B8A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本文路线</a:t>
            </a:r>
            <a:endParaRPr lang="en-US" sz="1200" dirty="0"/>
          </a:p>
        </p:txBody>
      </p:sp>
      <p:sp>
        <p:nvSpPr>
          <p:cNvPr id="22" name="Text 19"/>
          <p:cNvSpPr/>
          <p:nvPr/>
        </p:nvSpPr>
        <p:spPr>
          <a:xfrm>
            <a:off x="7909560" y="4754880"/>
            <a:ext cx="2331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80" dirty="0">
                <a:solidFill>
                  <a:srgbClr val="4D64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不建标志绝对地图，用两次观测恢复相对运动</a:t>
            </a:r>
            <a:endParaRPr lang="en-US" sz="980" dirty="0"/>
          </a:p>
        </p:txBody>
      </p:sp>
      <p:sp>
        <p:nvSpPr>
          <p:cNvPr id="23" name="Text 20"/>
          <p:cNvSpPr/>
          <p:nvPr/>
        </p:nvSpPr>
        <p:spPr>
          <a:xfrm>
            <a:off x="10287000" y="4809744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12B8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Looming + H + 结构消歧</a:t>
            </a:r>
            <a:endParaRPr lang="en-US" sz="880" dirty="0"/>
          </a:p>
        </p:txBody>
      </p:sp>
      <p:sp>
        <p:nvSpPr>
          <p:cNvPr id="24" name="Text 21"/>
          <p:cNvSpPr/>
          <p:nvPr/>
        </p:nvSpPr>
        <p:spPr>
          <a:xfrm>
            <a:off x="960120" y="5879592"/>
            <a:ext cx="10287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3941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本课题的位置：保留交通标志的长期稳定性，但把“必须预存标志绝对坐标”改为“两次观测直接建立米制几何联系”。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39728" y="656539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A8A8A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481328" y="2697480"/>
            <a:ext cx="2084832" cy="1353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0" b="1" dirty="0">
                <a:solidFill>
                  <a:srgbClr val="39417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03</a:t>
            </a:r>
            <a:endParaRPr lang="en-US" sz="8200" dirty="0"/>
          </a:p>
        </p:txBody>
      </p:sp>
      <p:sp>
        <p:nvSpPr>
          <p:cNvPr id="3" name="Text 1"/>
          <p:cNvSpPr/>
          <p:nvPr/>
        </p:nvSpPr>
        <p:spPr>
          <a:xfrm>
            <a:off x="1481328" y="3383280"/>
            <a:ext cx="20848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39417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PART  THREE</a:t>
            </a:r>
            <a:endParaRPr lang="en-US" sz="1900" dirty="0"/>
          </a:p>
        </p:txBody>
      </p:sp>
      <p:sp>
        <p:nvSpPr>
          <p:cNvPr id="4" name="Text 2"/>
          <p:cNvSpPr/>
          <p:nvPr/>
        </p:nvSpPr>
        <p:spPr>
          <a:xfrm>
            <a:off x="5166360" y="2788920"/>
            <a:ext cx="4754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研究内容与方案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4983480" y="3639312"/>
            <a:ext cx="5623560" cy="0"/>
          </a:xfrm>
          <a:prstGeom prst="line">
            <a:avLst/>
          </a:prstGeom>
          <a:noFill/>
          <a:ln w="15240">
            <a:solidFill>
              <a:srgbClr val="394179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533888" y="3575304"/>
            <a:ext cx="146304" cy="146304"/>
          </a:xfrm>
          <a:prstGeom prst="ellipse">
            <a:avLst/>
          </a:prstGeom>
          <a:solidFill>
            <a:srgbClr val="394179"/>
          </a:solidFill>
          <a:ln w="12700">
            <a:solidFill>
              <a:srgbClr val="39417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257800" y="4023360"/>
            <a:ext cx="5257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Research contents and methods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39728" y="656539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A8A8A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78992" y="256032"/>
            <a:ext cx="717804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两个核心研究内容：从相对位姿到定位闭环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9555480" y="1005840"/>
            <a:ext cx="1874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80" b="1" dirty="0">
                <a:solidFill>
                  <a:srgbClr val="3941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研究内容与方案</a:t>
            </a:r>
            <a:endParaRPr lang="en-US" sz="880" dirty="0"/>
          </a:p>
        </p:txBody>
      </p:sp>
      <p:sp>
        <p:nvSpPr>
          <p:cNvPr id="4" name="Shape 2"/>
          <p:cNvSpPr/>
          <p:nvPr/>
        </p:nvSpPr>
        <p:spPr>
          <a:xfrm>
            <a:off x="502920" y="1280160"/>
            <a:ext cx="5532120" cy="4846320"/>
          </a:xfrm>
          <a:prstGeom prst="roundRect">
            <a:avLst>
              <a:gd name="adj" fmla="val 1132"/>
            </a:avLst>
          </a:prstGeom>
          <a:solidFill>
            <a:srgbClr val="EDF4FF"/>
          </a:solidFill>
          <a:ln w="16510">
            <a:solidFill>
              <a:srgbClr val="BFD3F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04672" y="1536192"/>
            <a:ext cx="49194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367D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内容一｜恢复两次车辆的米制相对位姿</a:t>
            </a:r>
            <a:endParaRPr lang="en-US" sz="1500" dirty="0"/>
          </a:p>
        </p:txBody>
      </p:sp>
      <p:pic>
        <p:nvPicPr>
          <p:cNvPr id="6" name="Image 0" descr="/home/ehuy/ORBSLAM3-TrafficSign-Pose/manual_split/seg_manual_6/rgb/1782374885023607040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8952" y="1965960"/>
            <a:ext cx="1481328" cy="841248"/>
          </a:xfrm>
          <a:prstGeom prst="rect">
            <a:avLst/>
          </a:prstGeom>
        </p:spPr>
      </p:pic>
      <p:pic>
        <p:nvPicPr>
          <p:cNvPr id="7" name="Image 1" descr="/home/ehuy/ORBSLAM3-TrafficSign-Pose/manual_split/seg_manual_6/rgb/1782374886325147904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86584" y="1965960"/>
            <a:ext cx="1481328" cy="841248"/>
          </a:xfrm>
          <a:prstGeom prst="rect">
            <a:avLst/>
          </a:prstGeom>
        </p:spPr>
      </p:pic>
      <p:pic>
        <p:nvPicPr>
          <p:cNvPr id="8" name="Image 2" descr="/home/ehuy/ORBSLAM3-TrafficSign-Pose/manual_split/seg_manual_6/rgb/1782374887993715456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14216" y="1965960"/>
            <a:ext cx="1481328" cy="841248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1993392" y="2926080"/>
            <a:ext cx="2514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59E0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目标逐帧变大</a:t>
            </a:r>
            <a:endParaRPr lang="en-US" sz="1100" dirty="0"/>
          </a:p>
        </p:txBody>
      </p:sp>
      <p:pic>
        <p:nvPicPr>
          <p:cNvPr id="10" name="Image 3" descr="/home/ehuy/ORBSLAM3-TrafficSign-Pose/manual_split/seg_manual_1/rgb/1782374541342045184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8096" y="3310128"/>
            <a:ext cx="2267712" cy="1280160"/>
          </a:xfrm>
          <a:prstGeom prst="rect">
            <a:avLst/>
          </a:prstGeom>
        </p:spPr>
      </p:pic>
      <p:pic>
        <p:nvPicPr>
          <p:cNvPr id="11" name="Image 4" descr="/home/ehuy/ORBSLAM3-TrafficSign-Pose/manual_split/seg_manual_181/rgb/1782375931252223232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438144" y="3310128"/>
            <a:ext cx="2267712" cy="1280160"/>
          </a:xfrm>
          <a:prstGeom prst="rect">
            <a:avLst/>
          </a:prstGeom>
        </p:spPr>
      </p:pic>
      <p:sp>
        <p:nvSpPr>
          <p:cNvPr id="12" name="Shape 5"/>
          <p:cNvSpPr/>
          <p:nvPr/>
        </p:nvSpPr>
        <p:spPr>
          <a:xfrm>
            <a:off x="2852928" y="3566160"/>
            <a:ext cx="658368" cy="-45720"/>
          </a:xfrm>
          <a:prstGeom prst="line">
            <a:avLst/>
          </a:prstGeom>
          <a:noFill/>
          <a:ln w="11430">
            <a:solidFill>
              <a:srgbClr val="F59E0B">
                <a:alpha val="80000"/>
              </a:srgbClr>
            </a:solidFill>
            <a:prstDash val="solid"/>
          </a:ln>
        </p:spPr>
      </p:sp>
      <p:sp>
        <p:nvSpPr>
          <p:cNvPr id="13" name="Shape 6"/>
          <p:cNvSpPr/>
          <p:nvPr/>
        </p:nvSpPr>
        <p:spPr>
          <a:xfrm>
            <a:off x="2852928" y="3675888"/>
            <a:ext cx="658368" cy="0"/>
          </a:xfrm>
          <a:prstGeom prst="line">
            <a:avLst/>
          </a:prstGeom>
          <a:noFill/>
          <a:ln w="11430">
            <a:solidFill>
              <a:srgbClr val="12B8A6">
                <a:alpha val="80000"/>
              </a:srgbClr>
            </a:solidFill>
            <a:prstDash val="solid"/>
          </a:ln>
        </p:spPr>
      </p:sp>
      <p:sp>
        <p:nvSpPr>
          <p:cNvPr id="14" name="Shape 7"/>
          <p:cNvSpPr/>
          <p:nvPr/>
        </p:nvSpPr>
        <p:spPr>
          <a:xfrm>
            <a:off x="2852928" y="3785616"/>
            <a:ext cx="658368" cy="45720"/>
          </a:xfrm>
          <a:prstGeom prst="line">
            <a:avLst/>
          </a:prstGeom>
          <a:noFill/>
          <a:ln w="11430">
            <a:solidFill>
              <a:srgbClr val="F59E0B">
                <a:alpha val="80000"/>
              </a:srgbClr>
            </a:solidFill>
            <a:prstDash val="solid"/>
          </a:ln>
        </p:spPr>
      </p:sp>
      <p:sp>
        <p:nvSpPr>
          <p:cNvPr id="15" name="Shape 8"/>
          <p:cNvSpPr/>
          <p:nvPr/>
        </p:nvSpPr>
        <p:spPr>
          <a:xfrm>
            <a:off x="2852928" y="3895344"/>
            <a:ext cx="658368" cy="-45720"/>
          </a:xfrm>
          <a:prstGeom prst="line">
            <a:avLst/>
          </a:prstGeom>
          <a:noFill/>
          <a:ln w="11430">
            <a:solidFill>
              <a:srgbClr val="12B8A6">
                <a:alpha val="80000"/>
              </a:srgbClr>
            </a:solidFill>
            <a:prstDash val="solid"/>
          </a:ln>
        </p:spPr>
      </p:sp>
      <p:sp>
        <p:nvSpPr>
          <p:cNvPr id="16" name="Shape 9"/>
          <p:cNvSpPr/>
          <p:nvPr/>
        </p:nvSpPr>
        <p:spPr>
          <a:xfrm>
            <a:off x="2852928" y="4005072"/>
            <a:ext cx="658368" cy="0"/>
          </a:xfrm>
          <a:prstGeom prst="line">
            <a:avLst/>
          </a:prstGeom>
          <a:noFill/>
          <a:ln w="11430">
            <a:solidFill>
              <a:srgbClr val="F59E0B">
                <a:alpha val="80000"/>
              </a:srgbClr>
            </a:solidFill>
            <a:prstDash val="solid"/>
          </a:ln>
        </p:spPr>
      </p:sp>
      <p:sp>
        <p:nvSpPr>
          <p:cNvPr id="17" name="Shape 10"/>
          <p:cNvSpPr/>
          <p:nvPr/>
        </p:nvSpPr>
        <p:spPr>
          <a:xfrm>
            <a:off x="2852928" y="4114800"/>
            <a:ext cx="658368" cy="45720"/>
          </a:xfrm>
          <a:prstGeom prst="line">
            <a:avLst/>
          </a:prstGeom>
          <a:noFill/>
          <a:ln w="11430">
            <a:solidFill>
              <a:srgbClr val="12B8A6">
                <a:alpha val="80000"/>
              </a:srgbClr>
            </a:solidFill>
            <a:prstDash val="solid"/>
          </a:ln>
        </p:spPr>
      </p:sp>
      <p:sp>
        <p:nvSpPr>
          <p:cNvPr id="18" name="Shape 11"/>
          <p:cNvSpPr/>
          <p:nvPr/>
        </p:nvSpPr>
        <p:spPr>
          <a:xfrm>
            <a:off x="2852928" y="4224528"/>
            <a:ext cx="658368" cy="-45720"/>
          </a:xfrm>
          <a:prstGeom prst="line">
            <a:avLst/>
          </a:prstGeom>
          <a:noFill/>
          <a:ln w="11430">
            <a:solidFill>
              <a:srgbClr val="F59E0B">
                <a:alpha val="80000"/>
              </a:srgbClr>
            </a:solidFill>
            <a:prstDash val="solid"/>
          </a:ln>
        </p:spPr>
      </p:sp>
      <p:sp>
        <p:nvSpPr>
          <p:cNvPr id="19" name="Text 12"/>
          <p:cNvSpPr/>
          <p:nvPr/>
        </p:nvSpPr>
        <p:spPr>
          <a:xfrm>
            <a:off x="841248" y="4965192"/>
            <a:ext cx="4754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20" b="1" dirty="0">
                <a:solidFill>
                  <a:srgbClr val="3941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Looming 深度 + 单应性姿态 + 结构消歧 → T_C1C2</a:t>
            </a:r>
            <a:endParaRPr lang="en-US" sz="1220" dirty="0"/>
          </a:p>
        </p:txBody>
      </p:sp>
      <p:sp>
        <p:nvSpPr>
          <p:cNvPr id="20" name="Shape 13"/>
          <p:cNvSpPr/>
          <p:nvPr/>
        </p:nvSpPr>
        <p:spPr>
          <a:xfrm>
            <a:off x="6172200" y="1280160"/>
            <a:ext cx="5513832" cy="4846320"/>
          </a:xfrm>
          <a:prstGeom prst="roundRect">
            <a:avLst>
              <a:gd name="adj" fmla="val 1132"/>
            </a:avLst>
          </a:prstGeom>
          <a:solidFill>
            <a:srgbClr val="EAF8F5"/>
          </a:solidFill>
          <a:ln w="16510">
            <a:solidFill>
              <a:srgbClr val="A8DDD4"/>
            </a:solidFill>
            <a:prstDash val="solid"/>
          </a:ln>
        </p:spPr>
      </p:sp>
      <p:sp>
        <p:nvSpPr>
          <p:cNvPr id="21" name="Text 14"/>
          <p:cNvSpPr/>
          <p:nvPr/>
        </p:nvSpPr>
        <p:spPr>
          <a:xfrm>
            <a:off x="6446520" y="1536192"/>
            <a:ext cx="4983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87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内容二｜把相对位姿放入跨条件重定位闭环</a:t>
            </a:r>
            <a:endParaRPr lang="en-US" sz="1500" dirty="0"/>
          </a:p>
        </p:txBody>
      </p:sp>
      <p:pic>
        <p:nvPicPr>
          <p:cNvPr id="22" name="Image 5" descr="/home/ehuy/ORBSLAM3-TrafficSign-Pose/landmarkslam/implement/data/test_pairs/full_gps/gps_trajectory_full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46520" y="1938528"/>
            <a:ext cx="4956048" cy="2651760"/>
          </a:xfrm>
          <a:prstGeom prst="rect">
            <a:avLst/>
          </a:prstGeom>
        </p:spPr>
      </p:pic>
      <p:pic>
        <p:nvPicPr>
          <p:cNvPr id="23" name="Image 6" descr="/home/ehuy/ORBSLAM3-TrafficSign-Pose/landmarkslam/implement/data/test_pairs/pair_15_59/lsq_results/20260605_172512/trajectory_alignment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793992" y="3977640"/>
            <a:ext cx="2057400" cy="1417320"/>
          </a:xfrm>
          <a:prstGeom prst="rect">
            <a:avLst/>
          </a:prstGeom>
        </p:spPr>
      </p:pic>
      <p:sp>
        <p:nvSpPr>
          <p:cNvPr id="24" name="Text 15"/>
          <p:cNvSpPr/>
          <p:nvPr/>
        </p:nvSpPr>
        <p:spPr>
          <a:xfrm>
            <a:off x="9070848" y="4151376"/>
            <a:ext cx="19385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367D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D456 + IMU + RTK</a:t>
            </a:r>
            <a:endParaRPr lang="en-US" sz="1200" dirty="0"/>
          </a:p>
        </p:txBody>
      </p:sp>
      <p:sp>
        <p:nvSpPr>
          <p:cNvPr id="25" name="Text 16"/>
          <p:cNvSpPr/>
          <p:nvPr/>
        </p:nvSpPr>
        <p:spPr>
          <a:xfrm>
            <a:off x="8979408" y="4535424"/>
            <a:ext cx="215798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20" b="1" dirty="0">
                <a:solidFill>
                  <a:srgbClr val="4D64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SLAM—GPS 方向对齐</a:t>
            </a:r>
            <a:endParaRPr lang="en-US" sz="1020" dirty="0"/>
          </a:p>
          <a:p>
            <a:pPr algn="ctr" indent="0" marL="0">
              <a:buNone/>
            </a:pPr>
            <a:r>
              <a:rPr lang="en-US" sz="1020" b="1" dirty="0">
                <a:solidFill>
                  <a:srgbClr val="4D64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第二次 GPS 只用于评价</a:t>
            </a:r>
            <a:endParaRPr lang="en-US" sz="1020" dirty="0"/>
          </a:p>
        </p:txBody>
      </p:sp>
      <p:sp>
        <p:nvSpPr>
          <p:cNvPr id="26" name="Shape 17"/>
          <p:cNvSpPr/>
          <p:nvPr/>
        </p:nvSpPr>
        <p:spPr>
          <a:xfrm>
            <a:off x="5715000" y="3675888"/>
            <a:ext cx="521208" cy="0"/>
          </a:xfrm>
          <a:prstGeom prst="line">
            <a:avLst/>
          </a:prstGeom>
          <a:noFill/>
          <a:ln w="38100">
            <a:solidFill>
              <a:srgbClr val="7657D5"/>
            </a:solidFill>
            <a:prstDash val="solid"/>
            <a:headEnd type="none"/>
            <a:tailEnd type="triangle"/>
          </a:ln>
        </p:spPr>
      </p:sp>
      <p:sp>
        <p:nvSpPr>
          <p:cNvPr id="27" name="Text 18"/>
          <p:cNvSpPr/>
          <p:nvPr/>
        </p:nvSpPr>
        <p:spPr>
          <a:xfrm rot="16200000">
            <a:off x="5138928" y="324612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7657D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方法输出进入系统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39728" y="656539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A8A8A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78992" y="256032"/>
            <a:ext cx="717804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一张图看懂：从真实画面到米制相对位姿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9555480" y="1005840"/>
            <a:ext cx="1874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80" b="1" dirty="0">
                <a:solidFill>
                  <a:srgbClr val="3941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研究内容与方案</a:t>
            </a:r>
            <a:endParaRPr lang="en-US" sz="880" dirty="0"/>
          </a:p>
        </p:txBody>
      </p:sp>
      <p:pic>
        <p:nvPicPr>
          <p:cNvPr id="4" name="Image 0" descr="/home/ehuy/ORBSLAM3-TrafficSign-Pose/manual_split/seg_manual_6/rgb/1782374885023607040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325880"/>
            <a:ext cx="2761488" cy="1554480"/>
          </a:xfrm>
          <a:prstGeom prst="rect">
            <a:avLst/>
          </a:prstGeom>
        </p:spPr>
      </p:pic>
      <p:pic>
        <p:nvPicPr>
          <p:cNvPr id="5" name="Image 1" descr="/home/ehuy/ORBSLAM3-TrafficSign-Pose/manual_split/seg_manual_6/rgb/1782374887993715456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3090672"/>
            <a:ext cx="2761488" cy="1554480"/>
          </a:xfrm>
          <a:prstGeom prst="rect">
            <a:avLst/>
          </a:prstGeom>
        </p:spPr>
      </p:pic>
      <p:sp>
        <p:nvSpPr>
          <p:cNvPr id="6" name="Shape 2"/>
          <p:cNvSpPr/>
          <p:nvPr/>
        </p:nvSpPr>
        <p:spPr>
          <a:xfrm>
            <a:off x="1591056" y="1664208"/>
            <a:ext cx="393192" cy="228600"/>
          </a:xfrm>
          <a:prstGeom prst="rect">
            <a:avLst/>
          </a:prstGeom>
          <a:solidFill>
            <a:srgbClr val="FFFFFF">
              <a:alpha val="0"/>
            </a:srgbClr>
          </a:solidFill>
          <a:ln w="27940">
            <a:solidFill>
              <a:srgbClr val="F59E0B"/>
            </a:solidFill>
            <a:prstDash val="solid"/>
          </a:ln>
        </p:spPr>
      </p:sp>
      <p:sp>
        <p:nvSpPr>
          <p:cNvPr id="7" name="Shape 3"/>
          <p:cNvSpPr/>
          <p:nvPr/>
        </p:nvSpPr>
        <p:spPr>
          <a:xfrm>
            <a:off x="1700784" y="3108960"/>
            <a:ext cx="804672" cy="475488"/>
          </a:xfrm>
          <a:prstGeom prst="rect">
            <a:avLst/>
          </a:prstGeom>
          <a:solidFill>
            <a:srgbClr val="FFFFFF">
              <a:alpha val="0"/>
            </a:srgbClr>
          </a:solidFill>
          <a:ln w="27940">
            <a:solidFill>
              <a:srgbClr val="F59E0B"/>
            </a:solidFill>
            <a:prstDash val="solid"/>
          </a:ln>
        </p:spPr>
      </p:sp>
      <p:sp>
        <p:nvSpPr>
          <p:cNvPr id="8" name="Text 4"/>
          <p:cNvSpPr/>
          <p:nvPr/>
        </p:nvSpPr>
        <p:spPr>
          <a:xfrm>
            <a:off x="612648" y="4800600"/>
            <a:ext cx="26517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2367D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序列内：标志变大 + SLAM/VIO 米制位移 → 深度 Z</a:t>
            </a:r>
            <a:endParaRPr lang="en-US" sz="1050" dirty="0"/>
          </a:p>
        </p:txBody>
      </p:sp>
      <p:sp>
        <p:nvSpPr>
          <p:cNvPr id="9" name="Shape 5"/>
          <p:cNvSpPr/>
          <p:nvPr/>
        </p:nvSpPr>
        <p:spPr>
          <a:xfrm>
            <a:off x="3401568" y="2999232"/>
            <a:ext cx="566928" cy="0"/>
          </a:xfrm>
          <a:prstGeom prst="line">
            <a:avLst/>
          </a:prstGeom>
          <a:noFill/>
          <a:ln w="38100">
            <a:solidFill>
              <a:srgbClr val="2367D1"/>
            </a:solidFill>
            <a:prstDash val="solid"/>
            <a:headEnd type="none"/>
            <a:tailEnd type="triangle"/>
          </a:ln>
        </p:spPr>
      </p:sp>
      <p:pic>
        <p:nvPicPr>
          <p:cNvPr id="10" name="Image 2" descr="/home/ehuy/ORBSLAM3-TrafficSign-Pose/manual_split/seg_manual_1/rgb/1782374541342045184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78224" y="1353312"/>
            <a:ext cx="2880360" cy="1627632"/>
          </a:xfrm>
          <a:prstGeom prst="rect">
            <a:avLst/>
          </a:prstGeom>
        </p:spPr>
      </p:pic>
      <p:pic>
        <p:nvPicPr>
          <p:cNvPr id="11" name="Image 3" descr="/home/ehuy/ORBSLAM3-TrafficSign-Pose/manual_split/seg_manual_181/rgb/1782375931252223232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78224" y="3136392"/>
            <a:ext cx="2880360" cy="1627632"/>
          </a:xfrm>
          <a:prstGeom prst="rect">
            <a:avLst/>
          </a:prstGeom>
        </p:spPr>
      </p:pic>
      <p:sp>
        <p:nvSpPr>
          <p:cNvPr id="12" name="Shape 6"/>
          <p:cNvSpPr/>
          <p:nvPr/>
        </p:nvSpPr>
        <p:spPr>
          <a:xfrm>
            <a:off x="5102352" y="1691640"/>
            <a:ext cx="603504" cy="274320"/>
          </a:xfrm>
          <a:prstGeom prst="rect">
            <a:avLst/>
          </a:prstGeom>
          <a:solidFill>
            <a:srgbClr val="FFFFFF">
              <a:alpha val="0"/>
            </a:srgbClr>
          </a:solidFill>
          <a:ln w="27940">
            <a:solidFill>
              <a:srgbClr val="12B8A6"/>
            </a:solidFill>
            <a:prstDash val="solid"/>
          </a:ln>
        </p:spPr>
      </p:sp>
      <p:sp>
        <p:nvSpPr>
          <p:cNvPr id="13" name="Shape 7"/>
          <p:cNvSpPr/>
          <p:nvPr/>
        </p:nvSpPr>
        <p:spPr>
          <a:xfrm>
            <a:off x="5294376" y="3511296"/>
            <a:ext cx="603504" cy="274320"/>
          </a:xfrm>
          <a:prstGeom prst="rect">
            <a:avLst/>
          </a:prstGeom>
          <a:solidFill>
            <a:srgbClr val="FFFFFF">
              <a:alpha val="0"/>
            </a:srgbClr>
          </a:solidFill>
          <a:ln w="27940">
            <a:solidFill>
              <a:srgbClr val="12B8A6"/>
            </a:solidFill>
            <a:prstDash val="solid"/>
          </a:ln>
        </p:spPr>
      </p:sp>
      <p:sp>
        <p:nvSpPr>
          <p:cNvPr id="14" name="Text 8"/>
          <p:cNvSpPr/>
          <p:nvPr/>
        </p:nvSpPr>
        <p:spPr>
          <a:xfrm>
            <a:off x="4169664" y="4919472"/>
            <a:ext cx="26883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7657D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跨序列：同一标志匹配 → H → (R, t/d, n)</a:t>
            </a:r>
            <a:endParaRPr lang="en-US" sz="1050" dirty="0"/>
          </a:p>
        </p:txBody>
      </p:sp>
      <p:sp>
        <p:nvSpPr>
          <p:cNvPr id="15" name="Shape 9"/>
          <p:cNvSpPr/>
          <p:nvPr/>
        </p:nvSpPr>
        <p:spPr>
          <a:xfrm>
            <a:off x="7059168" y="2999232"/>
            <a:ext cx="566928" cy="0"/>
          </a:xfrm>
          <a:prstGeom prst="line">
            <a:avLst/>
          </a:prstGeom>
          <a:noFill/>
          <a:ln w="38100">
            <a:solidFill>
              <a:srgbClr val="7657D5"/>
            </a:solidFill>
            <a:prstDash val="solid"/>
            <a:headEnd type="none"/>
            <a:tailEnd type="triangle"/>
          </a:ln>
        </p:spPr>
      </p:sp>
      <p:pic>
        <p:nvPicPr>
          <p:cNvPr id="16" name="Image 4" descr="/home/ehuy/ORBSLAM3-TrafficSign-Pose/landmarkslam/implement/data/test_pairs/pair_01_45/lsq_results/lsq_result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54112" y="1353312"/>
            <a:ext cx="3840480" cy="1371600"/>
          </a:xfrm>
          <a:prstGeom prst="rect">
            <a:avLst/>
          </a:prstGeom>
        </p:spPr>
      </p:pic>
      <p:pic>
        <p:nvPicPr>
          <p:cNvPr id="17" name="Image 5" descr="/home/ehuy/ORBSLAM3-TrafficSign-Pose/landmarkslam/implement/data/test_pairs/pair_15_59/lsq_results/20260605_172512/trajectory_alignment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754112" y="2980944"/>
            <a:ext cx="3840480" cy="1920240"/>
          </a:xfrm>
          <a:prstGeom prst="rect">
            <a:avLst/>
          </a:prstGeom>
        </p:spPr>
      </p:pic>
      <p:sp>
        <p:nvSpPr>
          <p:cNvPr id="18" name="Shape 10"/>
          <p:cNvSpPr/>
          <p:nvPr/>
        </p:nvSpPr>
        <p:spPr>
          <a:xfrm>
            <a:off x="7955280" y="5074920"/>
            <a:ext cx="3419856" cy="530352"/>
          </a:xfrm>
          <a:prstGeom prst="roundRect">
            <a:avLst>
              <a:gd name="adj" fmla="val 8621"/>
            </a:avLst>
          </a:prstGeom>
          <a:solidFill>
            <a:srgbClr val="EAF8F5"/>
          </a:solidFill>
          <a:ln w="12700">
            <a:solidFill>
              <a:srgbClr val="8FD5CA"/>
            </a:solidFill>
            <a:prstDash val="solid"/>
          </a:ln>
        </p:spPr>
      </p:sp>
      <p:sp>
        <p:nvSpPr>
          <p:cNvPr id="19" name="Text 11"/>
          <p:cNvSpPr/>
          <p:nvPr/>
        </p:nvSpPr>
        <p:spPr>
          <a:xfrm>
            <a:off x="8138160" y="5248656"/>
            <a:ext cx="30540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876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Z 注入 t/d → T_C1C2 = {R, t_real}</a:t>
            </a:r>
            <a:endParaRPr lang="en-US" sz="1200" dirty="0"/>
          </a:p>
        </p:txBody>
      </p:sp>
      <p:sp>
        <p:nvSpPr>
          <p:cNvPr id="20" name="Text 12"/>
          <p:cNvSpPr/>
          <p:nvPr/>
        </p:nvSpPr>
        <p:spPr>
          <a:xfrm>
            <a:off x="1024128" y="5961888"/>
            <a:ext cx="10104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3941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图像是观测，SLAM/VIO 提供米制运动，交通标志是两次经过的共同几何参照。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39728" y="656539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A8A8A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78992" y="256032"/>
            <a:ext cx="717804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总体技术路线：用真实数据把定位闭环串起来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9555480" y="1005840"/>
            <a:ext cx="1874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80" b="1" dirty="0">
                <a:solidFill>
                  <a:srgbClr val="3941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研究内容与方案</a:t>
            </a:r>
            <a:endParaRPr lang="en-US" sz="880" dirty="0"/>
          </a:p>
        </p:txBody>
      </p:sp>
      <p:sp>
        <p:nvSpPr>
          <p:cNvPr id="4" name="Shape 2"/>
          <p:cNvSpPr/>
          <p:nvPr/>
        </p:nvSpPr>
        <p:spPr>
          <a:xfrm>
            <a:off x="438912" y="1353312"/>
            <a:ext cx="2212848" cy="4498848"/>
          </a:xfrm>
          <a:prstGeom prst="roundRect">
            <a:avLst>
              <a:gd name="adj" fmla="val 2066"/>
            </a:avLst>
          </a:prstGeom>
          <a:solidFill>
            <a:srgbClr val="EDF4FF"/>
          </a:solidFill>
          <a:ln w="15240">
            <a:solidFill>
              <a:srgbClr val="BFD3F2"/>
            </a:solidFill>
            <a:prstDash val="solid"/>
          </a:ln>
        </p:spPr>
      </p:sp>
      <p:pic>
        <p:nvPicPr>
          <p:cNvPr id="5" name="Image 0" descr="/home/ehuy/ORBSLAM3-TrafficSign-Pose/manual_split/seg_manual_6/rgb/1782374887993715456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481328"/>
            <a:ext cx="1993392" cy="141732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85216" y="3081528"/>
            <a:ext cx="19202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20" b="1" dirty="0">
                <a:solidFill>
                  <a:srgbClr val="2367D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  参考序列建立尺度</a:t>
            </a:r>
            <a:endParaRPr lang="en-US" sz="1220" dirty="0"/>
          </a:p>
        </p:txBody>
      </p:sp>
      <p:sp>
        <p:nvSpPr>
          <p:cNvPr id="7" name="Text 4"/>
          <p:cNvSpPr/>
          <p:nvPr/>
        </p:nvSpPr>
        <p:spPr>
          <a:xfrm>
            <a:off x="603504" y="3840480"/>
            <a:ext cx="1883664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10" dirty="0">
                <a:solidFill>
                  <a:srgbClr val="4D64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多帧膨胀 + SLAM/VIO Δd</a:t>
            </a:r>
            <a:endParaRPr lang="en-US" sz="1010" dirty="0"/>
          </a:p>
          <a:p>
            <a:pPr algn="ctr" indent="0" marL="0">
              <a:buNone/>
            </a:pPr>
            <a:r>
              <a:rPr lang="en-US" sz="1010" dirty="0">
                <a:solidFill>
                  <a:srgbClr val="4D64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得到标志深度 Z</a:t>
            </a:r>
            <a:endParaRPr lang="en-US" sz="1010" dirty="0"/>
          </a:p>
        </p:txBody>
      </p:sp>
      <p:sp>
        <p:nvSpPr>
          <p:cNvPr id="8" name="Text 5"/>
          <p:cNvSpPr/>
          <p:nvPr/>
        </p:nvSpPr>
        <p:spPr>
          <a:xfrm>
            <a:off x="877824" y="4919472"/>
            <a:ext cx="13350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2367D1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Z</a:t>
            </a:r>
            <a:endParaRPr lang="en-US" sz="2100" dirty="0"/>
          </a:p>
        </p:txBody>
      </p:sp>
      <p:sp>
        <p:nvSpPr>
          <p:cNvPr id="9" name="Shape 6"/>
          <p:cNvSpPr/>
          <p:nvPr/>
        </p:nvSpPr>
        <p:spPr>
          <a:xfrm>
            <a:off x="2670048" y="3401568"/>
            <a:ext cx="210312" cy="0"/>
          </a:xfrm>
          <a:prstGeom prst="line">
            <a:avLst/>
          </a:prstGeom>
          <a:noFill/>
          <a:ln w="30480">
            <a:solidFill>
              <a:srgbClr val="7657D5"/>
            </a:solidFill>
            <a:prstDash val="solid"/>
            <a:headEnd type="none"/>
            <a:tailEnd type="triangle"/>
          </a:ln>
        </p:spPr>
      </p:sp>
      <p:sp>
        <p:nvSpPr>
          <p:cNvPr id="10" name="Shape 7"/>
          <p:cNvSpPr/>
          <p:nvPr/>
        </p:nvSpPr>
        <p:spPr>
          <a:xfrm>
            <a:off x="2898648" y="1353312"/>
            <a:ext cx="2212848" cy="4498848"/>
          </a:xfrm>
          <a:prstGeom prst="roundRect">
            <a:avLst>
              <a:gd name="adj" fmla="val 2066"/>
            </a:avLst>
          </a:prstGeom>
          <a:solidFill>
            <a:srgbClr val="EAF8F5"/>
          </a:solidFill>
          <a:ln w="15240">
            <a:solidFill>
              <a:srgbClr val="8FD5CA"/>
            </a:solidFill>
            <a:prstDash val="solid"/>
          </a:ln>
        </p:spPr>
      </p:sp>
      <p:pic>
        <p:nvPicPr>
          <p:cNvPr id="11" name="Image 1" descr="/home/ehuy/ORBSLAM3-TrafficSign-Pose/manual_split/seg_manual_181/rgb/1782375931252223232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08376" y="1481328"/>
            <a:ext cx="1993392" cy="141732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3044952" y="3081528"/>
            <a:ext cx="19202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20" b="1" dirty="0">
                <a:solidFill>
                  <a:srgbClr val="087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  同一标志跨序列对应</a:t>
            </a:r>
            <a:endParaRPr lang="en-US" sz="1220" dirty="0"/>
          </a:p>
        </p:txBody>
      </p:sp>
      <p:sp>
        <p:nvSpPr>
          <p:cNvPr id="13" name="Text 9"/>
          <p:cNvSpPr/>
          <p:nvPr/>
        </p:nvSpPr>
        <p:spPr>
          <a:xfrm>
            <a:off x="3063240" y="3840480"/>
            <a:ext cx="1883664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10" dirty="0">
                <a:solidFill>
                  <a:srgbClr val="4D64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LoFTR + H</a:t>
            </a:r>
            <a:endParaRPr lang="en-US" sz="1010" dirty="0"/>
          </a:p>
          <a:p>
            <a:pPr algn="ctr" indent="0" marL="0">
              <a:buNone/>
            </a:pPr>
            <a:r>
              <a:rPr lang="en-US" sz="1010" dirty="0">
                <a:solidFill>
                  <a:srgbClr val="4D64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得到 R、t/d、n 候选</a:t>
            </a:r>
            <a:endParaRPr lang="en-US" sz="1010" dirty="0"/>
          </a:p>
        </p:txBody>
      </p:sp>
      <p:sp>
        <p:nvSpPr>
          <p:cNvPr id="14" name="Text 10"/>
          <p:cNvSpPr/>
          <p:nvPr/>
        </p:nvSpPr>
        <p:spPr>
          <a:xfrm>
            <a:off x="3337560" y="4919472"/>
            <a:ext cx="13350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12B8A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R, t/d, n</a:t>
            </a:r>
            <a:endParaRPr lang="en-US" sz="2100" dirty="0"/>
          </a:p>
        </p:txBody>
      </p:sp>
      <p:sp>
        <p:nvSpPr>
          <p:cNvPr id="15" name="Shape 11"/>
          <p:cNvSpPr/>
          <p:nvPr/>
        </p:nvSpPr>
        <p:spPr>
          <a:xfrm>
            <a:off x="5129784" y="3401568"/>
            <a:ext cx="210312" cy="0"/>
          </a:xfrm>
          <a:prstGeom prst="line">
            <a:avLst/>
          </a:prstGeom>
          <a:noFill/>
          <a:ln w="30480">
            <a:solidFill>
              <a:srgbClr val="7657D5"/>
            </a:solidFill>
            <a:prstDash val="solid"/>
            <a:headEnd type="none"/>
            <a:tailEnd type="triangle"/>
          </a:ln>
        </p:spPr>
      </p:sp>
      <p:sp>
        <p:nvSpPr>
          <p:cNvPr id="16" name="Shape 12"/>
          <p:cNvSpPr/>
          <p:nvPr/>
        </p:nvSpPr>
        <p:spPr>
          <a:xfrm>
            <a:off x="5358384" y="1353312"/>
            <a:ext cx="2212848" cy="4498848"/>
          </a:xfrm>
          <a:prstGeom prst="roundRect">
            <a:avLst>
              <a:gd name="adj" fmla="val 2066"/>
            </a:avLst>
          </a:prstGeom>
          <a:solidFill>
            <a:srgbClr val="EDF4FF"/>
          </a:solidFill>
          <a:ln w="15240">
            <a:solidFill>
              <a:srgbClr val="BFD3F2"/>
            </a:solidFill>
            <a:prstDash val="solid"/>
          </a:ln>
        </p:spPr>
      </p:sp>
      <p:pic>
        <p:nvPicPr>
          <p:cNvPr id="17" name="Image 2" descr="/home/ehuy/ORBSLAM3-TrafficSign-Pose/landmarkslam/implement/data/test_pairs/pair_01_45/lsq_results/lsq_result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68112" y="1481328"/>
            <a:ext cx="1993392" cy="1243584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5504688" y="3081528"/>
            <a:ext cx="19202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20" b="1" dirty="0">
                <a:solidFill>
                  <a:srgbClr val="2367D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  恢复米制相对位姿</a:t>
            </a:r>
            <a:endParaRPr lang="en-US" sz="1220" dirty="0"/>
          </a:p>
        </p:txBody>
      </p:sp>
      <p:sp>
        <p:nvSpPr>
          <p:cNvPr id="19" name="Text 14"/>
          <p:cNvSpPr/>
          <p:nvPr/>
        </p:nvSpPr>
        <p:spPr>
          <a:xfrm>
            <a:off x="5522976" y="3840480"/>
            <a:ext cx="1883664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10" dirty="0">
                <a:solidFill>
                  <a:srgbClr val="4D64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结构消歧 + 尺度注入</a:t>
            </a:r>
            <a:endParaRPr lang="en-US" sz="1010" dirty="0"/>
          </a:p>
          <a:p>
            <a:pPr algn="ctr" indent="0" marL="0">
              <a:buNone/>
            </a:pPr>
            <a:r>
              <a:rPr lang="en-US" sz="1010" dirty="0">
                <a:solidFill>
                  <a:srgbClr val="4D64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T_C1C2={R,t_real}</a:t>
            </a:r>
            <a:endParaRPr lang="en-US" sz="1010" dirty="0"/>
          </a:p>
        </p:txBody>
      </p:sp>
      <p:sp>
        <p:nvSpPr>
          <p:cNvPr id="20" name="Text 15"/>
          <p:cNvSpPr/>
          <p:nvPr/>
        </p:nvSpPr>
        <p:spPr>
          <a:xfrm>
            <a:off x="5797296" y="4919472"/>
            <a:ext cx="13350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2367D1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T_C1C2</a:t>
            </a:r>
            <a:endParaRPr lang="en-US" sz="2100" dirty="0"/>
          </a:p>
        </p:txBody>
      </p:sp>
      <p:sp>
        <p:nvSpPr>
          <p:cNvPr id="21" name="Shape 16"/>
          <p:cNvSpPr/>
          <p:nvPr/>
        </p:nvSpPr>
        <p:spPr>
          <a:xfrm>
            <a:off x="7589520" y="3401568"/>
            <a:ext cx="210312" cy="0"/>
          </a:xfrm>
          <a:prstGeom prst="line">
            <a:avLst/>
          </a:prstGeom>
          <a:noFill/>
          <a:ln w="30480">
            <a:solidFill>
              <a:srgbClr val="7657D5"/>
            </a:solidFill>
            <a:prstDash val="solid"/>
            <a:headEnd type="none"/>
            <a:tailEnd type="triangle"/>
          </a:ln>
        </p:spPr>
      </p:sp>
      <p:sp>
        <p:nvSpPr>
          <p:cNvPr id="22" name="Shape 17"/>
          <p:cNvSpPr/>
          <p:nvPr/>
        </p:nvSpPr>
        <p:spPr>
          <a:xfrm>
            <a:off x="7818120" y="1353312"/>
            <a:ext cx="2212848" cy="4498848"/>
          </a:xfrm>
          <a:prstGeom prst="roundRect">
            <a:avLst>
              <a:gd name="adj" fmla="val 2066"/>
            </a:avLst>
          </a:prstGeom>
          <a:solidFill>
            <a:srgbClr val="EAF8F5"/>
          </a:solidFill>
          <a:ln w="15240">
            <a:solidFill>
              <a:srgbClr val="8FD5CA"/>
            </a:solidFill>
            <a:prstDash val="solid"/>
          </a:ln>
        </p:spPr>
      </p:sp>
      <p:pic>
        <p:nvPicPr>
          <p:cNvPr id="23" name="Image 3" descr="/home/ehuy/ORBSLAM3-TrafficSign-Pose/landmarkslam/implement/data/test_pairs/pair_15_59/lsq_results/20260605_172512/trajectory_alignment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27848" y="1481328"/>
            <a:ext cx="1993392" cy="1417320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7964424" y="3081528"/>
            <a:ext cx="19202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20" b="1" dirty="0">
                <a:solidFill>
                  <a:srgbClr val="087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  对齐并推算当前 GPS</a:t>
            </a:r>
            <a:endParaRPr lang="en-US" sz="1220" dirty="0"/>
          </a:p>
        </p:txBody>
      </p:sp>
      <p:sp>
        <p:nvSpPr>
          <p:cNvPr id="25" name="Text 19"/>
          <p:cNvSpPr/>
          <p:nvPr/>
        </p:nvSpPr>
        <p:spPr>
          <a:xfrm>
            <a:off x="7982712" y="3840480"/>
            <a:ext cx="1883664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10" dirty="0">
                <a:solidFill>
                  <a:srgbClr val="4D64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参考 GPS + 方向对齐</a:t>
            </a:r>
            <a:endParaRPr lang="en-US" sz="1010" dirty="0"/>
          </a:p>
          <a:p>
            <a:pPr algn="ctr" indent="0" marL="0">
              <a:buNone/>
            </a:pPr>
            <a:r>
              <a:rPr lang="en-US" sz="1010" dirty="0">
                <a:solidFill>
                  <a:srgbClr val="4D64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p₂=p₁+R_align t_real</a:t>
            </a:r>
            <a:endParaRPr lang="en-US" sz="1010" dirty="0"/>
          </a:p>
        </p:txBody>
      </p:sp>
      <p:sp>
        <p:nvSpPr>
          <p:cNvPr id="26" name="Text 20"/>
          <p:cNvSpPr/>
          <p:nvPr/>
        </p:nvSpPr>
        <p:spPr>
          <a:xfrm>
            <a:off x="8257032" y="4919472"/>
            <a:ext cx="13350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12B8A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GPS₂</a:t>
            </a:r>
            <a:endParaRPr lang="en-US" sz="2100" dirty="0"/>
          </a:p>
        </p:txBody>
      </p:sp>
      <p:sp>
        <p:nvSpPr>
          <p:cNvPr id="27" name="Shape 21"/>
          <p:cNvSpPr/>
          <p:nvPr/>
        </p:nvSpPr>
        <p:spPr>
          <a:xfrm>
            <a:off x="8604504" y="1709928"/>
            <a:ext cx="676656" cy="329184"/>
          </a:xfrm>
          <a:prstGeom prst="rect">
            <a:avLst/>
          </a:prstGeom>
          <a:solidFill>
            <a:srgbClr val="FFFFFF">
              <a:alpha val="0"/>
            </a:srgbClr>
          </a:solidFill>
          <a:ln w="27940">
            <a:solidFill>
              <a:srgbClr val="18A36A"/>
            </a:solidFill>
            <a:prstDash val="solid"/>
          </a:ln>
        </p:spPr>
      </p:sp>
      <p:sp>
        <p:nvSpPr>
          <p:cNvPr id="28" name="Text 22"/>
          <p:cNvSpPr/>
          <p:nvPr/>
        </p:nvSpPr>
        <p:spPr>
          <a:xfrm>
            <a:off x="932688" y="6071616"/>
            <a:ext cx="10287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3941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整个链路只需标志在两次经过时能够被重新识别；不需要预先建立标志牌的绝对 GPS 地图。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39728" y="656539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A8A8A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78992" y="256032"/>
            <a:ext cx="717804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模块一：车辆接近标志时，它在图像中逐帧变大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9555480" y="1005840"/>
            <a:ext cx="1874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80" b="1" dirty="0">
                <a:solidFill>
                  <a:srgbClr val="3941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研究内容与方案</a:t>
            </a:r>
            <a:endParaRPr lang="en-US" sz="880" dirty="0"/>
          </a:p>
        </p:txBody>
      </p:sp>
      <p:pic>
        <p:nvPicPr>
          <p:cNvPr id="4" name="Image 0" descr="/home/ehuy/ORBSLAM3-TrafficSign-Pose/manual_split/seg_manual_6/rgb/1782374885023607040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1399032"/>
            <a:ext cx="3401568" cy="192024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1874520" y="1856232"/>
            <a:ext cx="182880" cy="173736"/>
          </a:xfrm>
          <a:prstGeom prst="rect">
            <a:avLst/>
          </a:prstGeom>
          <a:solidFill>
            <a:srgbClr val="FFFFFF">
              <a:alpha val="0"/>
            </a:srgbClr>
          </a:solidFill>
          <a:ln w="35560">
            <a:solidFill>
              <a:srgbClr val="F59E0B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1563624" y="3493008"/>
            <a:ext cx="1298448" cy="310896"/>
          </a:xfrm>
          <a:prstGeom prst="roundRect">
            <a:avLst>
              <a:gd name="adj" fmla="val 17647"/>
            </a:avLst>
          </a:prstGeom>
          <a:solidFill>
            <a:srgbClr val="EDF4FF"/>
          </a:solidFill>
          <a:ln w="12700">
            <a:solidFill>
              <a:srgbClr val="EDF4FF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1618488" y="3557016"/>
            <a:ext cx="11887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2367D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远帧 r₁</a:t>
            </a:r>
            <a:endParaRPr lang="en-US" sz="880" dirty="0"/>
          </a:p>
        </p:txBody>
      </p:sp>
      <p:sp>
        <p:nvSpPr>
          <p:cNvPr id="8" name="Shape 5"/>
          <p:cNvSpPr/>
          <p:nvPr/>
        </p:nvSpPr>
        <p:spPr>
          <a:xfrm>
            <a:off x="3959352" y="2377440"/>
            <a:ext cx="301752" cy="0"/>
          </a:xfrm>
          <a:prstGeom prst="line">
            <a:avLst/>
          </a:prstGeom>
          <a:noFill/>
          <a:ln w="31750">
            <a:solidFill>
              <a:srgbClr val="12B8A6"/>
            </a:solidFill>
            <a:prstDash val="solid"/>
            <a:headEnd type="none"/>
            <a:tailEnd type="triangle"/>
          </a:ln>
        </p:spPr>
      </p:sp>
      <p:pic>
        <p:nvPicPr>
          <p:cNvPr id="9" name="Image 1" descr="/home/ehuy/ORBSLAM3-TrafficSign-Pose/manual_split/seg_manual_6/rgb/1782374886325147904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25112" y="1399032"/>
            <a:ext cx="3401568" cy="1920240"/>
          </a:xfrm>
          <a:prstGeom prst="rect">
            <a:avLst/>
          </a:prstGeom>
        </p:spPr>
      </p:pic>
      <p:sp>
        <p:nvSpPr>
          <p:cNvPr id="10" name="Shape 6"/>
          <p:cNvSpPr/>
          <p:nvPr/>
        </p:nvSpPr>
        <p:spPr>
          <a:xfrm>
            <a:off x="5669280" y="1755648"/>
            <a:ext cx="265176" cy="246888"/>
          </a:xfrm>
          <a:prstGeom prst="rect">
            <a:avLst/>
          </a:prstGeom>
          <a:solidFill>
            <a:srgbClr val="FFFFFF">
              <a:alpha val="0"/>
            </a:srgbClr>
          </a:solidFill>
          <a:ln w="35560">
            <a:solidFill>
              <a:srgbClr val="F59E0B"/>
            </a:solidFill>
            <a:prstDash val="solid"/>
          </a:ln>
        </p:spPr>
      </p:sp>
      <p:sp>
        <p:nvSpPr>
          <p:cNvPr id="11" name="Shape 7"/>
          <p:cNvSpPr/>
          <p:nvPr/>
        </p:nvSpPr>
        <p:spPr>
          <a:xfrm>
            <a:off x="5385816" y="3493008"/>
            <a:ext cx="1298448" cy="310896"/>
          </a:xfrm>
          <a:prstGeom prst="roundRect">
            <a:avLst>
              <a:gd name="adj" fmla="val 17647"/>
            </a:avLst>
          </a:prstGeom>
          <a:solidFill>
            <a:srgbClr val="EDF4FF"/>
          </a:solidFill>
          <a:ln w="12700">
            <a:solidFill>
              <a:srgbClr val="EDF4FF"/>
            </a:solidFill>
            <a:prstDash val="solid"/>
          </a:ln>
        </p:spPr>
      </p:sp>
      <p:sp>
        <p:nvSpPr>
          <p:cNvPr id="12" name="Text 8"/>
          <p:cNvSpPr/>
          <p:nvPr/>
        </p:nvSpPr>
        <p:spPr>
          <a:xfrm>
            <a:off x="5440680" y="3557016"/>
            <a:ext cx="11887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2367D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中间帧 rₖ</a:t>
            </a:r>
            <a:endParaRPr lang="en-US" sz="880" dirty="0"/>
          </a:p>
        </p:txBody>
      </p:sp>
      <p:sp>
        <p:nvSpPr>
          <p:cNvPr id="13" name="Shape 9"/>
          <p:cNvSpPr/>
          <p:nvPr/>
        </p:nvSpPr>
        <p:spPr>
          <a:xfrm>
            <a:off x="7781544" y="2377440"/>
            <a:ext cx="301752" cy="0"/>
          </a:xfrm>
          <a:prstGeom prst="line">
            <a:avLst/>
          </a:prstGeom>
          <a:noFill/>
          <a:ln w="31750">
            <a:solidFill>
              <a:srgbClr val="12B8A6"/>
            </a:solidFill>
            <a:prstDash val="solid"/>
            <a:headEnd type="none"/>
            <a:tailEnd type="triangle"/>
          </a:ln>
        </p:spPr>
      </p:sp>
      <p:pic>
        <p:nvPicPr>
          <p:cNvPr id="14" name="Image 2" descr="/home/ehuy/ORBSLAM3-TrafficSign-Pose/manual_split/seg_manual_6/rgb/1782374887993715456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47304" y="1399032"/>
            <a:ext cx="3401568" cy="1920240"/>
          </a:xfrm>
          <a:prstGeom prst="rect">
            <a:avLst/>
          </a:prstGeom>
        </p:spPr>
      </p:pic>
      <p:sp>
        <p:nvSpPr>
          <p:cNvPr id="15" name="Shape 10"/>
          <p:cNvSpPr/>
          <p:nvPr/>
        </p:nvSpPr>
        <p:spPr>
          <a:xfrm>
            <a:off x="9592056" y="1399032"/>
            <a:ext cx="502920" cy="411480"/>
          </a:xfrm>
          <a:prstGeom prst="rect">
            <a:avLst/>
          </a:prstGeom>
          <a:solidFill>
            <a:srgbClr val="FFFFFF">
              <a:alpha val="0"/>
            </a:srgbClr>
          </a:solidFill>
          <a:ln w="35560">
            <a:solidFill>
              <a:srgbClr val="F59E0B"/>
            </a:solidFill>
            <a:prstDash val="solid"/>
          </a:ln>
        </p:spPr>
      </p:sp>
      <p:sp>
        <p:nvSpPr>
          <p:cNvPr id="16" name="Shape 11"/>
          <p:cNvSpPr/>
          <p:nvPr/>
        </p:nvSpPr>
        <p:spPr>
          <a:xfrm>
            <a:off x="9208008" y="3493008"/>
            <a:ext cx="1298448" cy="310896"/>
          </a:xfrm>
          <a:prstGeom prst="roundRect">
            <a:avLst>
              <a:gd name="adj" fmla="val 17647"/>
            </a:avLst>
          </a:prstGeom>
          <a:solidFill>
            <a:srgbClr val="EAF8F5"/>
          </a:solidFill>
          <a:ln w="12700">
            <a:solidFill>
              <a:srgbClr val="EAF8F5"/>
            </a:solidFill>
            <a:prstDash val="solid"/>
          </a:ln>
        </p:spPr>
      </p:sp>
      <p:sp>
        <p:nvSpPr>
          <p:cNvPr id="17" name="Text 12"/>
          <p:cNvSpPr/>
          <p:nvPr/>
        </p:nvSpPr>
        <p:spPr>
          <a:xfrm>
            <a:off x="9262872" y="3557016"/>
            <a:ext cx="11887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12B8A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近帧 rₖₐₐₓ</a:t>
            </a:r>
            <a:endParaRPr lang="en-US" sz="880" dirty="0"/>
          </a:p>
        </p:txBody>
      </p:sp>
      <p:sp>
        <p:nvSpPr>
          <p:cNvPr id="18" name="Shape 13"/>
          <p:cNvSpPr/>
          <p:nvPr/>
        </p:nvSpPr>
        <p:spPr>
          <a:xfrm>
            <a:off x="658368" y="4069080"/>
            <a:ext cx="3145536" cy="1170432"/>
          </a:xfrm>
          <a:prstGeom prst="roundRect">
            <a:avLst>
              <a:gd name="adj" fmla="val 3906"/>
            </a:avLst>
          </a:prstGeom>
          <a:solidFill>
            <a:srgbClr val="EDF4FF"/>
          </a:solidFill>
          <a:ln w="12700">
            <a:solidFill>
              <a:srgbClr val="BFD3F2"/>
            </a:solidFill>
            <a:prstDash val="solid"/>
          </a:ln>
        </p:spPr>
      </p:sp>
      <p:sp>
        <p:nvSpPr>
          <p:cNvPr id="19" name="Text 14"/>
          <p:cNvSpPr/>
          <p:nvPr/>
        </p:nvSpPr>
        <p:spPr>
          <a:xfrm>
            <a:off x="877824" y="4297680"/>
            <a:ext cx="27066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367D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SLAM/VIO 给出短时米制位移</a:t>
            </a:r>
            <a:endParaRPr lang="en-US" sz="1200" dirty="0"/>
          </a:p>
        </p:txBody>
      </p:sp>
      <p:sp>
        <p:nvSpPr>
          <p:cNvPr id="20" name="Text 15"/>
          <p:cNvSpPr/>
          <p:nvPr/>
        </p:nvSpPr>
        <p:spPr>
          <a:xfrm>
            <a:off x="1508760" y="4709160"/>
            <a:ext cx="14813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2367D1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Δd（米）</a:t>
            </a:r>
            <a:endParaRPr lang="en-US" sz="1900" dirty="0"/>
          </a:p>
        </p:txBody>
      </p:sp>
      <p:sp>
        <p:nvSpPr>
          <p:cNvPr id="21" name="Shape 16"/>
          <p:cNvSpPr/>
          <p:nvPr/>
        </p:nvSpPr>
        <p:spPr>
          <a:xfrm>
            <a:off x="3950208" y="4663440"/>
            <a:ext cx="548640" cy="0"/>
          </a:xfrm>
          <a:prstGeom prst="line">
            <a:avLst/>
          </a:prstGeom>
          <a:noFill/>
          <a:ln w="38100">
            <a:solidFill>
              <a:srgbClr val="7657D5"/>
            </a:solidFill>
            <a:prstDash val="solid"/>
            <a:headEnd type="none"/>
            <a:tailEnd type="triangle"/>
          </a:ln>
        </p:spPr>
      </p:sp>
      <p:sp>
        <p:nvSpPr>
          <p:cNvPr id="22" name="Shape 17"/>
          <p:cNvSpPr/>
          <p:nvPr/>
        </p:nvSpPr>
        <p:spPr>
          <a:xfrm>
            <a:off x="4608576" y="4069080"/>
            <a:ext cx="3822192" cy="1170432"/>
          </a:xfrm>
          <a:prstGeom prst="roundRect">
            <a:avLst>
              <a:gd name="adj" fmla="val 3906"/>
            </a:avLst>
          </a:prstGeom>
          <a:solidFill>
            <a:srgbClr val="FFF7E8"/>
          </a:solidFill>
          <a:ln w="12700">
            <a:solidFill>
              <a:srgbClr val="F2D9A4"/>
            </a:solidFill>
            <a:prstDash val="solid"/>
          </a:ln>
        </p:spPr>
      </p:sp>
      <p:sp>
        <p:nvSpPr>
          <p:cNvPr id="23" name="Text 18"/>
          <p:cNvSpPr/>
          <p:nvPr/>
        </p:nvSpPr>
        <p:spPr>
          <a:xfrm>
            <a:off x="4882896" y="4279392"/>
            <a:ext cx="1325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像素尺度变化</a:t>
            </a:r>
            <a:endParaRPr lang="en-US" sz="1200" dirty="0"/>
          </a:p>
        </p:txBody>
      </p:sp>
      <p:sp>
        <p:nvSpPr>
          <p:cNvPr id="24" name="Text 19"/>
          <p:cNvSpPr/>
          <p:nvPr/>
        </p:nvSpPr>
        <p:spPr>
          <a:xfrm>
            <a:off x="6272784" y="4261104"/>
            <a:ext cx="184708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59E0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Δr = r_near − r_far</a:t>
            </a:r>
            <a:endParaRPr lang="en-US" sz="1800" dirty="0"/>
          </a:p>
        </p:txBody>
      </p:sp>
      <p:sp>
        <p:nvSpPr>
          <p:cNvPr id="25" name="Text 20"/>
          <p:cNvSpPr/>
          <p:nvPr/>
        </p:nvSpPr>
        <p:spPr>
          <a:xfrm>
            <a:off x="4919472" y="4700016"/>
            <a:ext cx="31821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94179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Z = r_near · Δd / Δr − Δd</a:t>
            </a:r>
            <a:endParaRPr lang="en-US" sz="1800" dirty="0"/>
          </a:p>
        </p:txBody>
      </p:sp>
      <p:sp>
        <p:nvSpPr>
          <p:cNvPr id="26" name="Shape 21"/>
          <p:cNvSpPr/>
          <p:nvPr/>
        </p:nvSpPr>
        <p:spPr>
          <a:xfrm>
            <a:off x="8577072" y="4663440"/>
            <a:ext cx="548640" cy="0"/>
          </a:xfrm>
          <a:prstGeom prst="line">
            <a:avLst/>
          </a:prstGeom>
          <a:noFill/>
          <a:ln w="38100">
            <a:solidFill>
              <a:srgbClr val="12B8A6"/>
            </a:solidFill>
            <a:prstDash val="solid"/>
            <a:headEnd type="none"/>
            <a:tailEnd type="triangle"/>
          </a:ln>
        </p:spPr>
      </p:sp>
      <p:sp>
        <p:nvSpPr>
          <p:cNvPr id="27" name="Shape 22"/>
          <p:cNvSpPr/>
          <p:nvPr/>
        </p:nvSpPr>
        <p:spPr>
          <a:xfrm>
            <a:off x="9235440" y="4069080"/>
            <a:ext cx="2286000" cy="1170432"/>
          </a:xfrm>
          <a:prstGeom prst="roundRect">
            <a:avLst>
              <a:gd name="adj" fmla="val 3906"/>
            </a:avLst>
          </a:prstGeom>
          <a:solidFill>
            <a:srgbClr val="EAF8F5"/>
          </a:solidFill>
          <a:ln w="12700">
            <a:solidFill>
              <a:srgbClr val="8FD5CA"/>
            </a:solidFill>
            <a:prstDash val="solid"/>
          </a:ln>
        </p:spPr>
      </p:sp>
      <p:sp>
        <p:nvSpPr>
          <p:cNvPr id="28" name="Text 23"/>
          <p:cNvSpPr/>
          <p:nvPr/>
        </p:nvSpPr>
        <p:spPr>
          <a:xfrm>
            <a:off x="9436608" y="4288536"/>
            <a:ext cx="188366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87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输出绝对深度</a:t>
            </a:r>
            <a:endParaRPr lang="en-US" sz="1200" dirty="0"/>
          </a:p>
        </p:txBody>
      </p:sp>
      <p:sp>
        <p:nvSpPr>
          <p:cNvPr id="29" name="Text 24"/>
          <p:cNvSpPr/>
          <p:nvPr/>
        </p:nvSpPr>
        <p:spPr>
          <a:xfrm>
            <a:off x="9710928" y="4700016"/>
            <a:ext cx="13350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2B8A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Z（米）</a:t>
            </a:r>
            <a:endParaRPr lang="en-US" sz="2000" dirty="0"/>
          </a:p>
        </p:txBody>
      </p:sp>
      <p:sp>
        <p:nvSpPr>
          <p:cNvPr id="30" name="Text 25"/>
          <p:cNvSpPr/>
          <p:nvPr/>
        </p:nvSpPr>
        <p:spPr>
          <a:xfrm>
            <a:off x="941832" y="5897880"/>
            <a:ext cx="103144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20" b="1" dirty="0">
                <a:solidFill>
                  <a:srgbClr val="3941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不是凭单张图像猜距离：利用实际行驶位移 Δd 与标志在图中的增大量 Δr 恢复米制深度。</a:t>
            </a:r>
            <a:endParaRPr lang="en-US" sz="132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39728" y="656539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A8A8A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78992" y="256032"/>
            <a:ext cx="717804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模块一稳健化：先去除相机旋转，再用多帧联合拟合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9555480" y="1005840"/>
            <a:ext cx="1874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80" b="1" dirty="0">
                <a:solidFill>
                  <a:srgbClr val="3941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研究内容与方案</a:t>
            </a:r>
            <a:endParaRPr lang="en-US" sz="880" dirty="0"/>
          </a:p>
        </p:txBody>
      </p:sp>
      <p:pic>
        <p:nvPicPr>
          <p:cNvPr id="4" name="Image 0" descr="/home/ehuy/ORBSLAM3-TrafficSign-Pose/manual_split/seg_manual_6/rgb/1782374885023607040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1389888"/>
            <a:ext cx="3246120" cy="1828800"/>
          </a:xfrm>
          <a:prstGeom prst="rect">
            <a:avLst/>
          </a:prstGeom>
        </p:spPr>
      </p:pic>
      <p:pic>
        <p:nvPicPr>
          <p:cNvPr id="5" name="Image 1" descr="/home/ehuy/ORBSLAM3-TrafficSign-Pose/manual_split/seg_manual_6/rgb/1782374887993715456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33088" y="1389888"/>
            <a:ext cx="3246120" cy="1828800"/>
          </a:xfrm>
          <a:prstGeom prst="rect">
            <a:avLst/>
          </a:prstGeom>
        </p:spPr>
      </p:pic>
      <p:sp>
        <p:nvSpPr>
          <p:cNvPr id="6" name="Shape 2"/>
          <p:cNvSpPr/>
          <p:nvPr/>
        </p:nvSpPr>
        <p:spPr>
          <a:xfrm>
            <a:off x="1874520" y="1819656"/>
            <a:ext cx="420624" cy="246888"/>
          </a:xfrm>
          <a:prstGeom prst="rect">
            <a:avLst/>
          </a:prstGeom>
          <a:solidFill>
            <a:srgbClr val="FFFFFF">
              <a:alpha val="0"/>
            </a:srgbClr>
          </a:solidFill>
          <a:ln w="31750">
            <a:solidFill>
              <a:srgbClr val="E55353"/>
            </a:solidFill>
            <a:prstDash val="solid"/>
          </a:ln>
        </p:spPr>
      </p:sp>
      <p:sp>
        <p:nvSpPr>
          <p:cNvPr id="7" name="Shape 3"/>
          <p:cNvSpPr/>
          <p:nvPr/>
        </p:nvSpPr>
        <p:spPr>
          <a:xfrm>
            <a:off x="5513832" y="1389888"/>
            <a:ext cx="475488" cy="393192"/>
          </a:xfrm>
          <a:prstGeom prst="rect">
            <a:avLst/>
          </a:prstGeom>
          <a:solidFill>
            <a:srgbClr val="FFFFFF">
              <a:alpha val="0"/>
            </a:srgbClr>
          </a:solidFill>
          <a:ln w="31750">
            <a:solidFill>
              <a:srgbClr val="F59E0B"/>
            </a:solidFill>
            <a:prstDash val="solid"/>
          </a:ln>
        </p:spPr>
      </p:sp>
      <p:sp>
        <p:nvSpPr>
          <p:cNvPr id="8" name="Shape 4"/>
          <p:cNvSpPr/>
          <p:nvPr/>
        </p:nvSpPr>
        <p:spPr>
          <a:xfrm rot="1080000">
            <a:off x="3401568" y="1874520"/>
            <a:ext cx="960120" cy="786384"/>
          </a:xfrm>
          <a:prstGeom prst="arc">
            <a:avLst/>
          </a:prstGeom>
          <a:solidFill>
            <a:srgbClr val="FFFFFF">
              <a:alpha val="0"/>
            </a:srgbClr>
          </a:solidFill>
          <a:ln w="31750">
            <a:solidFill>
              <a:srgbClr val="2367D1"/>
            </a:solidFill>
            <a:prstDash val="solid"/>
            <a:tailEnd type="triangle"/>
          </a:ln>
        </p:spPr>
      </p:sp>
      <p:sp>
        <p:nvSpPr>
          <p:cNvPr id="9" name="Text 5"/>
          <p:cNvSpPr/>
          <p:nvPr/>
        </p:nvSpPr>
        <p:spPr>
          <a:xfrm>
            <a:off x="2724912" y="3401568"/>
            <a:ext cx="2542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367D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旋转补偿 H_R = K R K⁻¹</a:t>
            </a:r>
            <a:endParaRPr lang="en-US" sz="1200" dirty="0"/>
          </a:p>
        </p:txBody>
      </p:sp>
      <p:pic>
        <p:nvPicPr>
          <p:cNvPr id="10" name="Image 2" descr="/home/ehuy/ORBSLAM3-TrafficSign-Pose/landmarkslam/implement/data/test_pairs/pair_01_45/lsq_results/lsq_result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26680" y="1371600"/>
            <a:ext cx="3886200" cy="2487168"/>
          </a:xfrm>
          <a:prstGeom prst="rect">
            <a:avLst/>
          </a:prstGeom>
        </p:spPr>
      </p:pic>
      <p:sp>
        <p:nvSpPr>
          <p:cNvPr id="11" name="Shape 6"/>
          <p:cNvSpPr/>
          <p:nvPr/>
        </p:nvSpPr>
        <p:spPr>
          <a:xfrm>
            <a:off x="658368" y="3977640"/>
            <a:ext cx="3017520" cy="1234440"/>
          </a:xfrm>
          <a:prstGeom prst="roundRect">
            <a:avLst>
              <a:gd name="adj" fmla="val 3704"/>
            </a:avLst>
          </a:prstGeom>
          <a:solidFill>
            <a:srgbClr val="FFF1F1"/>
          </a:solidFill>
          <a:ln w="12700">
            <a:solidFill>
              <a:srgbClr val="F2B9B9"/>
            </a:solidFill>
            <a:prstDash val="solid"/>
          </a:ln>
        </p:spPr>
      </p:sp>
      <p:sp>
        <p:nvSpPr>
          <p:cNvPr id="12" name="Text 7"/>
          <p:cNvSpPr/>
          <p:nvPr/>
        </p:nvSpPr>
        <p:spPr>
          <a:xfrm>
            <a:off x="896112" y="4215384"/>
            <a:ext cx="25420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E5535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如果直接用两帧</a:t>
            </a:r>
            <a:endParaRPr lang="en-US" sz="1250" dirty="0"/>
          </a:p>
        </p:txBody>
      </p:sp>
      <p:sp>
        <p:nvSpPr>
          <p:cNvPr id="13" name="Text 8"/>
          <p:cNvSpPr/>
          <p:nvPr/>
        </p:nvSpPr>
        <p:spPr>
          <a:xfrm>
            <a:off x="914400" y="4599432"/>
            <a:ext cx="250545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20" dirty="0">
                <a:solidFill>
                  <a:srgbClr val="4D64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目标膨胀 + 相机旋转 + 像素抖动混在一起</a:t>
            </a:r>
            <a:endParaRPr lang="en-US" sz="1020" dirty="0"/>
          </a:p>
        </p:txBody>
      </p:sp>
      <p:sp>
        <p:nvSpPr>
          <p:cNvPr id="14" name="Shape 9"/>
          <p:cNvSpPr/>
          <p:nvPr/>
        </p:nvSpPr>
        <p:spPr>
          <a:xfrm>
            <a:off x="3840480" y="4590288"/>
            <a:ext cx="548640" cy="0"/>
          </a:xfrm>
          <a:prstGeom prst="line">
            <a:avLst/>
          </a:prstGeom>
          <a:noFill/>
          <a:ln w="38100">
            <a:solidFill>
              <a:srgbClr val="2367D1"/>
            </a:solidFill>
            <a:prstDash val="solid"/>
            <a:headEnd type="none"/>
            <a:tailEnd type="triangle"/>
          </a:ln>
        </p:spPr>
      </p:sp>
      <p:sp>
        <p:nvSpPr>
          <p:cNvPr id="15" name="Shape 10"/>
          <p:cNvSpPr/>
          <p:nvPr/>
        </p:nvSpPr>
        <p:spPr>
          <a:xfrm>
            <a:off x="4517136" y="3977640"/>
            <a:ext cx="3017520" cy="1234440"/>
          </a:xfrm>
          <a:prstGeom prst="roundRect">
            <a:avLst>
              <a:gd name="adj" fmla="val 3704"/>
            </a:avLst>
          </a:prstGeom>
          <a:solidFill>
            <a:srgbClr val="EDF4FF"/>
          </a:solidFill>
          <a:ln w="12700">
            <a:solidFill>
              <a:srgbClr val="BFD3F2"/>
            </a:solidFill>
            <a:prstDash val="solid"/>
          </a:ln>
        </p:spPr>
      </p:sp>
      <p:sp>
        <p:nvSpPr>
          <p:cNvPr id="16" name="Text 11"/>
          <p:cNvSpPr/>
          <p:nvPr/>
        </p:nvSpPr>
        <p:spPr>
          <a:xfrm>
            <a:off x="4754880" y="4215384"/>
            <a:ext cx="25420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2367D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去除旋转成分</a:t>
            </a:r>
            <a:endParaRPr lang="en-US" sz="1250" dirty="0"/>
          </a:p>
        </p:txBody>
      </p:sp>
      <p:sp>
        <p:nvSpPr>
          <p:cNvPr id="17" name="Text 12"/>
          <p:cNvSpPr/>
          <p:nvPr/>
        </p:nvSpPr>
        <p:spPr>
          <a:xfrm>
            <a:off x="4754880" y="4599432"/>
            <a:ext cx="254203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20" dirty="0">
                <a:solidFill>
                  <a:srgbClr val="4D64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把后续帧统一到参考相机方向，保留主要的尺度变化</a:t>
            </a:r>
            <a:endParaRPr lang="en-US" sz="1020" dirty="0"/>
          </a:p>
        </p:txBody>
      </p:sp>
      <p:sp>
        <p:nvSpPr>
          <p:cNvPr id="18" name="Shape 13"/>
          <p:cNvSpPr/>
          <p:nvPr/>
        </p:nvSpPr>
        <p:spPr>
          <a:xfrm>
            <a:off x="7699248" y="4590288"/>
            <a:ext cx="548640" cy="0"/>
          </a:xfrm>
          <a:prstGeom prst="line">
            <a:avLst/>
          </a:prstGeom>
          <a:noFill/>
          <a:ln w="38100">
            <a:solidFill>
              <a:srgbClr val="12B8A6"/>
            </a:solidFill>
            <a:prstDash val="solid"/>
            <a:headEnd type="none"/>
            <a:tailEnd type="triangle"/>
          </a:ln>
        </p:spPr>
      </p:sp>
      <p:sp>
        <p:nvSpPr>
          <p:cNvPr id="19" name="Shape 14"/>
          <p:cNvSpPr/>
          <p:nvPr/>
        </p:nvSpPr>
        <p:spPr>
          <a:xfrm>
            <a:off x="8375904" y="3977640"/>
            <a:ext cx="3127248" cy="1234440"/>
          </a:xfrm>
          <a:prstGeom prst="roundRect">
            <a:avLst>
              <a:gd name="adj" fmla="val 3704"/>
            </a:avLst>
          </a:prstGeom>
          <a:solidFill>
            <a:srgbClr val="EAF8F5"/>
          </a:solidFill>
          <a:ln w="12700">
            <a:solidFill>
              <a:srgbClr val="8FD5CA"/>
            </a:solidFill>
            <a:prstDash val="solid"/>
          </a:ln>
        </p:spPr>
      </p:sp>
      <p:sp>
        <p:nvSpPr>
          <p:cNvPr id="20" name="Text 15"/>
          <p:cNvSpPr/>
          <p:nvPr/>
        </p:nvSpPr>
        <p:spPr>
          <a:xfrm>
            <a:off x="8595360" y="4215384"/>
            <a:ext cx="268833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87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15 帧滑动窗口 LSQ</a:t>
            </a:r>
            <a:endParaRPr lang="en-US" sz="1250" dirty="0"/>
          </a:p>
        </p:txBody>
      </p:sp>
      <p:sp>
        <p:nvSpPr>
          <p:cNvPr id="21" name="Text 16"/>
          <p:cNvSpPr/>
          <p:nvPr/>
        </p:nvSpPr>
        <p:spPr>
          <a:xfrm>
            <a:off x="8613648" y="4599432"/>
            <a:ext cx="26517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20" dirty="0">
                <a:solidFill>
                  <a:srgbClr val="4D64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增大有效 Δr，用多帧共同约束抑制单帧噪声</a:t>
            </a:r>
            <a:endParaRPr lang="en-US" sz="1020" dirty="0"/>
          </a:p>
        </p:txBody>
      </p:sp>
      <p:sp>
        <p:nvSpPr>
          <p:cNvPr id="22" name="Text 17"/>
          <p:cNvSpPr/>
          <p:nvPr/>
        </p:nvSpPr>
        <p:spPr>
          <a:xfrm>
            <a:off x="1170432" y="5870448"/>
            <a:ext cx="985723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3941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结果已落到真实数据：Frame 406，15 帧窗口，恢复深度 Z ≈ 8.2 m。</a:t>
            </a:r>
            <a:endParaRPr lang="en-US" sz="13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39728" y="656539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A8A8A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78992" y="256032"/>
            <a:ext cx="717804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模块二：跨序列匹配与单应性初解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9555480" y="1005840"/>
            <a:ext cx="1874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80" b="1" dirty="0">
                <a:solidFill>
                  <a:srgbClr val="3941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研究内容与方案</a:t>
            </a:r>
            <a:endParaRPr lang="en-US" sz="880" dirty="0"/>
          </a:p>
        </p:txBody>
      </p:sp>
      <p:pic>
        <p:nvPicPr>
          <p:cNvPr id="4" name="Image 0" descr="/home/ehuy/ORBSLAM3-TrafficSign-Pose/manual_split/seg_manual_1/rgb/1782374541342045184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1325880"/>
            <a:ext cx="4983480" cy="2816352"/>
          </a:xfrm>
          <a:prstGeom prst="rect">
            <a:avLst/>
          </a:prstGeom>
        </p:spPr>
      </p:pic>
      <p:pic>
        <p:nvPicPr>
          <p:cNvPr id="5" name="Image 1" descr="/home/ehuy/ORBSLAM3-TrafficSign-Pose/manual_split/seg_manual_181/rgb/1782375931252223232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38544" y="1325880"/>
            <a:ext cx="4983480" cy="2816352"/>
          </a:xfrm>
          <a:prstGeom prst="rect">
            <a:avLst/>
          </a:prstGeom>
        </p:spPr>
      </p:pic>
      <p:sp>
        <p:nvSpPr>
          <p:cNvPr id="6" name="Shape 2"/>
          <p:cNvSpPr/>
          <p:nvPr/>
        </p:nvSpPr>
        <p:spPr>
          <a:xfrm>
            <a:off x="2340864" y="1911096"/>
            <a:ext cx="1005840" cy="438912"/>
          </a:xfrm>
          <a:prstGeom prst="rect">
            <a:avLst/>
          </a:prstGeom>
          <a:solidFill>
            <a:srgbClr val="FFFFFF">
              <a:alpha val="0"/>
            </a:srgbClr>
          </a:solidFill>
          <a:ln w="38100">
            <a:solidFill>
              <a:srgbClr val="F59E0B"/>
            </a:solidFill>
            <a:prstDash val="solid"/>
          </a:ln>
        </p:spPr>
      </p:sp>
      <p:sp>
        <p:nvSpPr>
          <p:cNvPr id="7" name="Shape 3"/>
          <p:cNvSpPr/>
          <p:nvPr/>
        </p:nvSpPr>
        <p:spPr>
          <a:xfrm>
            <a:off x="8750808" y="1965960"/>
            <a:ext cx="1024128" cy="457200"/>
          </a:xfrm>
          <a:prstGeom prst="rect">
            <a:avLst/>
          </a:prstGeom>
          <a:solidFill>
            <a:srgbClr val="FFFFFF">
              <a:alpha val="0"/>
            </a:srgbClr>
          </a:solidFill>
          <a:ln w="38100">
            <a:solidFill>
              <a:srgbClr val="12B8A6"/>
            </a:solidFill>
            <a:prstDash val="solid"/>
          </a:ln>
        </p:spPr>
      </p:sp>
      <p:sp>
        <p:nvSpPr>
          <p:cNvPr id="8" name="Shape 4"/>
          <p:cNvSpPr/>
          <p:nvPr/>
        </p:nvSpPr>
        <p:spPr>
          <a:xfrm>
            <a:off x="3328416" y="1947672"/>
            <a:ext cx="5394960" cy="-96012"/>
          </a:xfrm>
          <a:prstGeom prst="line">
            <a:avLst/>
          </a:prstGeom>
          <a:noFill/>
          <a:ln w="11430">
            <a:solidFill>
              <a:srgbClr val="F59E0B">
                <a:alpha val="78000"/>
              </a:srgbClr>
            </a:solidFill>
            <a:prstDash val="solid"/>
          </a:ln>
        </p:spPr>
      </p:sp>
      <p:sp>
        <p:nvSpPr>
          <p:cNvPr id="9" name="Shape 5"/>
          <p:cNvSpPr/>
          <p:nvPr/>
        </p:nvSpPr>
        <p:spPr>
          <a:xfrm>
            <a:off x="3328416" y="2011680"/>
            <a:ext cx="5394960" cy="-32004"/>
          </a:xfrm>
          <a:prstGeom prst="line">
            <a:avLst/>
          </a:prstGeom>
          <a:noFill/>
          <a:ln w="11430">
            <a:solidFill>
              <a:srgbClr val="12B8A6">
                <a:alpha val="78000"/>
              </a:srgbClr>
            </a:solidFill>
            <a:prstDash val="solid"/>
          </a:ln>
        </p:spPr>
      </p:sp>
      <p:sp>
        <p:nvSpPr>
          <p:cNvPr id="10" name="Shape 6"/>
          <p:cNvSpPr/>
          <p:nvPr/>
        </p:nvSpPr>
        <p:spPr>
          <a:xfrm>
            <a:off x="3328416" y="2075688"/>
            <a:ext cx="5394960" cy="32004"/>
          </a:xfrm>
          <a:prstGeom prst="line">
            <a:avLst/>
          </a:prstGeom>
          <a:noFill/>
          <a:ln w="11430">
            <a:solidFill>
              <a:srgbClr val="F59E0B">
                <a:alpha val="78000"/>
              </a:srgbClr>
            </a:solidFill>
            <a:prstDash val="solid"/>
          </a:ln>
        </p:spPr>
      </p:sp>
      <p:sp>
        <p:nvSpPr>
          <p:cNvPr id="11" name="Shape 7"/>
          <p:cNvSpPr/>
          <p:nvPr/>
        </p:nvSpPr>
        <p:spPr>
          <a:xfrm>
            <a:off x="3328416" y="2139696"/>
            <a:ext cx="5394960" cy="96012"/>
          </a:xfrm>
          <a:prstGeom prst="line">
            <a:avLst/>
          </a:prstGeom>
          <a:noFill/>
          <a:ln w="11430">
            <a:solidFill>
              <a:srgbClr val="12B8A6">
                <a:alpha val="78000"/>
              </a:srgbClr>
            </a:solidFill>
            <a:prstDash val="solid"/>
          </a:ln>
        </p:spPr>
      </p:sp>
      <p:sp>
        <p:nvSpPr>
          <p:cNvPr id="12" name="Shape 8"/>
          <p:cNvSpPr/>
          <p:nvPr/>
        </p:nvSpPr>
        <p:spPr>
          <a:xfrm>
            <a:off x="3328416" y="2203704"/>
            <a:ext cx="5394960" cy="-96012"/>
          </a:xfrm>
          <a:prstGeom prst="line">
            <a:avLst/>
          </a:prstGeom>
          <a:noFill/>
          <a:ln w="11430">
            <a:solidFill>
              <a:srgbClr val="F59E0B">
                <a:alpha val="78000"/>
              </a:srgbClr>
            </a:solidFill>
            <a:prstDash val="solid"/>
          </a:ln>
        </p:spPr>
      </p:sp>
      <p:sp>
        <p:nvSpPr>
          <p:cNvPr id="13" name="Shape 9"/>
          <p:cNvSpPr/>
          <p:nvPr/>
        </p:nvSpPr>
        <p:spPr>
          <a:xfrm>
            <a:off x="3328416" y="2267712"/>
            <a:ext cx="5394960" cy="-32004"/>
          </a:xfrm>
          <a:prstGeom prst="line">
            <a:avLst/>
          </a:prstGeom>
          <a:noFill/>
          <a:ln w="11430">
            <a:solidFill>
              <a:srgbClr val="12B8A6">
                <a:alpha val="78000"/>
              </a:srgbClr>
            </a:solidFill>
            <a:prstDash val="solid"/>
          </a:ln>
        </p:spPr>
      </p:sp>
      <p:sp>
        <p:nvSpPr>
          <p:cNvPr id="14" name="Shape 10"/>
          <p:cNvSpPr/>
          <p:nvPr/>
        </p:nvSpPr>
        <p:spPr>
          <a:xfrm>
            <a:off x="3328416" y="1947672"/>
            <a:ext cx="5394960" cy="32004"/>
          </a:xfrm>
          <a:prstGeom prst="line">
            <a:avLst/>
          </a:prstGeom>
          <a:noFill/>
          <a:ln w="11430">
            <a:solidFill>
              <a:srgbClr val="F59E0B">
                <a:alpha val="78000"/>
              </a:srgbClr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3328416" y="2011680"/>
            <a:ext cx="5394960" cy="96012"/>
          </a:xfrm>
          <a:prstGeom prst="line">
            <a:avLst/>
          </a:prstGeom>
          <a:noFill/>
          <a:ln w="11430">
            <a:solidFill>
              <a:srgbClr val="12B8A6">
                <a:alpha val="78000"/>
              </a:srgbClr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3328416" y="2075688"/>
            <a:ext cx="5394960" cy="-96012"/>
          </a:xfrm>
          <a:prstGeom prst="line">
            <a:avLst/>
          </a:prstGeom>
          <a:noFill/>
          <a:ln w="11430">
            <a:solidFill>
              <a:srgbClr val="F59E0B">
                <a:alpha val="78000"/>
              </a:srgbClr>
            </a:solidFill>
            <a:prstDash val="solid"/>
          </a:ln>
        </p:spPr>
      </p:sp>
      <p:sp>
        <p:nvSpPr>
          <p:cNvPr id="17" name="Shape 13"/>
          <p:cNvSpPr/>
          <p:nvPr/>
        </p:nvSpPr>
        <p:spPr>
          <a:xfrm>
            <a:off x="3328416" y="2139696"/>
            <a:ext cx="5394960" cy="-32004"/>
          </a:xfrm>
          <a:prstGeom prst="line">
            <a:avLst/>
          </a:prstGeom>
          <a:noFill/>
          <a:ln w="11430">
            <a:solidFill>
              <a:srgbClr val="12B8A6">
                <a:alpha val="78000"/>
              </a:srgbClr>
            </a:solidFill>
            <a:prstDash val="solid"/>
          </a:ln>
        </p:spPr>
      </p:sp>
      <p:sp>
        <p:nvSpPr>
          <p:cNvPr id="18" name="Shape 14"/>
          <p:cNvSpPr/>
          <p:nvPr/>
        </p:nvSpPr>
        <p:spPr>
          <a:xfrm>
            <a:off x="3328416" y="2203704"/>
            <a:ext cx="5394960" cy="32004"/>
          </a:xfrm>
          <a:prstGeom prst="line">
            <a:avLst/>
          </a:prstGeom>
          <a:noFill/>
          <a:ln w="11430">
            <a:solidFill>
              <a:srgbClr val="F59E0B">
                <a:alpha val="78000"/>
              </a:srgbClr>
            </a:solidFill>
            <a:prstDash val="solid"/>
          </a:ln>
        </p:spPr>
      </p:sp>
      <p:sp>
        <p:nvSpPr>
          <p:cNvPr id="19" name="Shape 15"/>
          <p:cNvSpPr/>
          <p:nvPr/>
        </p:nvSpPr>
        <p:spPr>
          <a:xfrm>
            <a:off x="3328416" y="2267712"/>
            <a:ext cx="5394960" cy="96012"/>
          </a:xfrm>
          <a:prstGeom prst="line">
            <a:avLst/>
          </a:prstGeom>
          <a:noFill/>
          <a:ln w="11430">
            <a:solidFill>
              <a:srgbClr val="12B8A6">
                <a:alpha val="78000"/>
              </a:srgbClr>
            </a:solidFill>
            <a:prstDash val="solid"/>
          </a:ln>
        </p:spPr>
      </p:sp>
      <p:sp>
        <p:nvSpPr>
          <p:cNvPr id="20" name="Shape 16"/>
          <p:cNvSpPr/>
          <p:nvPr/>
        </p:nvSpPr>
        <p:spPr>
          <a:xfrm>
            <a:off x="1965960" y="3822192"/>
            <a:ext cx="1600200" cy="310896"/>
          </a:xfrm>
          <a:prstGeom prst="roundRect">
            <a:avLst>
              <a:gd name="adj" fmla="val 17647"/>
            </a:avLst>
          </a:prstGeom>
          <a:solidFill>
            <a:srgbClr val="FFF6E5"/>
          </a:solidFill>
          <a:ln w="12700">
            <a:solidFill>
              <a:srgbClr val="FFF6E5"/>
            </a:solidFill>
            <a:prstDash val="solid"/>
          </a:ln>
        </p:spPr>
      </p:sp>
      <p:sp>
        <p:nvSpPr>
          <p:cNvPr id="21" name="Text 17"/>
          <p:cNvSpPr/>
          <p:nvPr/>
        </p:nvSpPr>
        <p:spPr>
          <a:xfrm>
            <a:off x="2020824" y="3886200"/>
            <a:ext cx="149047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F59E0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参考序列 ROI</a:t>
            </a:r>
            <a:endParaRPr lang="en-US" sz="880" dirty="0"/>
          </a:p>
        </p:txBody>
      </p:sp>
      <p:sp>
        <p:nvSpPr>
          <p:cNvPr id="22" name="Shape 18"/>
          <p:cNvSpPr/>
          <p:nvPr/>
        </p:nvSpPr>
        <p:spPr>
          <a:xfrm>
            <a:off x="8229600" y="3822192"/>
            <a:ext cx="1874520" cy="310896"/>
          </a:xfrm>
          <a:prstGeom prst="roundRect">
            <a:avLst>
              <a:gd name="adj" fmla="val 17647"/>
            </a:avLst>
          </a:prstGeom>
          <a:solidFill>
            <a:srgbClr val="EAF8F5"/>
          </a:solidFill>
          <a:ln w="12700">
            <a:solidFill>
              <a:srgbClr val="EAF8F5"/>
            </a:solidFill>
            <a:prstDash val="solid"/>
          </a:ln>
        </p:spPr>
      </p:sp>
      <p:sp>
        <p:nvSpPr>
          <p:cNvPr id="23" name="Text 19"/>
          <p:cNvSpPr/>
          <p:nvPr/>
        </p:nvSpPr>
        <p:spPr>
          <a:xfrm>
            <a:off x="8284464" y="3886200"/>
            <a:ext cx="176479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12B8A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待定位序列 ROI</a:t>
            </a:r>
            <a:endParaRPr lang="en-US" sz="880" dirty="0"/>
          </a:p>
        </p:txBody>
      </p:sp>
      <p:sp>
        <p:nvSpPr>
          <p:cNvPr id="24" name="Shape 20"/>
          <p:cNvSpPr/>
          <p:nvPr/>
        </p:nvSpPr>
        <p:spPr>
          <a:xfrm>
            <a:off x="749808" y="4370832"/>
            <a:ext cx="2971800" cy="1078992"/>
          </a:xfrm>
          <a:prstGeom prst="roundRect">
            <a:avLst>
              <a:gd name="adj" fmla="val 4237"/>
            </a:avLst>
          </a:prstGeom>
          <a:solidFill>
            <a:srgbClr val="EDF4FF"/>
          </a:solidFill>
          <a:ln w="12700">
            <a:solidFill>
              <a:srgbClr val="BFD3F2"/>
            </a:solidFill>
            <a:prstDash val="solid"/>
          </a:ln>
        </p:spPr>
      </p:sp>
      <p:sp>
        <p:nvSpPr>
          <p:cNvPr id="25" name="Text 21"/>
          <p:cNvSpPr/>
          <p:nvPr/>
        </p:nvSpPr>
        <p:spPr>
          <a:xfrm>
            <a:off x="960120" y="4599432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2367D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① 先重识别同一标志</a:t>
            </a:r>
            <a:endParaRPr lang="en-US" sz="1250" dirty="0"/>
          </a:p>
        </p:txBody>
      </p:sp>
      <p:sp>
        <p:nvSpPr>
          <p:cNvPr id="26" name="Text 22"/>
          <p:cNvSpPr/>
          <p:nvPr/>
        </p:nvSpPr>
        <p:spPr>
          <a:xfrm>
            <a:off x="969264" y="4983480"/>
            <a:ext cx="25420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D64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匹配范围限定在标志牌内部</a:t>
            </a:r>
            <a:endParaRPr lang="en-US" sz="1000" dirty="0"/>
          </a:p>
        </p:txBody>
      </p:sp>
      <p:sp>
        <p:nvSpPr>
          <p:cNvPr id="27" name="Shape 23"/>
          <p:cNvSpPr/>
          <p:nvPr/>
        </p:nvSpPr>
        <p:spPr>
          <a:xfrm>
            <a:off x="3886200" y="4901184"/>
            <a:ext cx="594360" cy="0"/>
          </a:xfrm>
          <a:prstGeom prst="line">
            <a:avLst/>
          </a:prstGeom>
          <a:noFill/>
          <a:ln w="33020">
            <a:solidFill>
              <a:srgbClr val="7657D5"/>
            </a:solidFill>
            <a:prstDash val="solid"/>
            <a:headEnd type="none"/>
            <a:tailEnd type="triangle"/>
          </a:ln>
        </p:spPr>
      </p:sp>
      <p:sp>
        <p:nvSpPr>
          <p:cNvPr id="28" name="Shape 24"/>
          <p:cNvSpPr/>
          <p:nvPr/>
        </p:nvSpPr>
        <p:spPr>
          <a:xfrm>
            <a:off x="4590288" y="4370832"/>
            <a:ext cx="2971800" cy="1078992"/>
          </a:xfrm>
          <a:prstGeom prst="roundRect">
            <a:avLst>
              <a:gd name="adj" fmla="val 4237"/>
            </a:avLst>
          </a:prstGeom>
          <a:solidFill>
            <a:srgbClr val="F3EFFF"/>
          </a:solidFill>
          <a:ln w="12700">
            <a:solidFill>
              <a:srgbClr val="CFC2F3"/>
            </a:solidFill>
            <a:prstDash val="solid"/>
          </a:ln>
        </p:spPr>
      </p:sp>
      <p:sp>
        <p:nvSpPr>
          <p:cNvPr id="29" name="Text 25"/>
          <p:cNvSpPr/>
          <p:nvPr/>
        </p:nvSpPr>
        <p:spPr>
          <a:xfrm>
            <a:off x="4800600" y="4599432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7657D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② LoFTR + RANSAC</a:t>
            </a:r>
            <a:endParaRPr lang="en-US" sz="1300" dirty="0"/>
          </a:p>
        </p:txBody>
      </p:sp>
      <p:sp>
        <p:nvSpPr>
          <p:cNvPr id="30" name="Text 26"/>
          <p:cNvSpPr/>
          <p:nvPr/>
        </p:nvSpPr>
        <p:spPr>
          <a:xfrm>
            <a:off x="4809744" y="4983480"/>
            <a:ext cx="25420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D64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建立稠密对应，剔除错误匹配</a:t>
            </a:r>
            <a:endParaRPr lang="en-US" sz="1000" dirty="0"/>
          </a:p>
        </p:txBody>
      </p:sp>
      <p:sp>
        <p:nvSpPr>
          <p:cNvPr id="31" name="Shape 27"/>
          <p:cNvSpPr/>
          <p:nvPr/>
        </p:nvSpPr>
        <p:spPr>
          <a:xfrm>
            <a:off x="7726680" y="4901184"/>
            <a:ext cx="594360" cy="0"/>
          </a:xfrm>
          <a:prstGeom prst="line">
            <a:avLst/>
          </a:prstGeom>
          <a:noFill/>
          <a:ln w="33020">
            <a:solidFill>
              <a:srgbClr val="12B8A6"/>
            </a:solidFill>
            <a:prstDash val="solid"/>
            <a:headEnd type="none"/>
            <a:tailEnd type="triangle"/>
          </a:ln>
        </p:spPr>
      </p:sp>
      <p:sp>
        <p:nvSpPr>
          <p:cNvPr id="32" name="Shape 28"/>
          <p:cNvSpPr/>
          <p:nvPr/>
        </p:nvSpPr>
        <p:spPr>
          <a:xfrm>
            <a:off x="8430768" y="4370832"/>
            <a:ext cx="2971800" cy="1078992"/>
          </a:xfrm>
          <a:prstGeom prst="roundRect">
            <a:avLst>
              <a:gd name="adj" fmla="val 4237"/>
            </a:avLst>
          </a:prstGeom>
          <a:solidFill>
            <a:srgbClr val="EAF8F5"/>
          </a:solidFill>
          <a:ln w="12700">
            <a:solidFill>
              <a:srgbClr val="8FD5CA"/>
            </a:solidFill>
            <a:prstDash val="solid"/>
          </a:ln>
        </p:spPr>
      </p:sp>
      <p:sp>
        <p:nvSpPr>
          <p:cNvPr id="33" name="Text 29"/>
          <p:cNvSpPr/>
          <p:nvPr/>
        </p:nvSpPr>
        <p:spPr>
          <a:xfrm>
            <a:off x="8641080" y="4599432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87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③ 求 H 并分解</a:t>
            </a:r>
            <a:endParaRPr lang="en-US" sz="1250" dirty="0"/>
          </a:p>
        </p:txBody>
      </p:sp>
      <p:sp>
        <p:nvSpPr>
          <p:cNvPr id="34" name="Text 30"/>
          <p:cNvSpPr/>
          <p:nvPr/>
        </p:nvSpPr>
        <p:spPr>
          <a:xfrm>
            <a:off x="8650224" y="4983480"/>
            <a:ext cx="25420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4D64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得到多组 R、t/d 和平面法向 n</a:t>
            </a:r>
            <a:endParaRPr lang="en-US" sz="1000" dirty="0"/>
          </a:p>
        </p:txBody>
      </p:sp>
      <p:sp>
        <p:nvSpPr>
          <p:cNvPr id="35" name="Text 31"/>
          <p:cNvSpPr/>
          <p:nvPr/>
        </p:nvSpPr>
        <p:spPr>
          <a:xfrm>
            <a:off x="1170432" y="5925312"/>
            <a:ext cx="98572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3941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这一步连接的是两次实际经过的同一块标志，不是两张无关的示意图。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39728" y="656539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A8A8A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78992" y="256032"/>
            <a:ext cx="717804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同一组真实匹配，单应性分解仍会给出多组候选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9555480" y="1005840"/>
            <a:ext cx="1874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80" b="1" dirty="0">
                <a:solidFill>
                  <a:srgbClr val="3941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研究内容与方案</a:t>
            </a:r>
            <a:endParaRPr lang="en-US" sz="880" dirty="0"/>
          </a:p>
        </p:txBody>
      </p:sp>
      <p:pic>
        <p:nvPicPr>
          <p:cNvPr id="4" name="Image 0" descr="/home/ehuy/ORBSLAM3-TrafficSign-Pose/manual_split/seg_manual_1/rgb/1782374541342045184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1298448"/>
            <a:ext cx="2834640" cy="1600200"/>
          </a:xfrm>
          <a:prstGeom prst="rect">
            <a:avLst/>
          </a:prstGeom>
        </p:spPr>
      </p:pic>
      <p:pic>
        <p:nvPicPr>
          <p:cNvPr id="5" name="Image 1" descr="/home/ehuy/ORBSLAM3-TrafficSign-Pose/manual_split/seg_manual_181/rgb/1782375931252223232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" y="3072384"/>
            <a:ext cx="2834640" cy="1600200"/>
          </a:xfrm>
          <a:prstGeom prst="rect">
            <a:avLst/>
          </a:prstGeom>
        </p:spPr>
      </p:pic>
      <p:sp>
        <p:nvSpPr>
          <p:cNvPr id="6" name="Shape 2"/>
          <p:cNvSpPr/>
          <p:nvPr/>
        </p:nvSpPr>
        <p:spPr>
          <a:xfrm>
            <a:off x="1572768" y="1627632"/>
            <a:ext cx="585216" cy="274320"/>
          </a:xfrm>
          <a:prstGeom prst="rect">
            <a:avLst/>
          </a:prstGeom>
          <a:solidFill>
            <a:srgbClr val="FFFFFF">
              <a:alpha val="0"/>
            </a:srgbClr>
          </a:solidFill>
          <a:ln w="30480">
            <a:solidFill>
              <a:srgbClr val="F59E0B"/>
            </a:solidFill>
            <a:prstDash val="solid"/>
          </a:ln>
        </p:spPr>
      </p:sp>
      <p:sp>
        <p:nvSpPr>
          <p:cNvPr id="7" name="Shape 3"/>
          <p:cNvSpPr/>
          <p:nvPr/>
        </p:nvSpPr>
        <p:spPr>
          <a:xfrm>
            <a:off x="1764792" y="3447288"/>
            <a:ext cx="603504" cy="283464"/>
          </a:xfrm>
          <a:prstGeom prst="rect">
            <a:avLst/>
          </a:prstGeom>
          <a:solidFill>
            <a:srgbClr val="FFFFFF">
              <a:alpha val="0"/>
            </a:srgbClr>
          </a:solidFill>
          <a:ln w="30480">
            <a:solidFill>
              <a:srgbClr val="12B8A6"/>
            </a:solidFill>
            <a:prstDash val="solid"/>
          </a:ln>
        </p:spPr>
      </p:sp>
      <p:sp>
        <p:nvSpPr>
          <p:cNvPr id="8" name="Text 4"/>
          <p:cNvSpPr/>
          <p:nvPr/>
        </p:nvSpPr>
        <p:spPr>
          <a:xfrm>
            <a:off x="713232" y="4882896"/>
            <a:ext cx="25420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3941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两次真实观测 → H</a:t>
            </a:r>
            <a:endParaRPr lang="en-US" sz="1250" dirty="0"/>
          </a:p>
        </p:txBody>
      </p:sp>
      <p:sp>
        <p:nvSpPr>
          <p:cNvPr id="9" name="Shape 5"/>
          <p:cNvSpPr/>
          <p:nvPr/>
        </p:nvSpPr>
        <p:spPr>
          <a:xfrm>
            <a:off x="3529584" y="3054096"/>
            <a:ext cx="566928" cy="0"/>
          </a:xfrm>
          <a:prstGeom prst="line">
            <a:avLst/>
          </a:prstGeom>
          <a:noFill/>
          <a:ln w="38100">
            <a:solidFill>
              <a:srgbClr val="7657D5"/>
            </a:solidFill>
            <a:prstDash val="solid"/>
            <a:headEnd type="none"/>
            <a:tailEnd type="triangle"/>
          </a:ln>
        </p:spPr>
      </p:sp>
      <p:sp>
        <p:nvSpPr>
          <p:cNvPr id="10" name="Shape 6"/>
          <p:cNvSpPr/>
          <p:nvPr/>
        </p:nvSpPr>
        <p:spPr>
          <a:xfrm>
            <a:off x="4224528" y="1353312"/>
            <a:ext cx="3200400" cy="1664208"/>
          </a:xfrm>
          <a:prstGeom prst="roundRect">
            <a:avLst>
              <a:gd name="adj" fmla="val 3297"/>
            </a:avLst>
          </a:prstGeom>
          <a:solidFill>
            <a:srgbClr val="FFFFFF"/>
          </a:solidFill>
          <a:ln w="15240">
            <a:solidFill>
              <a:srgbClr val="E55353"/>
            </a:solidFill>
            <a:prstDash val="solid"/>
          </a:ln>
        </p:spPr>
      </p:sp>
      <p:sp>
        <p:nvSpPr>
          <p:cNvPr id="11" name="Text 7"/>
          <p:cNvSpPr/>
          <p:nvPr/>
        </p:nvSpPr>
        <p:spPr>
          <a:xfrm>
            <a:off x="4389120" y="1517904"/>
            <a:ext cx="10058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E5535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候选 1</a:t>
            </a:r>
            <a:endParaRPr lang="en-US" sz="1350" dirty="0"/>
          </a:p>
        </p:txBody>
      </p:sp>
      <p:sp>
        <p:nvSpPr>
          <p:cNvPr id="12" name="Shape 8"/>
          <p:cNvSpPr/>
          <p:nvPr/>
        </p:nvSpPr>
        <p:spPr>
          <a:xfrm>
            <a:off x="5559552" y="2606040"/>
            <a:ext cx="0" cy="-658368"/>
          </a:xfrm>
          <a:prstGeom prst="line">
            <a:avLst/>
          </a:prstGeom>
          <a:noFill/>
          <a:ln w="33020">
            <a:solidFill>
              <a:srgbClr val="394179"/>
            </a:solidFill>
            <a:prstDash val="solid"/>
            <a:tailEnd type="triangle"/>
          </a:ln>
        </p:spPr>
      </p:sp>
      <p:sp>
        <p:nvSpPr>
          <p:cNvPr id="13" name="Shape 9"/>
          <p:cNvSpPr/>
          <p:nvPr/>
        </p:nvSpPr>
        <p:spPr>
          <a:xfrm>
            <a:off x="5559552" y="2322576"/>
            <a:ext cx="-658368" cy="-493776"/>
          </a:xfrm>
          <a:prstGeom prst="line">
            <a:avLst/>
          </a:prstGeom>
          <a:noFill/>
          <a:ln w="33020">
            <a:solidFill>
              <a:srgbClr val="E55353"/>
            </a:solidFill>
            <a:prstDash val="solid"/>
            <a:tailEnd type="triangle"/>
          </a:ln>
        </p:spPr>
      </p:sp>
      <p:sp>
        <p:nvSpPr>
          <p:cNvPr id="14" name="Text 10"/>
          <p:cNvSpPr/>
          <p:nvPr/>
        </p:nvSpPr>
        <p:spPr>
          <a:xfrm>
            <a:off x="6163056" y="2011680"/>
            <a:ext cx="10241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60" b="1" dirty="0">
                <a:solidFill>
                  <a:srgbClr val="E5535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负深度/法向异常</a:t>
            </a:r>
            <a:endParaRPr lang="en-US" sz="960" dirty="0"/>
          </a:p>
        </p:txBody>
      </p:sp>
      <p:sp>
        <p:nvSpPr>
          <p:cNvPr id="15" name="Shape 11"/>
          <p:cNvSpPr/>
          <p:nvPr/>
        </p:nvSpPr>
        <p:spPr>
          <a:xfrm>
            <a:off x="7808976" y="1353312"/>
            <a:ext cx="3200400" cy="1664208"/>
          </a:xfrm>
          <a:prstGeom prst="roundRect">
            <a:avLst>
              <a:gd name="adj" fmla="val 3297"/>
            </a:avLst>
          </a:prstGeom>
          <a:solidFill>
            <a:srgbClr val="EAF8F2"/>
          </a:solidFill>
          <a:ln w="31750">
            <a:solidFill>
              <a:srgbClr val="18A36A"/>
            </a:solidFill>
            <a:prstDash val="solid"/>
          </a:ln>
        </p:spPr>
      </p:sp>
      <p:sp>
        <p:nvSpPr>
          <p:cNvPr id="16" name="Text 12"/>
          <p:cNvSpPr/>
          <p:nvPr/>
        </p:nvSpPr>
        <p:spPr>
          <a:xfrm>
            <a:off x="7973568" y="1517904"/>
            <a:ext cx="10058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8A36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候选 2</a:t>
            </a:r>
            <a:endParaRPr lang="en-US" sz="1350" dirty="0"/>
          </a:p>
        </p:txBody>
      </p:sp>
      <p:sp>
        <p:nvSpPr>
          <p:cNvPr id="17" name="Shape 13"/>
          <p:cNvSpPr/>
          <p:nvPr/>
        </p:nvSpPr>
        <p:spPr>
          <a:xfrm>
            <a:off x="9144000" y="2606040"/>
            <a:ext cx="0" cy="-658368"/>
          </a:xfrm>
          <a:prstGeom prst="line">
            <a:avLst/>
          </a:prstGeom>
          <a:noFill/>
          <a:ln w="33020">
            <a:solidFill>
              <a:srgbClr val="394179"/>
            </a:solidFill>
            <a:prstDash val="solid"/>
            <a:tailEnd type="triangle"/>
          </a:ln>
        </p:spPr>
      </p:sp>
      <p:sp>
        <p:nvSpPr>
          <p:cNvPr id="18" name="Shape 14"/>
          <p:cNvSpPr/>
          <p:nvPr/>
        </p:nvSpPr>
        <p:spPr>
          <a:xfrm>
            <a:off x="9144000" y="2322576"/>
            <a:ext cx="658368" cy="-493776"/>
          </a:xfrm>
          <a:prstGeom prst="line">
            <a:avLst/>
          </a:prstGeom>
          <a:noFill/>
          <a:ln w="33020">
            <a:solidFill>
              <a:srgbClr val="18A36A"/>
            </a:solidFill>
            <a:prstDash val="solid"/>
            <a:tailEnd type="triangle"/>
          </a:ln>
        </p:spPr>
      </p:sp>
      <p:sp>
        <p:nvSpPr>
          <p:cNvPr id="19" name="Text 15"/>
          <p:cNvSpPr/>
          <p:nvPr/>
        </p:nvSpPr>
        <p:spPr>
          <a:xfrm>
            <a:off x="9747504" y="2011680"/>
            <a:ext cx="10241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60" b="1" dirty="0">
                <a:solidFill>
                  <a:srgbClr val="18A36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结构一致</a:t>
            </a:r>
            <a:endParaRPr lang="en-US" sz="960" dirty="0"/>
          </a:p>
        </p:txBody>
      </p:sp>
      <p:sp>
        <p:nvSpPr>
          <p:cNvPr id="20" name="Shape 16"/>
          <p:cNvSpPr/>
          <p:nvPr/>
        </p:nvSpPr>
        <p:spPr>
          <a:xfrm>
            <a:off x="4224528" y="3346704"/>
            <a:ext cx="3200400" cy="1664208"/>
          </a:xfrm>
          <a:prstGeom prst="roundRect">
            <a:avLst>
              <a:gd name="adj" fmla="val 3297"/>
            </a:avLst>
          </a:prstGeom>
          <a:solidFill>
            <a:srgbClr val="FFFFFF"/>
          </a:solidFill>
          <a:ln w="15240">
            <a:solidFill>
              <a:srgbClr val="E55353"/>
            </a:solidFill>
            <a:prstDash val="solid"/>
          </a:ln>
        </p:spPr>
      </p:sp>
      <p:sp>
        <p:nvSpPr>
          <p:cNvPr id="21" name="Text 17"/>
          <p:cNvSpPr/>
          <p:nvPr/>
        </p:nvSpPr>
        <p:spPr>
          <a:xfrm>
            <a:off x="4389120" y="3511296"/>
            <a:ext cx="10058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E5535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候选 3</a:t>
            </a:r>
            <a:endParaRPr lang="en-US" sz="1350" dirty="0"/>
          </a:p>
        </p:txBody>
      </p:sp>
      <p:sp>
        <p:nvSpPr>
          <p:cNvPr id="22" name="Shape 18"/>
          <p:cNvSpPr/>
          <p:nvPr/>
        </p:nvSpPr>
        <p:spPr>
          <a:xfrm>
            <a:off x="5559552" y="4599432"/>
            <a:ext cx="0" cy="-658368"/>
          </a:xfrm>
          <a:prstGeom prst="line">
            <a:avLst/>
          </a:prstGeom>
          <a:noFill/>
          <a:ln w="33020">
            <a:solidFill>
              <a:srgbClr val="394179"/>
            </a:solidFill>
            <a:prstDash val="solid"/>
            <a:tailEnd type="triangle"/>
          </a:ln>
        </p:spPr>
      </p:sp>
      <p:sp>
        <p:nvSpPr>
          <p:cNvPr id="23" name="Shape 19"/>
          <p:cNvSpPr/>
          <p:nvPr/>
        </p:nvSpPr>
        <p:spPr>
          <a:xfrm>
            <a:off x="5559552" y="4315968"/>
            <a:ext cx="-658368" cy="-493776"/>
          </a:xfrm>
          <a:prstGeom prst="line">
            <a:avLst/>
          </a:prstGeom>
          <a:noFill/>
          <a:ln w="33020">
            <a:solidFill>
              <a:srgbClr val="E55353"/>
            </a:solidFill>
            <a:prstDash val="solid"/>
            <a:tailEnd type="triangle"/>
          </a:ln>
        </p:spPr>
      </p:sp>
      <p:sp>
        <p:nvSpPr>
          <p:cNvPr id="24" name="Text 20"/>
          <p:cNvSpPr/>
          <p:nvPr/>
        </p:nvSpPr>
        <p:spPr>
          <a:xfrm>
            <a:off x="6163056" y="4005072"/>
            <a:ext cx="10241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60" b="1" dirty="0">
                <a:solidFill>
                  <a:srgbClr val="E5535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负深度</a:t>
            </a:r>
            <a:endParaRPr lang="en-US" sz="960" dirty="0"/>
          </a:p>
        </p:txBody>
      </p:sp>
      <p:sp>
        <p:nvSpPr>
          <p:cNvPr id="25" name="Shape 21"/>
          <p:cNvSpPr/>
          <p:nvPr/>
        </p:nvSpPr>
        <p:spPr>
          <a:xfrm>
            <a:off x="7808976" y="3346704"/>
            <a:ext cx="3200400" cy="1664208"/>
          </a:xfrm>
          <a:prstGeom prst="roundRect">
            <a:avLst>
              <a:gd name="adj" fmla="val 3297"/>
            </a:avLst>
          </a:prstGeom>
          <a:solidFill>
            <a:srgbClr val="FFFFFF"/>
          </a:solidFill>
          <a:ln w="15240">
            <a:solidFill>
              <a:srgbClr val="F59E0B"/>
            </a:solidFill>
            <a:prstDash val="solid"/>
          </a:ln>
        </p:spPr>
      </p:sp>
      <p:sp>
        <p:nvSpPr>
          <p:cNvPr id="26" name="Text 22"/>
          <p:cNvSpPr/>
          <p:nvPr/>
        </p:nvSpPr>
        <p:spPr>
          <a:xfrm>
            <a:off x="7973568" y="3511296"/>
            <a:ext cx="10058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59E0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候选 4</a:t>
            </a:r>
            <a:endParaRPr lang="en-US" sz="1350" dirty="0"/>
          </a:p>
        </p:txBody>
      </p:sp>
      <p:sp>
        <p:nvSpPr>
          <p:cNvPr id="27" name="Shape 23"/>
          <p:cNvSpPr/>
          <p:nvPr/>
        </p:nvSpPr>
        <p:spPr>
          <a:xfrm>
            <a:off x="9144000" y="4599432"/>
            <a:ext cx="0" cy="-658368"/>
          </a:xfrm>
          <a:prstGeom prst="line">
            <a:avLst/>
          </a:prstGeom>
          <a:noFill/>
          <a:ln w="33020">
            <a:solidFill>
              <a:srgbClr val="394179"/>
            </a:solidFill>
            <a:prstDash val="solid"/>
            <a:tailEnd type="triangle"/>
          </a:ln>
        </p:spPr>
      </p:sp>
      <p:sp>
        <p:nvSpPr>
          <p:cNvPr id="28" name="Shape 24"/>
          <p:cNvSpPr/>
          <p:nvPr/>
        </p:nvSpPr>
        <p:spPr>
          <a:xfrm>
            <a:off x="9144000" y="4315968"/>
            <a:ext cx="658368" cy="-493776"/>
          </a:xfrm>
          <a:prstGeom prst="line">
            <a:avLst/>
          </a:prstGeom>
          <a:noFill/>
          <a:ln w="33020">
            <a:solidFill>
              <a:srgbClr val="F59E0B"/>
            </a:solidFill>
            <a:prstDash val="solid"/>
            <a:tailEnd type="triangle"/>
          </a:ln>
        </p:spPr>
      </p:sp>
      <p:sp>
        <p:nvSpPr>
          <p:cNvPr id="29" name="Text 25"/>
          <p:cNvSpPr/>
          <p:nvPr/>
        </p:nvSpPr>
        <p:spPr>
          <a:xfrm>
            <a:off x="9747504" y="4005072"/>
            <a:ext cx="10241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60" b="1" dirty="0">
                <a:solidFill>
                  <a:srgbClr val="F59E0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正交误差较大</a:t>
            </a:r>
            <a:endParaRPr lang="en-US" sz="960" dirty="0"/>
          </a:p>
        </p:txBody>
      </p:sp>
      <p:sp>
        <p:nvSpPr>
          <p:cNvPr id="30" name="Shape 26"/>
          <p:cNvSpPr/>
          <p:nvPr/>
        </p:nvSpPr>
        <p:spPr>
          <a:xfrm>
            <a:off x="4526280" y="5431536"/>
            <a:ext cx="6263640" cy="640080"/>
          </a:xfrm>
          <a:prstGeom prst="roundRect">
            <a:avLst>
              <a:gd name="adj" fmla="val 7143"/>
            </a:avLst>
          </a:prstGeom>
          <a:solidFill>
            <a:srgbClr val="F3EFFF"/>
          </a:solidFill>
          <a:ln w="12700">
            <a:solidFill>
              <a:srgbClr val="CFC2F3"/>
            </a:solidFill>
            <a:prstDash val="solid"/>
          </a:ln>
        </p:spPr>
      </p:sp>
      <p:sp>
        <p:nvSpPr>
          <p:cNvPr id="31" name="Text 27"/>
          <p:cNvSpPr/>
          <p:nvPr/>
        </p:nvSpPr>
        <p:spPr>
          <a:xfrm>
            <a:off x="4754880" y="5632704"/>
            <a:ext cx="5806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7657D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数学上都能解释 H ≠ 物理上都可能；必须用标志内部结构进一步筛选。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39728" y="656539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A8A8A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78992" y="256032"/>
            <a:ext cx="717804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模块三：利用真实标志内部的横竖结构筛选物理解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9555480" y="1005840"/>
            <a:ext cx="1874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80" b="1" dirty="0">
                <a:solidFill>
                  <a:srgbClr val="3941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研究内容与方案</a:t>
            </a:r>
            <a:endParaRPr lang="en-US" sz="880" dirty="0"/>
          </a:p>
        </p:txBody>
      </p:sp>
      <p:pic>
        <p:nvPicPr>
          <p:cNvPr id="4" name="Image 0" descr="/home/ehuy/ORBSLAM3-TrafficSign-Pose/manual_split/seg_manual_6/rgb/1782374887993715456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1353312"/>
            <a:ext cx="5669280" cy="32004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3008376" y="1353312"/>
            <a:ext cx="822960" cy="676656"/>
          </a:xfrm>
          <a:prstGeom prst="rect">
            <a:avLst/>
          </a:prstGeom>
          <a:solidFill>
            <a:srgbClr val="FFFFFF">
              <a:alpha val="0"/>
            </a:srgbClr>
          </a:solidFill>
          <a:ln w="38100">
            <a:solidFill>
              <a:srgbClr val="F59E0B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3063240" y="1481328"/>
            <a:ext cx="713232" cy="0"/>
          </a:xfrm>
          <a:prstGeom prst="line">
            <a:avLst/>
          </a:prstGeom>
          <a:noFill/>
          <a:ln w="25400">
            <a:solidFill>
              <a:srgbClr val="F59E0B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3063240" y="1600200"/>
            <a:ext cx="713232" cy="0"/>
          </a:xfrm>
          <a:prstGeom prst="line">
            <a:avLst/>
          </a:prstGeom>
          <a:noFill/>
          <a:ln w="25400">
            <a:solidFill>
              <a:srgbClr val="F59E0B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3063240" y="1719072"/>
            <a:ext cx="713232" cy="0"/>
          </a:xfrm>
          <a:prstGeom prst="line">
            <a:avLst/>
          </a:prstGeom>
          <a:noFill/>
          <a:ln w="25400">
            <a:solidFill>
              <a:srgbClr val="F59E0B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3063240" y="1837944"/>
            <a:ext cx="713232" cy="0"/>
          </a:xfrm>
          <a:prstGeom prst="line">
            <a:avLst/>
          </a:prstGeom>
          <a:noFill/>
          <a:ln w="25400">
            <a:solidFill>
              <a:srgbClr val="F59E0B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3172968" y="1408176"/>
            <a:ext cx="0" cy="566928"/>
          </a:xfrm>
          <a:prstGeom prst="line">
            <a:avLst/>
          </a:prstGeom>
          <a:noFill/>
          <a:ln w="25400">
            <a:solidFill>
              <a:srgbClr val="12B8A6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3337560" y="1408176"/>
            <a:ext cx="0" cy="566928"/>
          </a:xfrm>
          <a:prstGeom prst="line">
            <a:avLst/>
          </a:prstGeom>
          <a:noFill/>
          <a:ln w="25400">
            <a:solidFill>
              <a:srgbClr val="12B8A6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3502152" y="1408176"/>
            <a:ext cx="0" cy="566928"/>
          </a:xfrm>
          <a:prstGeom prst="line">
            <a:avLst/>
          </a:prstGeom>
          <a:noFill/>
          <a:ln w="25400">
            <a:solidFill>
              <a:srgbClr val="12B8A6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3666744" y="1408176"/>
            <a:ext cx="0" cy="566928"/>
          </a:xfrm>
          <a:prstGeom prst="line">
            <a:avLst/>
          </a:prstGeom>
          <a:noFill/>
          <a:ln w="25400">
            <a:solidFill>
              <a:srgbClr val="12B8A6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841248" y="4736592"/>
            <a:ext cx="5166360" cy="694944"/>
          </a:xfrm>
          <a:prstGeom prst="roundRect">
            <a:avLst>
              <a:gd name="adj" fmla="val 6579"/>
            </a:avLst>
          </a:prstGeom>
          <a:solidFill>
            <a:srgbClr val="FFFFFF"/>
          </a:solidFill>
          <a:ln w="12700">
            <a:solidFill>
              <a:srgbClr val="D8E2EC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1051560" y="4965192"/>
            <a:ext cx="47365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20" b="1" dirty="0">
                <a:solidFill>
                  <a:srgbClr val="3941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真实交通标志中，文字笔画、箭头与边框提供稳定的横/竖方向</a:t>
            </a:r>
            <a:endParaRPr lang="en-US" sz="1120" dirty="0"/>
          </a:p>
        </p:txBody>
      </p:sp>
      <p:sp>
        <p:nvSpPr>
          <p:cNvPr id="16" name="Shape 13"/>
          <p:cNvSpPr/>
          <p:nvPr/>
        </p:nvSpPr>
        <p:spPr>
          <a:xfrm>
            <a:off x="6437376" y="2953512"/>
            <a:ext cx="548640" cy="0"/>
          </a:xfrm>
          <a:prstGeom prst="line">
            <a:avLst/>
          </a:prstGeom>
          <a:noFill/>
          <a:ln w="38100">
            <a:solidFill>
              <a:srgbClr val="7657D5"/>
            </a:solidFill>
            <a:prstDash val="solid"/>
            <a:headEnd type="none"/>
            <a:tailEnd type="triangle"/>
          </a:ln>
        </p:spPr>
      </p:sp>
      <p:sp>
        <p:nvSpPr>
          <p:cNvPr id="17" name="Shape 14"/>
          <p:cNvSpPr/>
          <p:nvPr/>
        </p:nvSpPr>
        <p:spPr>
          <a:xfrm>
            <a:off x="7114032" y="1353312"/>
            <a:ext cx="4407408" cy="1143000"/>
          </a:xfrm>
          <a:prstGeom prst="roundRect">
            <a:avLst>
              <a:gd name="adj" fmla="val 4000"/>
            </a:avLst>
          </a:prstGeom>
          <a:solidFill>
            <a:srgbClr val="F3EFFF"/>
          </a:solidFill>
          <a:ln w="12700">
            <a:solidFill>
              <a:srgbClr val="CFC2F3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7360920" y="1700784"/>
            <a:ext cx="39136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40" b="1" dirty="0">
                <a:solidFill>
                  <a:srgbClr val="7657D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① 将横/竖线逆投影到每个候选平面</a:t>
            </a:r>
            <a:endParaRPr lang="en-US" sz="1240" dirty="0"/>
          </a:p>
        </p:txBody>
      </p:sp>
      <p:sp>
        <p:nvSpPr>
          <p:cNvPr id="19" name="Shape 16"/>
          <p:cNvSpPr/>
          <p:nvPr/>
        </p:nvSpPr>
        <p:spPr>
          <a:xfrm>
            <a:off x="7114032" y="2761488"/>
            <a:ext cx="4407408" cy="1143000"/>
          </a:xfrm>
          <a:prstGeom prst="roundRect">
            <a:avLst>
              <a:gd name="adj" fmla="val 4000"/>
            </a:avLst>
          </a:prstGeom>
          <a:solidFill>
            <a:srgbClr val="EDF4FF"/>
          </a:solidFill>
          <a:ln w="12700">
            <a:solidFill>
              <a:srgbClr val="BFD3F2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7360920" y="3108960"/>
            <a:ext cx="39136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40" b="1" dirty="0">
                <a:solidFill>
                  <a:srgbClr val="2367D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② 计算正交一致性  E_ortho = |v_hᵀv_v|</a:t>
            </a:r>
            <a:endParaRPr lang="en-US" sz="1240" dirty="0"/>
          </a:p>
        </p:txBody>
      </p:sp>
      <p:sp>
        <p:nvSpPr>
          <p:cNvPr id="21" name="Shape 18"/>
          <p:cNvSpPr/>
          <p:nvPr/>
        </p:nvSpPr>
        <p:spPr>
          <a:xfrm>
            <a:off x="7114032" y="4169664"/>
            <a:ext cx="4407408" cy="1143000"/>
          </a:xfrm>
          <a:prstGeom prst="roundRect">
            <a:avLst>
              <a:gd name="adj" fmla="val 4000"/>
            </a:avLst>
          </a:prstGeom>
          <a:solidFill>
            <a:srgbClr val="EAF8F2"/>
          </a:solidFill>
          <a:ln w="12700">
            <a:solidFill>
              <a:srgbClr val="A8DCC5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7360920" y="4517136"/>
            <a:ext cx="39136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40" b="1" dirty="0">
                <a:solidFill>
                  <a:srgbClr val="18A36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③ 正深度 + 结构误差最小 → 真实候选解</a:t>
            </a:r>
            <a:endParaRPr lang="en-US" sz="1240" dirty="0"/>
          </a:p>
        </p:txBody>
      </p:sp>
      <p:sp>
        <p:nvSpPr>
          <p:cNvPr id="23" name="Text 20"/>
          <p:cNvSpPr/>
          <p:nvPr/>
        </p:nvSpPr>
        <p:spPr>
          <a:xfrm>
            <a:off x="1280160" y="5925312"/>
            <a:ext cx="9555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3941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这个先验来自画面中真实的标志结构，不依赖标志牌的绝对 GPS。</a:t>
            </a:r>
            <a:endParaRPr lang="en-US" sz="13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39728" y="656539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A8A8A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78992" y="256032"/>
            <a:ext cx="717804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模块四：把参考序列恢复的米制深度传给跨序列位姿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9555480" y="1005840"/>
            <a:ext cx="1874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80" b="1" dirty="0">
                <a:solidFill>
                  <a:srgbClr val="3941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研究内容与方案</a:t>
            </a:r>
            <a:endParaRPr lang="en-US" sz="880" dirty="0"/>
          </a:p>
        </p:txBody>
      </p:sp>
      <p:pic>
        <p:nvPicPr>
          <p:cNvPr id="4" name="Image 0" descr="/home/ehuy/ORBSLAM3-TrafficSign-Pose/landmarkslam/implement/data/test_pairs/pair_01_45/lsq_results/lsq_resul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1325880"/>
            <a:ext cx="5321808" cy="1901952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1975104" y="3383280"/>
            <a:ext cx="2468880" cy="310896"/>
          </a:xfrm>
          <a:prstGeom prst="roundRect">
            <a:avLst>
              <a:gd name="adj" fmla="val 17647"/>
            </a:avLst>
          </a:prstGeom>
          <a:solidFill>
            <a:srgbClr val="EDF4FF"/>
          </a:solidFill>
          <a:ln w="12700">
            <a:solidFill>
              <a:srgbClr val="EDF4FF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2029968" y="3447288"/>
            <a:ext cx="235915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2367D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Looming 输出：Z（米）</a:t>
            </a:r>
            <a:endParaRPr lang="en-US" sz="880" dirty="0"/>
          </a:p>
        </p:txBody>
      </p:sp>
      <p:pic>
        <p:nvPicPr>
          <p:cNvPr id="7" name="Image 1" descr="/home/ehuy/ORBSLAM3-TrafficSign-Pose/manual_split/seg_manual_1/rgb/1782374541342045184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36208" y="1325880"/>
            <a:ext cx="2542032" cy="1435608"/>
          </a:xfrm>
          <a:prstGeom prst="rect">
            <a:avLst/>
          </a:prstGeom>
        </p:spPr>
      </p:pic>
      <p:pic>
        <p:nvPicPr>
          <p:cNvPr id="8" name="Image 2" descr="/home/ehuy/ORBSLAM3-TrafficSign-Pose/manual_split/seg_manual_181/rgb/1782375931252223232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34272" y="1325880"/>
            <a:ext cx="2542032" cy="1435608"/>
          </a:xfrm>
          <a:prstGeom prst="rect">
            <a:avLst/>
          </a:prstGeom>
        </p:spPr>
      </p:pic>
      <p:sp>
        <p:nvSpPr>
          <p:cNvPr id="9" name="Shape 4"/>
          <p:cNvSpPr/>
          <p:nvPr/>
        </p:nvSpPr>
        <p:spPr>
          <a:xfrm>
            <a:off x="8467344" y="1627632"/>
            <a:ext cx="566928" cy="-45720"/>
          </a:xfrm>
          <a:prstGeom prst="line">
            <a:avLst/>
          </a:prstGeom>
          <a:noFill/>
          <a:ln w="11430">
            <a:solidFill>
              <a:srgbClr val="12B8A6"/>
            </a:solidFill>
            <a:prstDash val="solid"/>
          </a:ln>
        </p:spPr>
      </p:sp>
      <p:sp>
        <p:nvSpPr>
          <p:cNvPr id="10" name="Shape 5"/>
          <p:cNvSpPr/>
          <p:nvPr/>
        </p:nvSpPr>
        <p:spPr>
          <a:xfrm>
            <a:off x="8467344" y="1737360"/>
            <a:ext cx="566928" cy="0"/>
          </a:xfrm>
          <a:prstGeom prst="line">
            <a:avLst/>
          </a:prstGeom>
          <a:noFill/>
          <a:ln w="11430">
            <a:solidFill>
              <a:srgbClr val="12B8A6"/>
            </a:solidFill>
            <a:prstDash val="solid"/>
          </a:ln>
        </p:spPr>
      </p:sp>
      <p:sp>
        <p:nvSpPr>
          <p:cNvPr id="11" name="Shape 6"/>
          <p:cNvSpPr/>
          <p:nvPr/>
        </p:nvSpPr>
        <p:spPr>
          <a:xfrm>
            <a:off x="8467344" y="1847088"/>
            <a:ext cx="566928" cy="45720"/>
          </a:xfrm>
          <a:prstGeom prst="line">
            <a:avLst/>
          </a:prstGeom>
          <a:noFill/>
          <a:ln w="11430">
            <a:solidFill>
              <a:srgbClr val="12B8A6"/>
            </a:solidFill>
            <a:prstDash val="solid"/>
          </a:ln>
        </p:spPr>
      </p:sp>
      <p:sp>
        <p:nvSpPr>
          <p:cNvPr id="12" name="Shape 7"/>
          <p:cNvSpPr/>
          <p:nvPr/>
        </p:nvSpPr>
        <p:spPr>
          <a:xfrm>
            <a:off x="8467344" y="1956816"/>
            <a:ext cx="566928" cy="-45720"/>
          </a:xfrm>
          <a:prstGeom prst="line">
            <a:avLst/>
          </a:prstGeom>
          <a:noFill/>
          <a:ln w="11430">
            <a:solidFill>
              <a:srgbClr val="12B8A6"/>
            </a:solidFill>
            <a:prstDash val="solid"/>
          </a:ln>
        </p:spPr>
      </p:sp>
      <p:sp>
        <p:nvSpPr>
          <p:cNvPr id="13" name="Shape 8"/>
          <p:cNvSpPr/>
          <p:nvPr/>
        </p:nvSpPr>
        <p:spPr>
          <a:xfrm>
            <a:off x="8467344" y="2066544"/>
            <a:ext cx="566928" cy="0"/>
          </a:xfrm>
          <a:prstGeom prst="line">
            <a:avLst/>
          </a:prstGeom>
          <a:noFill/>
          <a:ln w="11430">
            <a:solidFill>
              <a:srgbClr val="12B8A6"/>
            </a:solidFill>
            <a:prstDash val="solid"/>
          </a:ln>
        </p:spPr>
      </p:sp>
      <p:sp>
        <p:nvSpPr>
          <p:cNvPr id="14" name="Shape 9"/>
          <p:cNvSpPr/>
          <p:nvPr/>
        </p:nvSpPr>
        <p:spPr>
          <a:xfrm>
            <a:off x="8467344" y="2176272"/>
            <a:ext cx="566928" cy="45720"/>
          </a:xfrm>
          <a:prstGeom prst="line">
            <a:avLst/>
          </a:prstGeom>
          <a:noFill/>
          <a:ln w="11430">
            <a:solidFill>
              <a:srgbClr val="12B8A6"/>
            </a:solidFill>
            <a:prstDash val="solid"/>
          </a:ln>
        </p:spPr>
      </p:sp>
      <p:sp>
        <p:nvSpPr>
          <p:cNvPr id="15" name="Shape 10"/>
          <p:cNvSpPr/>
          <p:nvPr/>
        </p:nvSpPr>
        <p:spPr>
          <a:xfrm>
            <a:off x="8467344" y="2286000"/>
            <a:ext cx="566928" cy="-45720"/>
          </a:xfrm>
          <a:prstGeom prst="line">
            <a:avLst/>
          </a:prstGeom>
          <a:noFill/>
          <a:ln w="11430">
            <a:solidFill>
              <a:srgbClr val="12B8A6"/>
            </a:solidFill>
            <a:prstDash val="solid"/>
          </a:ln>
        </p:spPr>
      </p:sp>
      <p:sp>
        <p:nvSpPr>
          <p:cNvPr id="16" name="Shape 11"/>
          <p:cNvSpPr/>
          <p:nvPr/>
        </p:nvSpPr>
        <p:spPr>
          <a:xfrm>
            <a:off x="7598664" y="2944368"/>
            <a:ext cx="2651760" cy="310896"/>
          </a:xfrm>
          <a:prstGeom prst="roundRect">
            <a:avLst>
              <a:gd name="adj" fmla="val 17647"/>
            </a:avLst>
          </a:prstGeom>
          <a:solidFill>
            <a:srgbClr val="F3EFFF"/>
          </a:solidFill>
          <a:ln w="12700">
            <a:solidFill>
              <a:srgbClr val="F3EFFF"/>
            </a:solidFill>
            <a:prstDash val="solid"/>
          </a:ln>
        </p:spPr>
      </p:sp>
      <p:sp>
        <p:nvSpPr>
          <p:cNvPr id="17" name="Text 12"/>
          <p:cNvSpPr/>
          <p:nvPr/>
        </p:nvSpPr>
        <p:spPr>
          <a:xfrm>
            <a:off x="7653528" y="3008376"/>
            <a:ext cx="254203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7657D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 分解：R、t/d、n</a:t>
            </a:r>
            <a:endParaRPr lang="en-US" sz="880" dirty="0"/>
          </a:p>
        </p:txBody>
      </p:sp>
      <p:sp>
        <p:nvSpPr>
          <p:cNvPr id="18" name="Shape 13"/>
          <p:cNvSpPr/>
          <p:nvPr/>
        </p:nvSpPr>
        <p:spPr>
          <a:xfrm>
            <a:off x="658368" y="4050792"/>
            <a:ext cx="3017520" cy="1207008"/>
          </a:xfrm>
          <a:prstGeom prst="roundRect">
            <a:avLst>
              <a:gd name="adj" fmla="val 3788"/>
            </a:avLst>
          </a:prstGeom>
          <a:solidFill>
            <a:srgbClr val="EDF4FF"/>
          </a:solidFill>
          <a:ln w="12700">
            <a:solidFill>
              <a:srgbClr val="BFD3F2"/>
            </a:solidFill>
            <a:prstDash val="solid"/>
          </a:ln>
        </p:spPr>
      </p:sp>
      <p:sp>
        <p:nvSpPr>
          <p:cNvPr id="19" name="Text 14"/>
          <p:cNvSpPr/>
          <p:nvPr/>
        </p:nvSpPr>
        <p:spPr>
          <a:xfrm>
            <a:off x="941832" y="4416552"/>
            <a:ext cx="2450592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2367D1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X_c = Z K⁻¹p_c</a:t>
            </a:r>
            <a:endParaRPr lang="en-US" sz="1900" dirty="0"/>
          </a:p>
        </p:txBody>
      </p:sp>
      <p:sp>
        <p:nvSpPr>
          <p:cNvPr id="20" name="Shape 15"/>
          <p:cNvSpPr/>
          <p:nvPr/>
        </p:nvSpPr>
        <p:spPr>
          <a:xfrm>
            <a:off x="3822192" y="4654296"/>
            <a:ext cx="530352" cy="0"/>
          </a:xfrm>
          <a:prstGeom prst="line">
            <a:avLst/>
          </a:prstGeom>
          <a:noFill/>
          <a:ln w="38100">
            <a:solidFill>
              <a:srgbClr val="0EA5C6"/>
            </a:solidFill>
            <a:prstDash val="solid"/>
            <a:headEnd type="none"/>
            <a:tailEnd type="triangle"/>
          </a:ln>
        </p:spPr>
      </p:sp>
      <p:sp>
        <p:nvSpPr>
          <p:cNvPr id="21" name="Shape 16"/>
          <p:cNvSpPr/>
          <p:nvPr/>
        </p:nvSpPr>
        <p:spPr>
          <a:xfrm>
            <a:off x="4480560" y="4050792"/>
            <a:ext cx="3017520" cy="1207008"/>
          </a:xfrm>
          <a:prstGeom prst="roundRect">
            <a:avLst>
              <a:gd name="adj" fmla="val 3788"/>
            </a:avLst>
          </a:prstGeom>
          <a:solidFill>
            <a:srgbClr val="F3EFFF"/>
          </a:solidFill>
          <a:ln w="12700">
            <a:solidFill>
              <a:srgbClr val="CFC2F3"/>
            </a:solidFill>
            <a:prstDash val="solid"/>
          </a:ln>
        </p:spPr>
      </p:sp>
      <p:sp>
        <p:nvSpPr>
          <p:cNvPr id="22" name="Text 17"/>
          <p:cNvSpPr/>
          <p:nvPr/>
        </p:nvSpPr>
        <p:spPr>
          <a:xfrm>
            <a:off x="4773168" y="4416552"/>
            <a:ext cx="2432304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7657D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 = nᵀX_c</a:t>
            </a:r>
            <a:endParaRPr lang="en-US" sz="1900" dirty="0"/>
          </a:p>
        </p:txBody>
      </p:sp>
      <p:sp>
        <p:nvSpPr>
          <p:cNvPr id="23" name="Shape 18"/>
          <p:cNvSpPr/>
          <p:nvPr/>
        </p:nvSpPr>
        <p:spPr>
          <a:xfrm>
            <a:off x="7644384" y="4654296"/>
            <a:ext cx="530352" cy="0"/>
          </a:xfrm>
          <a:prstGeom prst="line">
            <a:avLst/>
          </a:prstGeom>
          <a:noFill/>
          <a:ln w="38100">
            <a:solidFill>
              <a:srgbClr val="12B8A6"/>
            </a:solidFill>
            <a:prstDash val="solid"/>
            <a:headEnd type="none"/>
            <a:tailEnd type="triangle"/>
          </a:ln>
        </p:spPr>
      </p:sp>
      <p:sp>
        <p:nvSpPr>
          <p:cNvPr id="24" name="Shape 19"/>
          <p:cNvSpPr/>
          <p:nvPr/>
        </p:nvSpPr>
        <p:spPr>
          <a:xfrm>
            <a:off x="8302752" y="4050792"/>
            <a:ext cx="3200400" cy="1207008"/>
          </a:xfrm>
          <a:prstGeom prst="roundRect">
            <a:avLst>
              <a:gd name="adj" fmla="val 3788"/>
            </a:avLst>
          </a:prstGeom>
          <a:solidFill>
            <a:srgbClr val="EAF8F2"/>
          </a:solidFill>
          <a:ln w="12700">
            <a:solidFill>
              <a:srgbClr val="A8DCC5"/>
            </a:solidFill>
            <a:prstDash val="solid"/>
          </a:ln>
        </p:spPr>
      </p:sp>
      <p:sp>
        <p:nvSpPr>
          <p:cNvPr id="25" name="Text 20"/>
          <p:cNvSpPr/>
          <p:nvPr/>
        </p:nvSpPr>
        <p:spPr>
          <a:xfrm>
            <a:off x="8558784" y="4416552"/>
            <a:ext cx="2688336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18A36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t_real = (t/d) · d</a:t>
            </a:r>
            <a:endParaRPr lang="en-US" sz="1900" dirty="0"/>
          </a:p>
        </p:txBody>
      </p:sp>
      <p:sp>
        <p:nvSpPr>
          <p:cNvPr id="26" name="Text 21"/>
          <p:cNvSpPr/>
          <p:nvPr/>
        </p:nvSpPr>
        <p:spPr>
          <a:xfrm>
            <a:off x="960120" y="5870448"/>
            <a:ext cx="10287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3941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最终得到两次车辆的米制相对位姿 T_C1C2；整个过程没有先计算交通标志牌的 GPS。</a:t>
            </a:r>
            <a:endParaRPr lang="en-US" sz="13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39728" y="656539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A8A8A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78992" y="256032"/>
            <a:ext cx="717804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研究内容二：交通标志如何把两次行驶连成定位闭环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9555480" y="1005840"/>
            <a:ext cx="1874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80" b="1" dirty="0">
                <a:solidFill>
                  <a:srgbClr val="3941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研究内容与方案</a:t>
            </a:r>
            <a:endParaRPr lang="en-US" sz="880" dirty="0"/>
          </a:p>
        </p:txBody>
      </p:sp>
      <p:pic>
        <p:nvPicPr>
          <p:cNvPr id="4" name="Image 0" descr="/home/ehuy/ORBSLAM3-TrafficSign-Pose/manual_split/seg_manual_1/rgb/1782374541342045184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1325880"/>
            <a:ext cx="4892040" cy="2761488"/>
          </a:xfrm>
          <a:prstGeom prst="rect">
            <a:avLst/>
          </a:prstGeom>
        </p:spPr>
      </p:pic>
      <p:pic>
        <p:nvPicPr>
          <p:cNvPr id="5" name="Image 1" descr="/home/ehuy/ORBSLAM3-TrafficSign-Pose/manual_split/seg_manual_181/rgb/1782375931252223232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93992" y="1325880"/>
            <a:ext cx="4892040" cy="2761488"/>
          </a:xfrm>
          <a:prstGeom prst="rect">
            <a:avLst/>
          </a:prstGeom>
        </p:spPr>
      </p:pic>
      <p:sp>
        <p:nvSpPr>
          <p:cNvPr id="6" name="Shape 2"/>
          <p:cNvSpPr/>
          <p:nvPr/>
        </p:nvSpPr>
        <p:spPr>
          <a:xfrm>
            <a:off x="2249424" y="1901952"/>
            <a:ext cx="987552" cy="420624"/>
          </a:xfrm>
          <a:prstGeom prst="rect">
            <a:avLst/>
          </a:prstGeom>
          <a:solidFill>
            <a:srgbClr val="FFFFFF">
              <a:alpha val="0"/>
            </a:srgbClr>
          </a:solidFill>
          <a:ln w="38100">
            <a:solidFill>
              <a:srgbClr val="F59E0B"/>
            </a:solidFill>
            <a:prstDash val="solid"/>
          </a:ln>
        </p:spPr>
      </p:sp>
      <p:sp>
        <p:nvSpPr>
          <p:cNvPr id="7" name="Shape 3"/>
          <p:cNvSpPr/>
          <p:nvPr/>
        </p:nvSpPr>
        <p:spPr>
          <a:xfrm>
            <a:off x="8869680" y="1956816"/>
            <a:ext cx="1005840" cy="438912"/>
          </a:xfrm>
          <a:prstGeom prst="rect">
            <a:avLst/>
          </a:prstGeom>
          <a:solidFill>
            <a:srgbClr val="FFFFFF">
              <a:alpha val="0"/>
            </a:srgbClr>
          </a:solidFill>
          <a:ln w="38100">
            <a:solidFill>
              <a:srgbClr val="12B8A6"/>
            </a:solidFill>
            <a:prstDash val="solid"/>
          </a:ln>
        </p:spPr>
      </p:sp>
      <p:sp>
        <p:nvSpPr>
          <p:cNvPr id="8" name="Shape 4"/>
          <p:cNvSpPr/>
          <p:nvPr/>
        </p:nvSpPr>
        <p:spPr>
          <a:xfrm>
            <a:off x="3236976" y="2112264"/>
            <a:ext cx="5632704" cy="64008"/>
          </a:xfrm>
          <a:prstGeom prst="line">
            <a:avLst/>
          </a:prstGeom>
          <a:noFill/>
          <a:ln w="30480">
            <a:solidFill>
              <a:srgbClr val="12B8A6"/>
            </a:solidFill>
            <a:prstDash val="solid"/>
            <a:headEnd type="none"/>
            <a:tailEnd type="triangle"/>
          </a:ln>
        </p:spPr>
      </p:sp>
      <p:sp>
        <p:nvSpPr>
          <p:cNvPr id="9" name="Shape 5"/>
          <p:cNvSpPr/>
          <p:nvPr/>
        </p:nvSpPr>
        <p:spPr>
          <a:xfrm>
            <a:off x="4828032" y="1810512"/>
            <a:ext cx="2450592" cy="603504"/>
          </a:xfrm>
          <a:prstGeom prst="roundRect">
            <a:avLst>
              <a:gd name="adj" fmla="val 7576"/>
            </a:avLst>
          </a:prstGeom>
          <a:solidFill>
            <a:srgbClr val="EAF8F5">
              <a:alpha val="95000"/>
            </a:srgbClr>
          </a:solidFill>
          <a:ln w="12700">
            <a:solidFill>
              <a:srgbClr val="8FD5CA"/>
            </a:solidFill>
            <a:prstDash val="solid"/>
          </a:ln>
        </p:spPr>
      </p:sp>
      <p:sp>
        <p:nvSpPr>
          <p:cNvPr id="10" name="Text 6"/>
          <p:cNvSpPr/>
          <p:nvPr/>
        </p:nvSpPr>
        <p:spPr>
          <a:xfrm>
            <a:off x="5029200" y="2011680"/>
            <a:ext cx="20482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87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同一固定交通标志</a:t>
            </a:r>
            <a:endParaRPr lang="en-US" sz="1250" dirty="0"/>
          </a:p>
        </p:txBody>
      </p:sp>
      <p:sp>
        <p:nvSpPr>
          <p:cNvPr id="11" name="Shape 7"/>
          <p:cNvSpPr/>
          <p:nvPr/>
        </p:nvSpPr>
        <p:spPr>
          <a:xfrm>
            <a:off x="1536192" y="3822192"/>
            <a:ext cx="2560320" cy="310896"/>
          </a:xfrm>
          <a:prstGeom prst="roundRect">
            <a:avLst>
              <a:gd name="adj" fmla="val 17647"/>
            </a:avLst>
          </a:prstGeom>
          <a:solidFill>
            <a:srgbClr val="EDF4FF"/>
          </a:solidFill>
          <a:ln w="12700">
            <a:solidFill>
              <a:srgbClr val="EDF4FF"/>
            </a:solidFill>
            <a:prstDash val="solid"/>
          </a:ln>
        </p:spPr>
      </p:sp>
      <p:sp>
        <p:nvSpPr>
          <p:cNvPr id="12" name="Text 8"/>
          <p:cNvSpPr/>
          <p:nvPr/>
        </p:nvSpPr>
        <p:spPr>
          <a:xfrm>
            <a:off x="1591056" y="3886200"/>
            <a:ext cx="245059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2367D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第一次：参考 GPS p₁</a:t>
            </a:r>
            <a:endParaRPr lang="en-US" sz="880" dirty="0"/>
          </a:p>
        </p:txBody>
      </p:sp>
      <p:sp>
        <p:nvSpPr>
          <p:cNvPr id="13" name="Shape 9"/>
          <p:cNvSpPr/>
          <p:nvPr/>
        </p:nvSpPr>
        <p:spPr>
          <a:xfrm>
            <a:off x="8101584" y="3822192"/>
            <a:ext cx="2267712" cy="310896"/>
          </a:xfrm>
          <a:prstGeom prst="roundRect">
            <a:avLst>
              <a:gd name="adj" fmla="val 17647"/>
            </a:avLst>
          </a:prstGeom>
          <a:solidFill>
            <a:srgbClr val="EAF8F5"/>
          </a:solidFill>
          <a:ln w="12700">
            <a:solidFill>
              <a:srgbClr val="EAF8F5"/>
            </a:solidFill>
            <a:prstDash val="solid"/>
          </a:ln>
        </p:spPr>
      </p:sp>
      <p:sp>
        <p:nvSpPr>
          <p:cNvPr id="14" name="Text 10"/>
          <p:cNvSpPr/>
          <p:nvPr/>
        </p:nvSpPr>
        <p:spPr>
          <a:xfrm>
            <a:off x="8156448" y="3886200"/>
            <a:ext cx="21579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12B8A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第二次：待定位</a:t>
            </a:r>
            <a:endParaRPr lang="en-US" sz="880" dirty="0"/>
          </a:p>
        </p:txBody>
      </p:sp>
      <p:pic>
        <p:nvPicPr>
          <p:cNvPr id="15" name="Image 2" descr="/home/ehuy/ORBSLAM3-TrafficSign-Pose/landmarkslam/implement/data/test_pairs/pair_01_45/gps_trajectory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3232" y="4315968"/>
            <a:ext cx="3108960" cy="1554480"/>
          </a:xfrm>
          <a:prstGeom prst="rect">
            <a:avLst/>
          </a:prstGeom>
        </p:spPr>
      </p:pic>
      <p:sp>
        <p:nvSpPr>
          <p:cNvPr id="16" name="Shape 11"/>
          <p:cNvSpPr/>
          <p:nvPr/>
        </p:nvSpPr>
        <p:spPr>
          <a:xfrm>
            <a:off x="4005072" y="5102352"/>
            <a:ext cx="658368" cy="0"/>
          </a:xfrm>
          <a:prstGeom prst="line">
            <a:avLst/>
          </a:prstGeom>
          <a:noFill/>
          <a:ln w="33020">
            <a:solidFill>
              <a:srgbClr val="2367D1"/>
            </a:solidFill>
            <a:prstDash val="solid"/>
            <a:headEnd type="none"/>
            <a:tailEnd type="triangle"/>
          </a:ln>
        </p:spPr>
      </p:sp>
      <p:sp>
        <p:nvSpPr>
          <p:cNvPr id="17" name="Shape 12"/>
          <p:cNvSpPr/>
          <p:nvPr/>
        </p:nvSpPr>
        <p:spPr>
          <a:xfrm>
            <a:off x="4754880" y="4370832"/>
            <a:ext cx="2651760" cy="1426464"/>
          </a:xfrm>
          <a:prstGeom prst="roundRect">
            <a:avLst>
              <a:gd name="adj" fmla="val 3205"/>
            </a:avLst>
          </a:prstGeom>
          <a:solidFill>
            <a:srgbClr val="F3EFFF"/>
          </a:solidFill>
          <a:ln w="12700">
            <a:solidFill>
              <a:srgbClr val="CFC2F3"/>
            </a:solidFill>
            <a:prstDash val="solid"/>
          </a:ln>
        </p:spPr>
      </p:sp>
      <p:sp>
        <p:nvSpPr>
          <p:cNvPr id="18" name="Text 13"/>
          <p:cNvSpPr/>
          <p:nvPr/>
        </p:nvSpPr>
        <p:spPr>
          <a:xfrm>
            <a:off x="5065776" y="4663440"/>
            <a:ext cx="2029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7657D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T_C1C2</a:t>
            </a:r>
            <a:endParaRPr lang="en-US" sz="2200" dirty="0"/>
          </a:p>
        </p:txBody>
      </p:sp>
      <p:sp>
        <p:nvSpPr>
          <p:cNvPr id="19" name="Text 14"/>
          <p:cNvSpPr/>
          <p:nvPr/>
        </p:nvSpPr>
        <p:spPr>
          <a:xfrm>
            <a:off x="5029200" y="5120640"/>
            <a:ext cx="2103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80" dirty="0">
                <a:solidFill>
                  <a:srgbClr val="4D64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两次车辆的米制相对位姿</a:t>
            </a:r>
            <a:endParaRPr lang="en-US" sz="980" dirty="0"/>
          </a:p>
        </p:txBody>
      </p:sp>
      <p:sp>
        <p:nvSpPr>
          <p:cNvPr id="20" name="Shape 15"/>
          <p:cNvSpPr/>
          <p:nvPr/>
        </p:nvSpPr>
        <p:spPr>
          <a:xfrm>
            <a:off x="7498080" y="5102352"/>
            <a:ext cx="658368" cy="0"/>
          </a:xfrm>
          <a:prstGeom prst="line">
            <a:avLst/>
          </a:prstGeom>
          <a:noFill/>
          <a:ln w="33020">
            <a:solidFill>
              <a:srgbClr val="18A36A"/>
            </a:solidFill>
            <a:prstDash val="solid"/>
            <a:headEnd type="none"/>
            <a:tailEnd type="triangle"/>
          </a:ln>
        </p:spPr>
      </p:sp>
      <p:sp>
        <p:nvSpPr>
          <p:cNvPr id="21" name="Shape 16"/>
          <p:cNvSpPr/>
          <p:nvPr/>
        </p:nvSpPr>
        <p:spPr>
          <a:xfrm>
            <a:off x="8266176" y="4370832"/>
            <a:ext cx="2926080" cy="1426464"/>
          </a:xfrm>
          <a:prstGeom prst="roundRect">
            <a:avLst>
              <a:gd name="adj" fmla="val 3205"/>
            </a:avLst>
          </a:prstGeom>
          <a:solidFill>
            <a:srgbClr val="EAF8F2"/>
          </a:solidFill>
          <a:ln w="12700">
            <a:solidFill>
              <a:srgbClr val="A8DCC5"/>
            </a:solidFill>
            <a:prstDash val="solid"/>
          </a:ln>
        </p:spPr>
      </p:sp>
      <p:sp>
        <p:nvSpPr>
          <p:cNvPr id="22" name="Text 17"/>
          <p:cNvSpPr/>
          <p:nvPr/>
        </p:nvSpPr>
        <p:spPr>
          <a:xfrm>
            <a:off x="8485632" y="4617720"/>
            <a:ext cx="24871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8A36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p₂_pred = p₁ + R_align t_real</a:t>
            </a:r>
            <a:endParaRPr lang="en-US" sz="1400" dirty="0"/>
          </a:p>
        </p:txBody>
      </p:sp>
      <p:sp>
        <p:nvSpPr>
          <p:cNvPr id="23" name="Text 18"/>
          <p:cNvSpPr/>
          <p:nvPr/>
        </p:nvSpPr>
        <p:spPr>
          <a:xfrm>
            <a:off x="8668512" y="5193792"/>
            <a:ext cx="21214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876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当前 GPS 预测</a:t>
            </a:r>
            <a:endParaRPr lang="en-US" sz="1150" dirty="0"/>
          </a:p>
        </p:txBody>
      </p:sp>
      <p:sp>
        <p:nvSpPr>
          <p:cNvPr id="24" name="Text 19"/>
          <p:cNvSpPr/>
          <p:nvPr/>
        </p:nvSpPr>
        <p:spPr>
          <a:xfrm>
            <a:off x="1234440" y="6007608"/>
            <a:ext cx="97109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3941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第二次 GPS 不参与预测，只在实验阶段用于与 p₂_pred 比较误差。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39728" y="656539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A8A8A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78992" y="256032"/>
            <a:ext cx="717804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从相机相对位移到 GPS/ENU：为什么还要做方向对齐？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9555480" y="1005840"/>
            <a:ext cx="1874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80" b="1" dirty="0">
                <a:solidFill>
                  <a:srgbClr val="3941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研究内容与方案</a:t>
            </a:r>
            <a:endParaRPr lang="en-US" sz="880" dirty="0"/>
          </a:p>
        </p:txBody>
      </p:sp>
      <p:pic>
        <p:nvPicPr>
          <p:cNvPr id="4" name="Image 0" descr="/home/ehuy/ORBSLAM3-TrafficSign-Pose/landmarkslam/implement/data/test_pairs/pair_15_59/lsq_results/20260605_172512/trajectory_alignmen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1325880"/>
            <a:ext cx="5303520" cy="3986784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1874520" y="4526280"/>
            <a:ext cx="1920240" cy="-1426464"/>
          </a:xfrm>
          <a:prstGeom prst="line">
            <a:avLst/>
          </a:prstGeom>
          <a:noFill/>
          <a:ln w="38100">
            <a:solidFill>
              <a:srgbClr val="2367D1"/>
            </a:solidFill>
            <a:prstDash val="solid"/>
            <a:tailEnd type="triangle"/>
          </a:ln>
        </p:spPr>
      </p:sp>
      <p:sp>
        <p:nvSpPr>
          <p:cNvPr id="6" name="Text 3"/>
          <p:cNvSpPr/>
          <p:nvPr/>
        </p:nvSpPr>
        <p:spPr>
          <a:xfrm>
            <a:off x="2139696" y="3621024"/>
            <a:ext cx="12435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367D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SLAM 方向</a:t>
            </a:r>
            <a:endParaRPr lang="en-US" sz="1100" dirty="0"/>
          </a:p>
        </p:txBody>
      </p:sp>
      <p:sp>
        <p:nvSpPr>
          <p:cNvPr id="7" name="Shape 4"/>
          <p:cNvSpPr/>
          <p:nvPr/>
        </p:nvSpPr>
        <p:spPr>
          <a:xfrm>
            <a:off x="1874520" y="4526280"/>
            <a:ext cx="2359152" cy="-731520"/>
          </a:xfrm>
          <a:prstGeom prst="line">
            <a:avLst/>
          </a:prstGeom>
          <a:noFill/>
          <a:ln w="38100">
            <a:solidFill>
              <a:srgbClr val="18A36A"/>
            </a:solidFill>
            <a:prstDash val="solid"/>
            <a:tailEnd type="triangle"/>
          </a:ln>
        </p:spPr>
      </p:sp>
      <p:sp>
        <p:nvSpPr>
          <p:cNvPr id="8" name="Text 5"/>
          <p:cNvSpPr/>
          <p:nvPr/>
        </p:nvSpPr>
        <p:spPr>
          <a:xfrm>
            <a:off x="3044952" y="4160520"/>
            <a:ext cx="1463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8A36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GPS/ENU 方向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 rot="480000">
            <a:off x="2121408" y="3456432"/>
            <a:ext cx="1280160" cy="960120"/>
          </a:xfrm>
          <a:prstGeom prst="arc">
            <a:avLst/>
          </a:prstGeom>
          <a:solidFill>
            <a:srgbClr val="FFFFFF">
              <a:alpha val="0"/>
            </a:srgbClr>
          </a:solidFill>
          <a:ln w="25400">
            <a:solidFill>
              <a:srgbClr val="F59E0B"/>
            </a:solidFill>
            <a:prstDash val="solid"/>
            <a:tailEnd type="triangle"/>
          </a:ln>
        </p:spPr>
      </p:sp>
      <p:sp>
        <p:nvSpPr>
          <p:cNvPr id="10" name="Text 7"/>
          <p:cNvSpPr/>
          <p:nvPr/>
        </p:nvSpPr>
        <p:spPr>
          <a:xfrm>
            <a:off x="2587752" y="3931920"/>
            <a:ext cx="822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59E0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θ_align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6254496" y="1353312"/>
            <a:ext cx="5212080" cy="1133856"/>
          </a:xfrm>
          <a:prstGeom prst="roundRect">
            <a:avLst>
              <a:gd name="adj" fmla="val 4032"/>
            </a:avLst>
          </a:prstGeom>
          <a:solidFill>
            <a:srgbClr val="FFF7E8"/>
          </a:solidFill>
          <a:ln w="15240">
            <a:solidFill>
              <a:srgbClr val="F59E0B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6510528" y="1572768"/>
            <a:ext cx="47000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59E0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① 从两段轨迹估计航向差</a:t>
            </a:r>
            <a:endParaRPr lang="en-US" sz="1250" dirty="0"/>
          </a:p>
        </p:txBody>
      </p:sp>
      <p:sp>
        <p:nvSpPr>
          <p:cNvPr id="13" name="Text 10"/>
          <p:cNvSpPr/>
          <p:nvPr/>
        </p:nvSpPr>
        <p:spPr>
          <a:xfrm>
            <a:off x="6729984" y="1993392"/>
            <a:ext cx="42611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394179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θ_align = θ_GPS − θ_SLAM</a:t>
            </a:r>
            <a:endParaRPr lang="en-US" sz="1600" dirty="0"/>
          </a:p>
        </p:txBody>
      </p:sp>
      <p:sp>
        <p:nvSpPr>
          <p:cNvPr id="14" name="Shape 11"/>
          <p:cNvSpPr/>
          <p:nvPr/>
        </p:nvSpPr>
        <p:spPr>
          <a:xfrm>
            <a:off x="6254496" y="2798064"/>
            <a:ext cx="5212080" cy="1133856"/>
          </a:xfrm>
          <a:prstGeom prst="roundRect">
            <a:avLst>
              <a:gd name="adj" fmla="val 4032"/>
            </a:avLst>
          </a:prstGeom>
          <a:solidFill>
            <a:srgbClr val="EDF4FF"/>
          </a:solidFill>
          <a:ln w="15240">
            <a:solidFill>
              <a:srgbClr val="2367D1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6510528" y="3017520"/>
            <a:ext cx="47000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2367D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② 将米制相对位移旋到 ENU</a:t>
            </a:r>
            <a:endParaRPr lang="en-US" sz="1250" dirty="0"/>
          </a:p>
        </p:txBody>
      </p:sp>
      <p:sp>
        <p:nvSpPr>
          <p:cNvPr id="16" name="Text 13"/>
          <p:cNvSpPr/>
          <p:nvPr/>
        </p:nvSpPr>
        <p:spPr>
          <a:xfrm>
            <a:off x="6729984" y="3438144"/>
            <a:ext cx="42611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394179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t_G = R(θ_align)t_real</a:t>
            </a:r>
            <a:endParaRPr lang="en-US" sz="1600" dirty="0"/>
          </a:p>
        </p:txBody>
      </p:sp>
      <p:sp>
        <p:nvSpPr>
          <p:cNvPr id="17" name="Shape 14"/>
          <p:cNvSpPr/>
          <p:nvPr/>
        </p:nvSpPr>
        <p:spPr>
          <a:xfrm>
            <a:off x="6254496" y="4242816"/>
            <a:ext cx="5212080" cy="1133856"/>
          </a:xfrm>
          <a:prstGeom prst="roundRect">
            <a:avLst>
              <a:gd name="adj" fmla="val 4032"/>
            </a:avLst>
          </a:prstGeom>
          <a:solidFill>
            <a:srgbClr val="EAF8F2"/>
          </a:solidFill>
          <a:ln w="15240">
            <a:solidFill>
              <a:srgbClr val="18A36A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6510528" y="4462272"/>
            <a:ext cx="47000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8A36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③ 叠加到参考 GPS 位置</a:t>
            </a:r>
            <a:endParaRPr lang="en-US" sz="1250" dirty="0"/>
          </a:p>
        </p:txBody>
      </p:sp>
      <p:sp>
        <p:nvSpPr>
          <p:cNvPr id="19" name="Text 16"/>
          <p:cNvSpPr/>
          <p:nvPr/>
        </p:nvSpPr>
        <p:spPr>
          <a:xfrm>
            <a:off x="6729984" y="4882896"/>
            <a:ext cx="42611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394179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p₂_pred = p₁ + t_G</a:t>
            </a:r>
            <a:endParaRPr lang="en-US" sz="1600" dirty="0"/>
          </a:p>
        </p:txBody>
      </p:sp>
      <p:sp>
        <p:nvSpPr>
          <p:cNvPr id="20" name="Text 17"/>
          <p:cNvSpPr/>
          <p:nvPr/>
        </p:nvSpPr>
        <p:spPr>
          <a:xfrm>
            <a:off x="1234440" y="5907024"/>
            <a:ext cx="9710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30" b="1" dirty="0">
                <a:solidFill>
                  <a:srgbClr val="3941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对齐改变的是坐标轴方向，不改变 T_C1C2 已经恢复的米制位移大小。</a:t>
            </a:r>
            <a:endParaRPr lang="en-US" sz="133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39728" y="656539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A8A8A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20</a:t>
            </a:fld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78992" y="256032"/>
            <a:ext cx="717804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实验数据是怎样组织成完整验证链的？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9555480" y="1005840"/>
            <a:ext cx="1874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80" b="1" dirty="0">
                <a:solidFill>
                  <a:srgbClr val="3941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研究内容与方案</a:t>
            </a:r>
            <a:endParaRPr lang="en-US" sz="880" dirty="0"/>
          </a:p>
        </p:txBody>
      </p:sp>
      <p:pic>
        <p:nvPicPr>
          <p:cNvPr id="4" name="Image 0" descr="/home/ehuy/ORBSLAM3-TrafficSign-Pose/manual_split/seg_manual_1/rgb/1782374541342045184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1325880"/>
            <a:ext cx="3063240" cy="1737360"/>
          </a:xfrm>
          <a:prstGeom prst="rect">
            <a:avLst/>
          </a:prstGeom>
        </p:spPr>
      </p:pic>
      <p:pic>
        <p:nvPicPr>
          <p:cNvPr id="5" name="Image 1" descr="/home/ehuy/ORBSLAM3-TrafficSign-Pose/manual_split/seg_manual_181/rgb/1782375931252223232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" y="3246120"/>
            <a:ext cx="3063240" cy="1737360"/>
          </a:xfrm>
          <a:prstGeom prst="rect">
            <a:avLst/>
          </a:prstGeom>
        </p:spPr>
      </p:pic>
      <p:sp>
        <p:nvSpPr>
          <p:cNvPr id="6" name="Shape 2"/>
          <p:cNvSpPr/>
          <p:nvPr/>
        </p:nvSpPr>
        <p:spPr>
          <a:xfrm>
            <a:off x="1143000" y="2715768"/>
            <a:ext cx="1874520" cy="310896"/>
          </a:xfrm>
          <a:prstGeom prst="roundRect">
            <a:avLst>
              <a:gd name="adj" fmla="val 17647"/>
            </a:avLst>
          </a:prstGeom>
          <a:solidFill>
            <a:srgbClr val="EDF4FF"/>
          </a:solidFill>
          <a:ln w="12700">
            <a:solidFill>
              <a:srgbClr val="EDF4FF"/>
            </a:solidFill>
            <a:prstDash val="solid"/>
          </a:ln>
        </p:spPr>
      </p:sp>
      <p:sp>
        <p:nvSpPr>
          <p:cNvPr id="7" name="Text 3"/>
          <p:cNvSpPr/>
          <p:nvPr/>
        </p:nvSpPr>
        <p:spPr>
          <a:xfrm>
            <a:off x="1197864" y="2779776"/>
            <a:ext cx="176479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2367D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D456 RGB + IMU</a:t>
            </a:r>
            <a:endParaRPr lang="en-US" sz="880" dirty="0"/>
          </a:p>
        </p:txBody>
      </p:sp>
      <p:sp>
        <p:nvSpPr>
          <p:cNvPr id="8" name="Shape 4"/>
          <p:cNvSpPr/>
          <p:nvPr/>
        </p:nvSpPr>
        <p:spPr>
          <a:xfrm>
            <a:off x="896112" y="4700016"/>
            <a:ext cx="2359152" cy="310896"/>
          </a:xfrm>
          <a:prstGeom prst="roundRect">
            <a:avLst>
              <a:gd name="adj" fmla="val 17647"/>
            </a:avLst>
          </a:prstGeom>
          <a:solidFill>
            <a:srgbClr val="EAF8F5"/>
          </a:solidFill>
          <a:ln w="12700">
            <a:solidFill>
              <a:srgbClr val="EAF8F5"/>
            </a:solidFill>
            <a:prstDash val="solid"/>
          </a:ln>
        </p:spPr>
      </p:sp>
      <p:sp>
        <p:nvSpPr>
          <p:cNvPr id="9" name="Text 5"/>
          <p:cNvSpPr/>
          <p:nvPr/>
        </p:nvSpPr>
        <p:spPr>
          <a:xfrm>
            <a:off x="950976" y="4764024"/>
            <a:ext cx="224942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12B8A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重复经过同一路段</a:t>
            </a:r>
            <a:endParaRPr lang="en-US" sz="880" dirty="0"/>
          </a:p>
        </p:txBody>
      </p:sp>
      <p:pic>
        <p:nvPicPr>
          <p:cNvPr id="10" name="Image 2" descr="/home/ehuy/ORBSLAM3-TrafficSign-Pose/landmarkslam/implement/data/test_pairs/full_gps/gps_trajectory_full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58768" y="1325880"/>
            <a:ext cx="4736592" cy="3657600"/>
          </a:xfrm>
          <a:prstGeom prst="rect">
            <a:avLst/>
          </a:prstGeom>
        </p:spPr>
      </p:pic>
      <p:sp>
        <p:nvSpPr>
          <p:cNvPr id="11" name="Shape 6"/>
          <p:cNvSpPr/>
          <p:nvPr/>
        </p:nvSpPr>
        <p:spPr>
          <a:xfrm>
            <a:off x="4937760" y="4709160"/>
            <a:ext cx="2578608" cy="310896"/>
          </a:xfrm>
          <a:prstGeom prst="roundRect">
            <a:avLst>
              <a:gd name="adj" fmla="val 17647"/>
            </a:avLst>
          </a:prstGeom>
          <a:solidFill>
            <a:srgbClr val="EAF8F2"/>
          </a:solidFill>
          <a:ln w="12700">
            <a:solidFill>
              <a:srgbClr val="EAF8F2"/>
            </a:solidFill>
            <a:prstDash val="solid"/>
          </a:ln>
        </p:spPr>
      </p:sp>
      <p:sp>
        <p:nvSpPr>
          <p:cNvPr id="12" name="Text 7"/>
          <p:cNvSpPr/>
          <p:nvPr/>
        </p:nvSpPr>
        <p:spPr>
          <a:xfrm>
            <a:off x="4992624" y="4773168"/>
            <a:ext cx="24688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18A36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G90 RTK-GNSS 完整长轨迹</a:t>
            </a:r>
            <a:endParaRPr lang="en-US" sz="880" dirty="0"/>
          </a:p>
        </p:txBody>
      </p:sp>
      <p:pic>
        <p:nvPicPr>
          <p:cNvPr id="13" name="Image 3" descr="/home/ehuy/ORBSLAM3-TrafficSign-Pose/landmarkslam/implement/data/test_pairs/pair_15_59/lsq_results/20260605_172512/trajectory_alignment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33104" y="1325880"/>
            <a:ext cx="2761488" cy="1965960"/>
          </a:xfrm>
          <a:prstGeom prst="rect">
            <a:avLst/>
          </a:prstGeom>
        </p:spPr>
      </p:pic>
      <p:pic>
        <p:nvPicPr>
          <p:cNvPr id="14" name="Image 4" descr="/home/ehuy/ORBSLAM3-TrafficSign-Pose/landmarkslam/implement/data/test_pairs/pair_01_45/gps_trajectory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833104" y="3511296"/>
            <a:ext cx="2761488" cy="1965960"/>
          </a:xfrm>
          <a:prstGeom prst="rect">
            <a:avLst/>
          </a:prstGeom>
        </p:spPr>
      </p:pic>
      <p:sp>
        <p:nvSpPr>
          <p:cNvPr id="15" name="Text 8"/>
          <p:cNvSpPr/>
          <p:nvPr/>
        </p:nvSpPr>
        <p:spPr>
          <a:xfrm>
            <a:off x="9281160" y="2990088"/>
            <a:ext cx="184708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367D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ORB-SLAM3 轨迹</a:t>
            </a:r>
            <a:endParaRPr lang="en-US" sz="1100" dirty="0"/>
          </a:p>
        </p:txBody>
      </p:sp>
      <p:sp>
        <p:nvSpPr>
          <p:cNvPr id="16" name="Text 9"/>
          <p:cNvSpPr/>
          <p:nvPr/>
        </p:nvSpPr>
        <p:spPr>
          <a:xfrm>
            <a:off x="9089136" y="5175504"/>
            <a:ext cx="224942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2B8A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9 组 test_pairs 局部 GPS</a:t>
            </a:r>
            <a:endParaRPr lang="en-US" sz="1100" dirty="0"/>
          </a:p>
        </p:txBody>
      </p:sp>
      <p:sp>
        <p:nvSpPr>
          <p:cNvPr id="17" name="Text 10"/>
          <p:cNvSpPr/>
          <p:nvPr/>
        </p:nvSpPr>
        <p:spPr>
          <a:xfrm>
            <a:off x="868680" y="5897880"/>
            <a:ext cx="10469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20" b="1" dirty="0">
                <a:solidFill>
                  <a:srgbClr val="3941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图像/IMU 采集 → ORB-SLAM3 → 局部序列分段 → 相对位姿 → 用第二次 GPS 做误差评价</a:t>
            </a:r>
            <a:endParaRPr lang="en-US" sz="132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39728" y="656539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A8A8A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21</a:t>
            </a:fld>
            <a:endParaRPr 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78992" y="256032"/>
            <a:ext cx="717804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阶段结果一：多帧 Looming 深度恢复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585216" y="1005840"/>
            <a:ext cx="9875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4D64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现有实验图直接来自项目结果</a:t>
            </a:r>
            <a:endParaRPr lang="en-US" sz="920" dirty="0"/>
          </a:p>
        </p:txBody>
      </p:sp>
      <p:sp>
        <p:nvSpPr>
          <p:cNvPr id="4" name="Text 2"/>
          <p:cNvSpPr/>
          <p:nvPr/>
        </p:nvSpPr>
        <p:spPr>
          <a:xfrm>
            <a:off x="9555480" y="1005840"/>
            <a:ext cx="1874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80" b="1" dirty="0">
                <a:solidFill>
                  <a:srgbClr val="3941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研究内容与方案</a:t>
            </a:r>
            <a:endParaRPr lang="en-US" sz="880" dirty="0"/>
          </a:p>
        </p:txBody>
      </p:sp>
      <p:pic>
        <p:nvPicPr>
          <p:cNvPr id="5" name="Image 0" descr="/home/ehuy/ORBSLAM3-TrafficSign-Pose/landmarkslam/implement/data/test_pairs/pair_01_45/lsq_results/lsq_resul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1243584"/>
            <a:ext cx="7882128" cy="2816352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8668512" y="1399032"/>
            <a:ext cx="1307592" cy="868680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 w="12700">
            <a:solidFill>
              <a:srgbClr val="D8E2EC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8778240" y="1517904"/>
            <a:ext cx="108813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2367D1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15 帧</a:t>
            </a:r>
            <a:endParaRPr lang="en-US" sz="2100" dirty="0"/>
          </a:p>
        </p:txBody>
      </p:sp>
      <p:sp>
        <p:nvSpPr>
          <p:cNvPr id="8" name="Text 5"/>
          <p:cNvSpPr/>
          <p:nvPr/>
        </p:nvSpPr>
        <p:spPr>
          <a:xfrm>
            <a:off x="8778240" y="1911096"/>
            <a:ext cx="108813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D64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滑动窗口</a:t>
            </a:r>
            <a:endParaRPr lang="en-US" sz="850" dirty="0"/>
          </a:p>
        </p:txBody>
      </p:sp>
      <p:sp>
        <p:nvSpPr>
          <p:cNvPr id="9" name="Shape 6"/>
          <p:cNvSpPr/>
          <p:nvPr/>
        </p:nvSpPr>
        <p:spPr>
          <a:xfrm>
            <a:off x="10104120" y="1399032"/>
            <a:ext cx="1307592" cy="868680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 w="12700">
            <a:solidFill>
              <a:srgbClr val="D8E2EC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10213848" y="1517904"/>
            <a:ext cx="108813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F59E0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Frame 406</a:t>
            </a:r>
            <a:endParaRPr lang="en-US" sz="2100" dirty="0"/>
          </a:p>
        </p:txBody>
      </p:sp>
      <p:sp>
        <p:nvSpPr>
          <p:cNvPr id="11" name="Text 8"/>
          <p:cNvSpPr/>
          <p:nvPr/>
        </p:nvSpPr>
        <p:spPr>
          <a:xfrm>
            <a:off x="10213848" y="1911096"/>
            <a:ext cx="108813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D64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参考图像</a:t>
            </a:r>
            <a:endParaRPr lang="en-US" sz="850" dirty="0"/>
          </a:p>
        </p:txBody>
      </p:sp>
      <p:sp>
        <p:nvSpPr>
          <p:cNvPr id="12" name="Shape 9"/>
          <p:cNvSpPr/>
          <p:nvPr/>
        </p:nvSpPr>
        <p:spPr>
          <a:xfrm>
            <a:off x="8668512" y="2487168"/>
            <a:ext cx="1307592" cy="868680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 w="12700">
            <a:solidFill>
              <a:srgbClr val="D8E2EC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8778240" y="2606040"/>
            <a:ext cx="108813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12B8A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8.2 m</a:t>
            </a:r>
            <a:endParaRPr lang="en-US" sz="2100" dirty="0"/>
          </a:p>
        </p:txBody>
      </p:sp>
      <p:sp>
        <p:nvSpPr>
          <p:cNvPr id="14" name="Text 11"/>
          <p:cNvSpPr/>
          <p:nvPr/>
        </p:nvSpPr>
        <p:spPr>
          <a:xfrm>
            <a:off x="8778240" y="2999232"/>
            <a:ext cx="108813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D64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恢复深度 Z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10104120" y="2487168"/>
            <a:ext cx="1307592" cy="868680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 w="12700">
            <a:solidFill>
              <a:srgbClr val="D8E2EC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10213848" y="2606040"/>
            <a:ext cx="108813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18A36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LSQ</a:t>
            </a:r>
            <a:endParaRPr lang="en-US" sz="2100" dirty="0"/>
          </a:p>
        </p:txBody>
      </p:sp>
      <p:sp>
        <p:nvSpPr>
          <p:cNvPr id="17" name="Text 14"/>
          <p:cNvSpPr/>
          <p:nvPr/>
        </p:nvSpPr>
        <p:spPr>
          <a:xfrm>
            <a:off x="10213848" y="2999232"/>
            <a:ext cx="108813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D64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多帧直线拟合</a:t>
            </a:r>
            <a:endParaRPr lang="en-US" sz="850" dirty="0"/>
          </a:p>
        </p:txBody>
      </p:sp>
      <p:sp>
        <p:nvSpPr>
          <p:cNvPr id="18" name="Shape 15"/>
          <p:cNvSpPr/>
          <p:nvPr/>
        </p:nvSpPr>
        <p:spPr>
          <a:xfrm>
            <a:off x="658368" y="4343400"/>
            <a:ext cx="10835640" cy="1325880"/>
          </a:xfrm>
          <a:prstGeom prst="roundRect">
            <a:avLst>
              <a:gd name="adj" fmla="val 3448"/>
            </a:avLst>
          </a:prstGeom>
          <a:solidFill>
            <a:srgbClr val="EDF4FF"/>
          </a:solidFill>
          <a:ln w="12700">
            <a:solidFill>
              <a:srgbClr val="BFD3F2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804672" y="4489704"/>
            <a:ext cx="68580" cy="548640"/>
          </a:xfrm>
          <a:prstGeom prst="roundRect">
            <a:avLst>
              <a:gd name="adj" fmla="val 26667"/>
            </a:avLst>
          </a:prstGeom>
          <a:solidFill>
            <a:srgbClr val="2367D1"/>
          </a:solidFill>
          <a:ln w="12700">
            <a:solidFill>
              <a:srgbClr val="2367D1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978408" y="4480560"/>
            <a:ext cx="1036015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3941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结果说明</a:t>
            </a:r>
            <a:endParaRPr lang="en-US" sz="1400" dirty="0"/>
          </a:p>
        </p:txBody>
      </p:sp>
      <p:sp>
        <p:nvSpPr>
          <p:cNvPr id="21" name="Text 18"/>
          <p:cNvSpPr/>
          <p:nvPr/>
        </p:nvSpPr>
        <p:spPr>
          <a:xfrm>
            <a:off x="978408" y="4818888"/>
            <a:ext cx="10332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4D64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该保存结果使用 15 帧窗口，通过多帧最小二乘恢复标志光轴深度 Z≈8.2 m，验证了“图像膨胀 + 米制短时运动 → 标志绝对深度”的计算闭环。下一阶段需与可靠真值进行批量比较。</a:t>
            </a:r>
            <a:endParaRPr lang="en-US" sz="122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39728" y="656539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A8A8A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22</a:t>
            </a:fld>
            <a:endParaRPr 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78992" y="256032"/>
            <a:ext cx="717804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阶段结果二：真实匹配上的多解筛选与米制位移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9555480" y="1005840"/>
            <a:ext cx="1874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80" b="1" dirty="0">
                <a:solidFill>
                  <a:srgbClr val="3941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研究内容与方案</a:t>
            </a:r>
            <a:endParaRPr lang="en-US" sz="880" dirty="0"/>
          </a:p>
        </p:txBody>
      </p:sp>
      <p:pic>
        <p:nvPicPr>
          <p:cNvPr id="4" name="Image 0" descr="/home/ehuy/ORBSLAM3-TrafficSign-Pose/manual_split/seg_manual_1/rgb/1782374541342045184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" y="1325880"/>
            <a:ext cx="3703320" cy="2093976"/>
          </a:xfrm>
          <a:prstGeom prst="rect">
            <a:avLst/>
          </a:prstGeom>
        </p:spPr>
      </p:pic>
      <p:pic>
        <p:nvPicPr>
          <p:cNvPr id="5" name="Image 1" descr="/home/ehuy/ORBSLAM3-TrafficSign-Pose/manual_split/seg_manual_181/rgb/1782375931252223232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0352" y="3611880"/>
            <a:ext cx="3703320" cy="2093976"/>
          </a:xfrm>
          <a:prstGeom prst="rect">
            <a:avLst/>
          </a:prstGeom>
        </p:spPr>
      </p:pic>
      <p:sp>
        <p:nvSpPr>
          <p:cNvPr id="6" name="Shape 2"/>
          <p:cNvSpPr/>
          <p:nvPr/>
        </p:nvSpPr>
        <p:spPr>
          <a:xfrm>
            <a:off x="1847088" y="1755648"/>
            <a:ext cx="749808" cy="329184"/>
          </a:xfrm>
          <a:prstGeom prst="rect">
            <a:avLst/>
          </a:prstGeom>
          <a:solidFill>
            <a:srgbClr val="FFFFFF">
              <a:alpha val="0"/>
            </a:srgbClr>
          </a:solidFill>
          <a:ln w="31750">
            <a:solidFill>
              <a:srgbClr val="F59E0B"/>
            </a:solidFill>
            <a:prstDash val="solid"/>
          </a:ln>
        </p:spPr>
      </p:sp>
      <p:sp>
        <p:nvSpPr>
          <p:cNvPr id="7" name="Shape 3"/>
          <p:cNvSpPr/>
          <p:nvPr/>
        </p:nvSpPr>
        <p:spPr>
          <a:xfrm>
            <a:off x="2103120" y="4105656"/>
            <a:ext cx="768096" cy="347472"/>
          </a:xfrm>
          <a:prstGeom prst="rect">
            <a:avLst/>
          </a:prstGeom>
          <a:solidFill>
            <a:srgbClr val="FFFFFF">
              <a:alpha val="0"/>
            </a:srgbClr>
          </a:solidFill>
          <a:ln w="31750">
            <a:solidFill>
              <a:srgbClr val="12B8A6"/>
            </a:solidFill>
            <a:prstDash val="solid"/>
          </a:ln>
        </p:spPr>
      </p:sp>
      <p:sp>
        <p:nvSpPr>
          <p:cNvPr id="8" name="Shape 4"/>
          <p:cNvSpPr/>
          <p:nvPr/>
        </p:nvSpPr>
        <p:spPr>
          <a:xfrm>
            <a:off x="2596896" y="1828800"/>
            <a:ext cx="438912" cy="2258568"/>
          </a:xfrm>
          <a:prstGeom prst="line">
            <a:avLst/>
          </a:prstGeom>
          <a:noFill/>
          <a:ln w="10160">
            <a:solidFill>
              <a:srgbClr val="F59E0B">
                <a:alpha val="70000"/>
              </a:srgbClr>
            </a:solidFill>
            <a:prstDash val="solid"/>
          </a:ln>
        </p:spPr>
      </p:sp>
      <p:sp>
        <p:nvSpPr>
          <p:cNvPr id="9" name="Shape 5"/>
          <p:cNvSpPr/>
          <p:nvPr/>
        </p:nvSpPr>
        <p:spPr>
          <a:xfrm>
            <a:off x="2596896" y="1892808"/>
            <a:ext cx="438912" cy="2304288"/>
          </a:xfrm>
          <a:prstGeom prst="line">
            <a:avLst/>
          </a:prstGeom>
          <a:noFill/>
          <a:ln w="10160">
            <a:solidFill>
              <a:srgbClr val="12B8A6">
                <a:alpha val="70000"/>
              </a:srgbClr>
            </a:solidFill>
            <a:prstDash val="solid"/>
          </a:ln>
        </p:spPr>
      </p:sp>
      <p:sp>
        <p:nvSpPr>
          <p:cNvPr id="10" name="Shape 6"/>
          <p:cNvSpPr/>
          <p:nvPr/>
        </p:nvSpPr>
        <p:spPr>
          <a:xfrm>
            <a:off x="2596896" y="1956816"/>
            <a:ext cx="438912" cy="2350008"/>
          </a:xfrm>
          <a:prstGeom prst="line">
            <a:avLst/>
          </a:prstGeom>
          <a:noFill/>
          <a:ln w="10160">
            <a:solidFill>
              <a:srgbClr val="F59E0B">
                <a:alpha val="70000"/>
              </a:srgbClr>
            </a:solidFill>
            <a:prstDash val="solid"/>
          </a:ln>
        </p:spPr>
      </p:sp>
      <p:sp>
        <p:nvSpPr>
          <p:cNvPr id="11" name="Shape 7"/>
          <p:cNvSpPr/>
          <p:nvPr/>
        </p:nvSpPr>
        <p:spPr>
          <a:xfrm>
            <a:off x="2596896" y="2020824"/>
            <a:ext cx="438912" cy="2258568"/>
          </a:xfrm>
          <a:prstGeom prst="line">
            <a:avLst/>
          </a:prstGeom>
          <a:noFill/>
          <a:ln w="10160">
            <a:solidFill>
              <a:srgbClr val="12B8A6">
                <a:alpha val="70000"/>
              </a:srgbClr>
            </a:solidFill>
            <a:prstDash val="solid"/>
          </a:ln>
        </p:spPr>
      </p:sp>
      <p:sp>
        <p:nvSpPr>
          <p:cNvPr id="12" name="Shape 8"/>
          <p:cNvSpPr/>
          <p:nvPr/>
        </p:nvSpPr>
        <p:spPr>
          <a:xfrm>
            <a:off x="2596896" y="2084832"/>
            <a:ext cx="438912" cy="2304288"/>
          </a:xfrm>
          <a:prstGeom prst="line">
            <a:avLst/>
          </a:prstGeom>
          <a:noFill/>
          <a:ln w="10160">
            <a:solidFill>
              <a:srgbClr val="F59E0B">
                <a:alpha val="70000"/>
              </a:srgbClr>
            </a:solidFill>
            <a:prstDash val="solid"/>
          </a:ln>
        </p:spPr>
      </p:sp>
      <p:sp>
        <p:nvSpPr>
          <p:cNvPr id="13" name="Shape 9"/>
          <p:cNvSpPr/>
          <p:nvPr/>
        </p:nvSpPr>
        <p:spPr>
          <a:xfrm>
            <a:off x="2596896" y="2148840"/>
            <a:ext cx="438912" cy="2350008"/>
          </a:xfrm>
          <a:prstGeom prst="line">
            <a:avLst/>
          </a:prstGeom>
          <a:noFill/>
          <a:ln w="10160">
            <a:solidFill>
              <a:srgbClr val="12B8A6">
                <a:alpha val="70000"/>
              </a:srgbClr>
            </a:solidFill>
            <a:prstDash val="solid"/>
          </a:ln>
        </p:spPr>
      </p:sp>
      <p:sp>
        <p:nvSpPr>
          <p:cNvPr id="14" name="Shape 10"/>
          <p:cNvSpPr/>
          <p:nvPr/>
        </p:nvSpPr>
        <p:spPr>
          <a:xfrm>
            <a:off x="2596896" y="2212848"/>
            <a:ext cx="438912" cy="2258568"/>
          </a:xfrm>
          <a:prstGeom prst="line">
            <a:avLst/>
          </a:prstGeom>
          <a:noFill/>
          <a:ln w="10160">
            <a:solidFill>
              <a:srgbClr val="F59E0B">
                <a:alpha val="70000"/>
              </a:srgbClr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2596896" y="2276856"/>
            <a:ext cx="438912" cy="2304288"/>
          </a:xfrm>
          <a:prstGeom prst="line">
            <a:avLst/>
          </a:prstGeom>
          <a:noFill/>
          <a:ln w="10160">
            <a:solidFill>
              <a:srgbClr val="12B8A6">
                <a:alpha val="70000"/>
              </a:srgbClr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1124712" y="5541264"/>
            <a:ext cx="2514600" cy="310896"/>
          </a:xfrm>
          <a:prstGeom prst="roundRect">
            <a:avLst>
              <a:gd name="adj" fmla="val 17647"/>
            </a:avLst>
          </a:prstGeom>
          <a:solidFill>
            <a:srgbClr val="F3EFFF"/>
          </a:solidFill>
          <a:ln w="12700">
            <a:solidFill>
              <a:srgbClr val="F3EFFF"/>
            </a:solidFill>
            <a:prstDash val="solid"/>
          </a:ln>
        </p:spPr>
      </p:sp>
      <p:sp>
        <p:nvSpPr>
          <p:cNvPr id="17" name="Text 13"/>
          <p:cNvSpPr/>
          <p:nvPr/>
        </p:nvSpPr>
        <p:spPr>
          <a:xfrm>
            <a:off x="1179576" y="5605272"/>
            <a:ext cx="240487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7657D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LoFTR 有效匹配 62 对</a:t>
            </a:r>
            <a:endParaRPr lang="en-US" sz="880" dirty="0"/>
          </a:p>
        </p:txBody>
      </p:sp>
      <p:sp>
        <p:nvSpPr>
          <p:cNvPr id="18" name="Text 14"/>
          <p:cNvSpPr/>
          <p:nvPr/>
        </p:nvSpPr>
        <p:spPr>
          <a:xfrm>
            <a:off x="4617720" y="1389888"/>
            <a:ext cx="3063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941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结构正交误差（越小越好）</a:t>
            </a:r>
            <a:endParaRPr lang="en-US" sz="1200" dirty="0"/>
          </a:p>
        </p:txBody>
      </p:sp>
      <p:sp>
        <p:nvSpPr>
          <p:cNvPr id="19" name="Text 15"/>
          <p:cNvSpPr/>
          <p:nvPr/>
        </p:nvSpPr>
        <p:spPr>
          <a:xfrm>
            <a:off x="4462272" y="1947672"/>
            <a:ext cx="10789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3941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候选解 2</a:t>
            </a:r>
            <a:endParaRPr lang="en-US" sz="1150" dirty="0"/>
          </a:p>
        </p:txBody>
      </p:sp>
      <p:sp>
        <p:nvSpPr>
          <p:cNvPr id="20" name="Shape 16"/>
          <p:cNvSpPr/>
          <p:nvPr/>
        </p:nvSpPr>
        <p:spPr>
          <a:xfrm>
            <a:off x="5559552" y="1856232"/>
            <a:ext cx="2176272" cy="475488"/>
          </a:xfrm>
          <a:prstGeom prst="roundRect">
            <a:avLst>
              <a:gd name="adj" fmla="val 5769"/>
            </a:avLst>
          </a:prstGeom>
          <a:solidFill>
            <a:srgbClr val="E9EEF3"/>
          </a:solidFill>
          <a:ln w="12700">
            <a:solidFill>
              <a:srgbClr val="E9EEF3"/>
            </a:solidFill>
            <a:prstDash val="solid"/>
          </a:ln>
        </p:spPr>
      </p:sp>
      <p:sp>
        <p:nvSpPr>
          <p:cNvPr id="21" name="Shape 17"/>
          <p:cNvSpPr/>
          <p:nvPr/>
        </p:nvSpPr>
        <p:spPr>
          <a:xfrm>
            <a:off x="5559552" y="1856232"/>
            <a:ext cx="438912" cy="475488"/>
          </a:xfrm>
          <a:prstGeom prst="roundRect">
            <a:avLst>
              <a:gd name="adj" fmla="val 6250"/>
            </a:avLst>
          </a:prstGeom>
          <a:solidFill>
            <a:srgbClr val="18A36A"/>
          </a:solidFill>
          <a:ln w="12700">
            <a:solidFill>
              <a:srgbClr val="18A36A"/>
            </a:solidFill>
            <a:prstDash val="solid"/>
          </a:ln>
        </p:spPr>
      </p:sp>
      <p:sp>
        <p:nvSpPr>
          <p:cNvPr id="22" name="Text 18"/>
          <p:cNvSpPr/>
          <p:nvPr/>
        </p:nvSpPr>
        <p:spPr>
          <a:xfrm>
            <a:off x="7827264" y="1947672"/>
            <a:ext cx="6583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8A36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0.1160</a:t>
            </a:r>
            <a:endParaRPr lang="en-US" sz="1200" dirty="0"/>
          </a:p>
        </p:txBody>
      </p:sp>
      <p:sp>
        <p:nvSpPr>
          <p:cNvPr id="23" name="Text 19"/>
          <p:cNvSpPr/>
          <p:nvPr/>
        </p:nvSpPr>
        <p:spPr>
          <a:xfrm>
            <a:off x="4462272" y="2907792"/>
            <a:ext cx="10789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3941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候选解 4</a:t>
            </a:r>
            <a:endParaRPr lang="en-US" sz="1150" dirty="0"/>
          </a:p>
        </p:txBody>
      </p:sp>
      <p:sp>
        <p:nvSpPr>
          <p:cNvPr id="24" name="Shape 20"/>
          <p:cNvSpPr/>
          <p:nvPr/>
        </p:nvSpPr>
        <p:spPr>
          <a:xfrm>
            <a:off x="5559552" y="2816352"/>
            <a:ext cx="2176272" cy="475488"/>
          </a:xfrm>
          <a:prstGeom prst="roundRect">
            <a:avLst>
              <a:gd name="adj" fmla="val 5769"/>
            </a:avLst>
          </a:prstGeom>
          <a:solidFill>
            <a:srgbClr val="E9EEF3"/>
          </a:solidFill>
          <a:ln w="12700">
            <a:solidFill>
              <a:srgbClr val="E9EEF3"/>
            </a:solidFill>
            <a:prstDash val="solid"/>
          </a:ln>
        </p:spPr>
      </p:sp>
      <p:sp>
        <p:nvSpPr>
          <p:cNvPr id="25" name="Shape 21"/>
          <p:cNvSpPr/>
          <p:nvPr/>
        </p:nvSpPr>
        <p:spPr>
          <a:xfrm>
            <a:off x="5559552" y="2816352"/>
            <a:ext cx="1973042" cy="475488"/>
          </a:xfrm>
          <a:prstGeom prst="roundRect">
            <a:avLst>
              <a:gd name="adj" fmla="val 5769"/>
            </a:avLst>
          </a:prstGeom>
          <a:solidFill>
            <a:srgbClr val="E55353"/>
          </a:solidFill>
          <a:ln w="12700">
            <a:solidFill>
              <a:srgbClr val="E55353"/>
            </a:solidFill>
            <a:prstDash val="solid"/>
          </a:ln>
        </p:spPr>
      </p:sp>
      <p:sp>
        <p:nvSpPr>
          <p:cNvPr id="26" name="Text 22"/>
          <p:cNvSpPr/>
          <p:nvPr/>
        </p:nvSpPr>
        <p:spPr>
          <a:xfrm>
            <a:off x="7827264" y="2907792"/>
            <a:ext cx="6583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553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0.5893</a:t>
            </a:r>
            <a:endParaRPr lang="en-US" sz="1200" dirty="0"/>
          </a:p>
        </p:txBody>
      </p:sp>
      <p:sp>
        <p:nvSpPr>
          <p:cNvPr id="27" name="Shape 23"/>
          <p:cNvSpPr/>
          <p:nvPr/>
        </p:nvSpPr>
        <p:spPr>
          <a:xfrm>
            <a:off x="4462272" y="3977640"/>
            <a:ext cx="4023360" cy="1316736"/>
          </a:xfrm>
          <a:prstGeom prst="roundRect">
            <a:avLst>
              <a:gd name="adj" fmla="val 3472"/>
            </a:avLst>
          </a:prstGeom>
          <a:solidFill>
            <a:srgbClr val="EAF8F2"/>
          </a:solidFill>
          <a:ln w="12700">
            <a:solidFill>
              <a:srgbClr val="A8DCC5"/>
            </a:solidFill>
            <a:prstDash val="solid"/>
          </a:ln>
        </p:spPr>
      </p:sp>
      <p:sp>
        <p:nvSpPr>
          <p:cNvPr id="28" name="Text 24"/>
          <p:cNvSpPr/>
          <p:nvPr/>
        </p:nvSpPr>
        <p:spPr>
          <a:xfrm>
            <a:off x="4718304" y="4315968"/>
            <a:ext cx="3511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8A36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候选解 2 的结构误差明显更小</a:t>
            </a:r>
            <a:endParaRPr lang="en-US" sz="1300" dirty="0"/>
          </a:p>
        </p:txBody>
      </p:sp>
      <p:sp>
        <p:nvSpPr>
          <p:cNvPr id="29" name="Text 25"/>
          <p:cNvSpPr/>
          <p:nvPr/>
        </p:nvSpPr>
        <p:spPr>
          <a:xfrm>
            <a:off x="5029200" y="4773168"/>
            <a:ext cx="28895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876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选中物理解 → 尺度注入</a:t>
            </a:r>
            <a:endParaRPr lang="en-US" sz="1150" dirty="0"/>
          </a:p>
        </p:txBody>
      </p:sp>
      <p:sp>
        <p:nvSpPr>
          <p:cNvPr id="30" name="Shape 26"/>
          <p:cNvSpPr/>
          <p:nvPr/>
        </p:nvSpPr>
        <p:spPr>
          <a:xfrm>
            <a:off x="8796528" y="1353312"/>
            <a:ext cx="2761488" cy="3950208"/>
          </a:xfrm>
          <a:prstGeom prst="roundRect">
            <a:avLst>
              <a:gd name="adj" fmla="val 1656"/>
            </a:avLst>
          </a:prstGeom>
          <a:solidFill>
            <a:srgbClr val="F3EFFF"/>
          </a:solidFill>
          <a:ln w="12700">
            <a:solidFill>
              <a:srgbClr val="CFC2F3"/>
            </a:solidFill>
            <a:prstDash val="solid"/>
          </a:ln>
        </p:spPr>
      </p:sp>
      <p:sp>
        <p:nvSpPr>
          <p:cNvPr id="31" name="Text 27"/>
          <p:cNvSpPr/>
          <p:nvPr/>
        </p:nvSpPr>
        <p:spPr>
          <a:xfrm>
            <a:off x="9089136" y="1673352"/>
            <a:ext cx="217627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7657D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2026-06-30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7657D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可追溯结果</a:t>
            </a:r>
            <a:endParaRPr lang="en-US" sz="1400" dirty="0"/>
          </a:p>
        </p:txBody>
      </p:sp>
      <p:sp>
        <p:nvSpPr>
          <p:cNvPr id="32" name="Text 28"/>
          <p:cNvSpPr/>
          <p:nvPr/>
        </p:nvSpPr>
        <p:spPr>
          <a:xfrm>
            <a:off x="9281160" y="2633472"/>
            <a:ext cx="179222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300" b="1" dirty="0">
                <a:solidFill>
                  <a:srgbClr val="2367D1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62 对</a:t>
            </a:r>
            <a:endParaRPr lang="en-US" sz="2300" dirty="0"/>
          </a:p>
        </p:txBody>
      </p:sp>
      <p:sp>
        <p:nvSpPr>
          <p:cNvPr id="33" name="Text 29"/>
          <p:cNvSpPr/>
          <p:nvPr/>
        </p:nvSpPr>
        <p:spPr>
          <a:xfrm>
            <a:off x="9473184" y="3054096"/>
            <a:ext cx="140817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D64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有效匹配</a:t>
            </a:r>
            <a:endParaRPr lang="en-US" sz="1000" dirty="0"/>
          </a:p>
        </p:txBody>
      </p:sp>
      <p:sp>
        <p:nvSpPr>
          <p:cNvPr id="34" name="Text 30"/>
          <p:cNvSpPr/>
          <p:nvPr/>
        </p:nvSpPr>
        <p:spPr>
          <a:xfrm>
            <a:off x="9189720" y="3584448"/>
            <a:ext cx="197510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7657D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 = 8.697 m</a:t>
            </a:r>
            <a:endParaRPr lang="en-US" sz="1700" dirty="0"/>
          </a:p>
        </p:txBody>
      </p:sp>
      <p:sp>
        <p:nvSpPr>
          <p:cNvPr id="35" name="Text 31"/>
          <p:cNvSpPr/>
          <p:nvPr/>
        </p:nvSpPr>
        <p:spPr>
          <a:xfrm>
            <a:off x="9052560" y="4279392"/>
            <a:ext cx="224942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8A36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|t_real| = 1.5162 m</a:t>
            </a:r>
            <a:endParaRPr lang="en-US" sz="1600" dirty="0"/>
          </a:p>
        </p:txBody>
      </p:sp>
      <p:sp>
        <p:nvSpPr>
          <p:cNvPr id="36" name="Text 32"/>
          <p:cNvSpPr/>
          <p:nvPr/>
        </p:nvSpPr>
        <p:spPr>
          <a:xfrm>
            <a:off x="4526280" y="5779008"/>
            <a:ext cx="6903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20" b="1" dirty="0">
                <a:solidFill>
                  <a:srgbClr val="3941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这组结果证明“真实画面匹配—分解—消歧—尺度注入”已经跑通；定量精度仍以后续批量实验为准。</a:t>
            </a:r>
            <a:endParaRPr lang="en-US" sz="122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39728" y="656539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A8A8A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23</a:t>
            </a:fld>
            <a:endParaRPr lang="en-US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78992" y="256032"/>
            <a:ext cx="717804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阶段结果三：GPS 数据恢复与实验对组织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9555480" y="1005840"/>
            <a:ext cx="1874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80" b="1" dirty="0">
                <a:solidFill>
                  <a:srgbClr val="3941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研究内容与方案</a:t>
            </a:r>
            <a:endParaRPr lang="en-US" sz="880" dirty="0"/>
          </a:p>
        </p:txBody>
      </p:sp>
      <p:pic>
        <p:nvPicPr>
          <p:cNvPr id="4" name="Image 0" descr="/home/ehuy/ORBSLAM3-TrafficSign-Pose/landmarkslam/implement/data/test_pairs/pair_01_45/gps_trajector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8368" y="1298448"/>
            <a:ext cx="5257800" cy="3931920"/>
          </a:xfrm>
          <a:prstGeom prst="rect">
            <a:avLst/>
          </a:prstGeom>
        </p:spPr>
      </p:pic>
      <p:pic>
        <p:nvPicPr>
          <p:cNvPr id="5" name="Image 1" descr="/home/ehuy/ORBSLAM3-TrafficSign-Pose/landmarkslam/implement/data/test_pairs/pair_15_59/lsq_results/20260605_172512/trajectory_alignmen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72200" y="1298448"/>
            <a:ext cx="5330952" cy="3931920"/>
          </a:xfrm>
          <a:prstGeom prst="rect">
            <a:avLst/>
          </a:prstGeom>
        </p:spPr>
      </p:pic>
      <p:sp>
        <p:nvSpPr>
          <p:cNvPr id="6" name="Shape 2"/>
          <p:cNvSpPr/>
          <p:nvPr/>
        </p:nvSpPr>
        <p:spPr>
          <a:xfrm>
            <a:off x="1591056" y="5413248"/>
            <a:ext cx="3337560" cy="310896"/>
          </a:xfrm>
          <a:prstGeom prst="roundRect">
            <a:avLst>
              <a:gd name="adj" fmla="val 17647"/>
            </a:avLst>
          </a:prstGeom>
          <a:solidFill>
            <a:srgbClr val="EDF4FF"/>
          </a:solidFill>
          <a:ln w="12700">
            <a:solidFill>
              <a:srgbClr val="EDF4FF"/>
            </a:solidFill>
            <a:prstDash val="solid"/>
          </a:ln>
        </p:spPr>
      </p:sp>
      <p:sp>
        <p:nvSpPr>
          <p:cNvPr id="7" name="Text 3"/>
          <p:cNvSpPr/>
          <p:nvPr/>
        </p:nvSpPr>
        <p:spPr>
          <a:xfrm>
            <a:off x="1645920" y="5477256"/>
            <a:ext cx="322783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2367D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同一路段两次 GPS 局部轨迹</a:t>
            </a:r>
            <a:endParaRPr lang="en-US" sz="880" dirty="0"/>
          </a:p>
        </p:txBody>
      </p:sp>
      <p:sp>
        <p:nvSpPr>
          <p:cNvPr id="8" name="Shape 4"/>
          <p:cNvSpPr/>
          <p:nvPr/>
        </p:nvSpPr>
        <p:spPr>
          <a:xfrm>
            <a:off x="6903720" y="5413248"/>
            <a:ext cx="3886200" cy="310896"/>
          </a:xfrm>
          <a:prstGeom prst="roundRect">
            <a:avLst>
              <a:gd name="adj" fmla="val 17647"/>
            </a:avLst>
          </a:prstGeom>
          <a:solidFill>
            <a:srgbClr val="EAF8F5"/>
          </a:solidFill>
          <a:ln w="12700">
            <a:solidFill>
              <a:srgbClr val="EAF8F5"/>
            </a:solidFill>
            <a:prstDash val="solid"/>
          </a:ln>
        </p:spPr>
      </p:sp>
      <p:sp>
        <p:nvSpPr>
          <p:cNvPr id="9" name="Text 5"/>
          <p:cNvSpPr/>
          <p:nvPr/>
        </p:nvSpPr>
        <p:spPr>
          <a:xfrm>
            <a:off x="6958584" y="5477256"/>
            <a:ext cx="377647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12B8A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交通标志桥接后的 SLAM 轨迹可视化</a:t>
            </a:r>
            <a:endParaRPr lang="en-US" sz="880" dirty="0"/>
          </a:p>
        </p:txBody>
      </p:sp>
      <p:sp>
        <p:nvSpPr>
          <p:cNvPr id="10" name="Text 6"/>
          <p:cNvSpPr/>
          <p:nvPr/>
        </p:nvSpPr>
        <p:spPr>
          <a:xfrm>
            <a:off x="914400" y="5961888"/>
            <a:ext cx="10378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3941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已整理 9 组序列对及多次 LSQ/轨迹结果，为后续批量统计与消融实验提供数据基础。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39728" y="656539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A8A8A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24</a:t>
            </a:fld>
            <a:endParaRPr lang="en-US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481328" y="2697480"/>
            <a:ext cx="2084832" cy="1353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0" b="1" dirty="0">
                <a:solidFill>
                  <a:srgbClr val="39417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04</a:t>
            </a:r>
            <a:endParaRPr lang="en-US" sz="8200" dirty="0"/>
          </a:p>
        </p:txBody>
      </p:sp>
      <p:sp>
        <p:nvSpPr>
          <p:cNvPr id="3" name="Text 1"/>
          <p:cNvSpPr/>
          <p:nvPr/>
        </p:nvSpPr>
        <p:spPr>
          <a:xfrm>
            <a:off x="1481328" y="3383280"/>
            <a:ext cx="20848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39417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PART  FOUR</a:t>
            </a:r>
            <a:endParaRPr lang="en-US" sz="1900" dirty="0"/>
          </a:p>
        </p:txBody>
      </p:sp>
      <p:sp>
        <p:nvSpPr>
          <p:cNvPr id="4" name="Text 2"/>
          <p:cNvSpPr/>
          <p:nvPr/>
        </p:nvSpPr>
        <p:spPr>
          <a:xfrm>
            <a:off x="5166360" y="2788920"/>
            <a:ext cx="4754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研究进度与计划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4983480" y="3639312"/>
            <a:ext cx="5623560" cy="0"/>
          </a:xfrm>
          <a:prstGeom prst="line">
            <a:avLst/>
          </a:prstGeom>
          <a:noFill/>
          <a:ln w="15240">
            <a:solidFill>
              <a:srgbClr val="394179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533888" y="3575304"/>
            <a:ext cx="146304" cy="146304"/>
          </a:xfrm>
          <a:prstGeom prst="ellipse">
            <a:avLst/>
          </a:prstGeom>
          <a:solidFill>
            <a:srgbClr val="394179"/>
          </a:solidFill>
          <a:ln w="12700">
            <a:solidFill>
              <a:srgbClr val="39417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257800" y="4023360"/>
            <a:ext cx="5257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Research progress and plan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39728" y="656539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A8A8A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25</a:t>
            </a:fld>
            <a:endParaRPr lang="en-US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78992" y="256032"/>
            <a:ext cx="717804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研究进度：已经形成哪些可视、可追溯的结果？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9555480" y="1005840"/>
            <a:ext cx="1874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80" b="1" dirty="0">
                <a:solidFill>
                  <a:srgbClr val="3941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研究进度与计划</a:t>
            </a:r>
            <a:endParaRPr lang="en-US" sz="880" dirty="0"/>
          </a:p>
        </p:txBody>
      </p:sp>
      <p:sp>
        <p:nvSpPr>
          <p:cNvPr id="4" name="Shape 2"/>
          <p:cNvSpPr/>
          <p:nvPr/>
        </p:nvSpPr>
        <p:spPr>
          <a:xfrm>
            <a:off x="502920" y="1298448"/>
            <a:ext cx="3493008" cy="3145536"/>
          </a:xfrm>
          <a:prstGeom prst="roundRect">
            <a:avLst>
              <a:gd name="adj" fmla="val 1453"/>
            </a:avLst>
          </a:prstGeom>
          <a:solidFill>
            <a:srgbClr val="FFFFFF"/>
          </a:solidFill>
          <a:ln w="16510">
            <a:solidFill>
              <a:srgbClr val="18A36A"/>
            </a:solidFill>
            <a:prstDash val="solid"/>
          </a:ln>
        </p:spPr>
      </p:sp>
      <p:pic>
        <p:nvPicPr>
          <p:cNvPr id="5" name="Image 0" descr="/home/ehuy/ORBSLAM3-TrafficSign-Pose/landmarkslam/implement/data/test_pairs/full_gps/gps_trajectory_ful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12648" y="1426464"/>
            <a:ext cx="3273552" cy="166420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31520" y="3264408"/>
            <a:ext cx="30358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8A36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数据与真值链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813816" y="3675888"/>
            <a:ext cx="287121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30" dirty="0">
                <a:solidFill>
                  <a:srgbClr val="4D64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图像/IMU/RTK 同步采集</a:t>
            </a:r>
            <a:endParaRPr lang="en-US" sz="1030" dirty="0"/>
          </a:p>
          <a:p>
            <a:pPr algn="ctr" indent="0" marL="0">
              <a:buNone/>
            </a:pPr>
            <a:r>
              <a:rPr lang="en-US" sz="1030" dirty="0">
                <a:solidFill>
                  <a:srgbClr val="4D64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9 组 test_pairs 已整理</a:t>
            </a:r>
            <a:endParaRPr lang="en-US" sz="1030" dirty="0"/>
          </a:p>
        </p:txBody>
      </p:sp>
      <p:sp>
        <p:nvSpPr>
          <p:cNvPr id="8" name="Shape 5"/>
          <p:cNvSpPr/>
          <p:nvPr/>
        </p:nvSpPr>
        <p:spPr>
          <a:xfrm>
            <a:off x="4361688" y="1298448"/>
            <a:ext cx="3493008" cy="3145536"/>
          </a:xfrm>
          <a:prstGeom prst="roundRect">
            <a:avLst>
              <a:gd name="adj" fmla="val 1453"/>
            </a:avLst>
          </a:prstGeom>
          <a:solidFill>
            <a:srgbClr val="FFFFFF"/>
          </a:solidFill>
          <a:ln w="16510">
            <a:solidFill>
              <a:srgbClr val="12B8A6"/>
            </a:solidFill>
            <a:prstDash val="solid"/>
          </a:ln>
        </p:spPr>
      </p:sp>
      <p:pic>
        <p:nvPicPr>
          <p:cNvPr id="9" name="Image 1" descr="/home/ehuy/ORBSLAM3-TrafficSign-Pose/landmarkslam/implement/data/test_pairs/pair_01_45/lsq_results/lsq_resul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71416" y="1426464"/>
            <a:ext cx="3273552" cy="1664208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4590288" y="3264408"/>
            <a:ext cx="30358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2B8A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核心几何链路</a:t>
            </a:r>
            <a:endParaRPr lang="en-US" sz="1300" dirty="0"/>
          </a:p>
        </p:txBody>
      </p:sp>
      <p:sp>
        <p:nvSpPr>
          <p:cNvPr id="11" name="Text 7"/>
          <p:cNvSpPr/>
          <p:nvPr/>
        </p:nvSpPr>
        <p:spPr>
          <a:xfrm>
            <a:off x="4672584" y="3675888"/>
            <a:ext cx="287121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30" dirty="0">
                <a:solidFill>
                  <a:srgbClr val="4D64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Looming + H + 结构消歧</a:t>
            </a:r>
            <a:endParaRPr lang="en-US" sz="1030" dirty="0"/>
          </a:p>
          <a:p>
            <a:pPr algn="ctr" indent="0" marL="0">
              <a:buNone/>
            </a:pPr>
            <a:r>
              <a:rPr lang="en-US" sz="1030" dirty="0">
                <a:solidFill>
                  <a:srgbClr val="4D64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单组结果已跑通</a:t>
            </a:r>
            <a:endParaRPr lang="en-US" sz="1030" dirty="0"/>
          </a:p>
        </p:txBody>
      </p:sp>
      <p:sp>
        <p:nvSpPr>
          <p:cNvPr id="12" name="Shape 8"/>
          <p:cNvSpPr/>
          <p:nvPr/>
        </p:nvSpPr>
        <p:spPr>
          <a:xfrm>
            <a:off x="8220456" y="1298448"/>
            <a:ext cx="3493008" cy="3145536"/>
          </a:xfrm>
          <a:prstGeom prst="roundRect">
            <a:avLst>
              <a:gd name="adj" fmla="val 1453"/>
            </a:avLst>
          </a:prstGeom>
          <a:solidFill>
            <a:srgbClr val="FFFFFF"/>
          </a:solidFill>
          <a:ln w="16510">
            <a:solidFill>
              <a:srgbClr val="2367D1"/>
            </a:solidFill>
            <a:prstDash val="solid"/>
          </a:ln>
        </p:spPr>
      </p:sp>
      <p:pic>
        <p:nvPicPr>
          <p:cNvPr id="13" name="Image 2" descr="/home/ehuy/ORBSLAM3-TrafficSign-Pose/landmarkslam/implement/data/test_pairs/pair_15_59/lsq_results/20260605_172512/trajectory_alignment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30184" y="1426464"/>
            <a:ext cx="3273552" cy="1664208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8449056" y="3264408"/>
            <a:ext cx="30358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367D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轨迹与位置验证</a:t>
            </a:r>
            <a:endParaRPr lang="en-US" sz="1300" dirty="0"/>
          </a:p>
        </p:txBody>
      </p:sp>
      <p:sp>
        <p:nvSpPr>
          <p:cNvPr id="15" name="Text 10"/>
          <p:cNvSpPr/>
          <p:nvPr/>
        </p:nvSpPr>
        <p:spPr>
          <a:xfrm>
            <a:off x="8531352" y="3675888"/>
            <a:ext cx="287121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30" dirty="0">
                <a:solidFill>
                  <a:srgbClr val="4D64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ORB-SLAM3 轨迹已生成</a:t>
            </a:r>
            <a:endParaRPr lang="en-US" sz="1030" dirty="0"/>
          </a:p>
          <a:p>
            <a:pPr algn="ctr" indent="0" marL="0">
              <a:buNone/>
            </a:pPr>
            <a:r>
              <a:rPr lang="en-US" sz="1030" dirty="0">
                <a:solidFill>
                  <a:srgbClr val="4D64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GPS/SLAM 方向链复核中</a:t>
            </a:r>
            <a:endParaRPr lang="en-US" sz="1030" dirty="0"/>
          </a:p>
        </p:txBody>
      </p:sp>
      <p:sp>
        <p:nvSpPr>
          <p:cNvPr id="16" name="Shape 11"/>
          <p:cNvSpPr/>
          <p:nvPr/>
        </p:nvSpPr>
        <p:spPr>
          <a:xfrm>
            <a:off x="658368" y="4736592"/>
            <a:ext cx="3273552" cy="1024128"/>
          </a:xfrm>
          <a:prstGeom prst="roundRect">
            <a:avLst>
              <a:gd name="adj" fmla="val 4464"/>
            </a:avLst>
          </a:prstGeom>
          <a:solidFill>
            <a:srgbClr val="FFF1F1"/>
          </a:solidFill>
          <a:ln w="12700">
            <a:solidFill>
              <a:srgbClr val="F2B9B9"/>
            </a:solidFill>
            <a:prstDash val="solid"/>
          </a:ln>
        </p:spPr>
      </p:sp>
      <p:sp>
        <p:nvSpPr>
          <p:cNvPr id="17" name="Text 12"/>
          <p:cNvSpPr/>
          <p:nvPr/>
        </p:nvSpPr>
        <p:spPr>
          <a:xfrm>
            <a:off x="896112" y="4956048"/>
            <a:ext cx="960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E5535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近期先做</a:t>
            </a:r>
            <a:endParaRPr lang="en-US" sz="1250" dirty="0"/>
          </a:p>
        </p:txBody>
      </p:sp>
      <p:sp>
        <p:nvSpPr>
          <p:cNvPr id="18" name="Text 13"/>
          <p:cNvSpPr/>
          <p:nvPr/>
        </p:nvSpPr>
        <p:spPr>
          <a:xfrm>
            <a:off x="1847088" y="4946904"/>
            <a:ext cx="18470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3941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复核 GPS/SLAM 真值链</a:t>
            </a:r>
            <a:endParaRPr lang="en-US" sz="1150" dirty="0"/>
          </a:p>
        </p:txBody>
      </p:sp>
      <p:sp>
        <p:nvSpPr>
          <p:cNvPr id="19" name="Shape 14"/>
          <p:cNvSpPr/>
          <p:nvPr/>
        </p:nvSpPr>
        <p:spPr>
          <a:xfrm>
            <a:off x="4078224" y="5248656"/>
            <a:ext cx="585216" cy="0"/>
          </a:xfrm>
          <a:prstGeom prst="line">
            <a:avLst/>
          </a:prstGeom>
          <a:noFill/>
          <a:ln w="33020">
            <a:solidFill>
              <a:srgbClr val="F59E0B"/>
            </a:solidFill>
            <a:prstDash val="solid"/>
            <a:headEnd type="none"/>
            <a:tailEnd type="triangle"/>
          </a:ln>
        </p:spPr>
      </p:sp>
      <p:sp>
        <p:nvSpPr>
          <p:cNvPr id="20" name="Shape 15"/>
          <p:cNvSpPr/>
          <p:nvPr/>
        </p:nvSpPr>
        <p:spPr>
          <a:xfrm>
            <a:off x="4773168" y="4736592"/>
            <a:ext cx="3273552" cy="1024128"/>
          </a:xfrm>
          <a:prstGeom prst="roundRect">
            <a:avLst>
              <a:gd name="adj" fmla="val 4464"/>
            </a:avLst>
          </a:prstGeom>
          <a:solidFill>
            <a:srgbClr val="FFF7E8"/>
          </a:solidFill>
          <a:ln w="12700">
            <a:solidFill>
              <a:srgbClr val="F2D9A4"/>
            </a:solidFill>
            <a:prstDash val="solid"/>
          </a:ln>
        </p:spPr>
      </p:sp>
      <p:sp>
        <p:nvSpPr>
          <p:cNvPr id="21" name="Text 16"/>
          <p:cNvSpPr/>
          <p:nvPr/>
        </p:nvSpPr>
        <p:spPr>
          <a:xfrm>
            <a:off x="5010912" y="4956048"/>
            <a:ext cx="1051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59E0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然后完成</a:t>
            </a:r>
            <a:endParaRPr lang="en-US" sz="1250" dirty="0"/>
          </a:p>
        </p:txBody>
      </p:sp>
      <p:sp>
        <p:nvSpPr>
          <p:cNvPr id="22" name="Text 17"/>
          <p:cNvSpPr/>
          <p:nvPr/>
        </p:nvSpPr>
        <p:spPr>
          <a:xfrm>
            <a:off x="6044184" y="4946904"/>
            <a:ext cx="1764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3941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批量统计 + 基线 + 消融</a:t>
            </a:r>
            <a:endParaRPr lang="en-US" sz="1150" dirty="0"/>
          </a:p>
        </p:txBody>
      </p:sp>
      <p:sp>
        <p:nvSpPr>
          <p:cNvPr id="23" name="Shape 18"/>
          <p:cNvSpPr/>
          <p:nvPr/>
        </p:nvSpPr>
        <p:spPr>
          <a:xfrm>
            <a:off x="8193024" y="5248656"/>
            <a:ext cx="585216" cy="0"/>
          </a:xfrm>
          <a:prstGeom prst="line">
            <a:avLst/>
          </a:prstGeom>
          <a:noFill/>
          <a:ln w="33020">
            <a:solidFill>
              <a:srgbClr val="7657D5"/>
            </a:solidFill>
            <a:prstDash val="solid"/>
            <a:headEnd type="none"/>
            <a:tailEnd type="triangle"/>
          </a:ln>
        </p:spPr>
      </p:sp>
      <p:sp>
        <p:nvSpPr>
          <p:cNvPr id="24" name="Shape 19"/>
          <p:cNvSpPr/>
          <p:nvPr/>
        </p:nvSpPr>
        <p:spPr>
          <a:xfrm>
            <a:off x="8887968" y="4736592"/>
            <a:ext cx="2651760" cy="1024128"/>
          </a:xfrm>
          <a:prstGeom prst="roundRect">
            <a:avLst>
              <a:gd name="adj" fmla="val 4464"/>
            </a:avLst>
          </a:prstGeom>
          <a:solidFill>
            <a:srgbClr val="F3EFFF"/>
          </a:solidFill>
          <a:ln w="12700">
            <a:solidFill>
              <a:srgbClr val="CFC2F3"/>
            </a:solidFill>
            <a:prstDash val="solid"/>
          </a:ln>
        </p:spPr>
      </p:sp>
      <p:sp>
        <p:nvSpPr>
          <p:cNvPr id="25" name="Text 20"/>
          <p:cNvSpPr/>
          <p:nvPr/>
        </p:nvSpPr>
        <p:spPr>
          <a:xfrm>
            <a:off x="9107424" y="4956048"/>
            <a:ext cx="93268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7657D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同步进行</a:t>
            </a:r>
            <a:endParaRPr lang="en-US" sz="1250" dirty="0"/>
          </a:p>
        </p:txBody>
      </p:sp>
      <p:sp>
        <p:nvSpPr>
          <p:cNvPr id="26" name="Text 21"/>
          <p:cNvSpPr/>
          <p:nvPr/>
        </p:nvSpPr>
        <p:spPr>
          <a:xfrm>
            <a:off x="9985248" y="4946904"/>
            <a:ext cx="13350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80" b="1" dirty="0">
                <a:solidFill>
                  <a:srgbClr val="3941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论文撰写与图表统一</a:t>
            </a:r>
            <a:endParaRPr lang="en-US" sz="1080" dirty="0"/>
          </a:p>
        </p:txBody>
      </p:sp>
      <p:sp>
        <p:nvSpPr>
          <p:cNvPr id="27" name="Text 22"/>
          <p:cNvSpPr/>
          <p:nvPr/>
        </p:nvSpPr>
        <p:spPr>
          <a:xfrm>
            <a:off x="1078992" y="5961888"/>
            <a:ext cx="100401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3941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进度不再只用百分比表示：每一项已完成工作都对应一类实际图像、轨迹或可追溯结果。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39728" y="656539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A8A8A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26</a:t>
            </a:fld>
            <a:endParaRPr lang="en-US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481328" y="2697480"/>
            <a:ext cx="2084832" cy="1353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0" b="1" dirty="0">
                <a:solidFill>
                  <a:srgbClr val="39417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05</a:t>
            </a:r>
            <a:endParaRPr lang="en-US" sz="8200" dirty="0"/>
          </a:p>
        </p:txBody>
      </p:sp>
      <p:sp>
        <p:nvSpPr>
          <p:cNvPr id="3" name="Text 1"/>
          <p:cNvSpPr/>
          <p:nvPr/>
        </p:nvSpPr>
        <p:spPr>
          <a:xfrm>
            <a:off x="1481328" y="3383280"/>
            <a:ext cx="20848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39417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PART  FIVE</a:t>
            </a:r>
            <a:endParaRPr lang="en-US" sz="1900" dirty="0"/>
          </a:p>
        </p:txBody>
      </p:sp>
      <p:sp>
        <p:nvSpPr>
          <p:cNvPr id="4" name="Text 2"/>
          <p:cNvSpPr/>
          <p:nvPr/>
        </p:nvSpPr>
        <p:spPr>
          <a:xfrm>
            <a:off x="5166360" y="2788920"/>
            <a:ext cx="4754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论文框架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4983480" y="3639312"/>
            <a:ext cx="5623560" cy="0"/>
          </a:xfrm>
          <a:prstGeom prst="line">
            <a:avLst/>
          </a:prstGeom>
          <a:noFill/>
          <a:ln w="15240">
            <a:solidFill>
              <a:srgbClr val="394179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533888" y="3575304"/>
            <a:ext cx="146304" cy="146304"/>
          </a:xfrm>
          <a:prstGeom prst="ellipse">
            <a:avLst/>
          </a:prstGeom>
          <a:solidFill>
            <a:srgbClr val="394179"/>
          </a:solidFill>
          <a:ln w="12700">
            <a:solidFill>
              <a:srgbClr val="39417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257800" y="4023360"/>
            <a:ext cx="5257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Thesis framework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39728" y="656539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A8A8A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27</a:t>
            </a:fld>
            <a:endParaRPr lang="en-US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78992" y="256032"/>
            <a:ext cx="717804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论文整体结构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9555480" y="1005840"/>
            <a:ext cx="1874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80" b="1" dirty="0">
                <a:solidFill>
                  <a:srgbClr val="3941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论文框架</a:t>
            </a:r>
            <a:endParaRPr lang="en-US" sz="880" dirty="0"/>
          </a:p>
        </p:txBody>
      </p:sp>
      <p:sp>
        <p:nvSpPr>
          <p:cNvPr id="4" name="Shape 2"/>
          <p:cNvSpPr/>
          <p:nvPr/>
        </p:nvSpPr>
        <p:spPr>
          <a:xfrm>
            <a:off x="804672" y="1261872"/>
            <a:ext cx="1188720" cy="658368"/>
          </a:xfrm>
          <a:prstGeom prst="roundRect">
            <a:avLst>
              <a:gd name="adj" fmla="val 6944"/>
            </a:avLst>
          </a:prstGeom>
          <a:solidFill>
            <a:srgbClr val="E55353"/>
          </a:solidFill>
          <a:ln w="12700">
            <a:solidFill>
              <a:srgbClr val="E5535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96112" y="1463040"/>
            <a:ext cx="1005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第一章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2029968" y="1591056"/>
            <a:ext cx="548640" cy="0"/>
          </a:xfrm>
          <a:prstGeom prst="line">
            <a:avLst/>
          </a:prstGeom>
          <a:noFill/>
          <a:ln w="27940">
            <a:solidFill>
              <a:srgbClr val="E55353"/>
            </a:solidFill>
            <a:prstDash val="solid"/>
            <a:headEnd type="none"/>
            <a:tailEnd type="triangle"/>
          </a:ln>
        </p:spPr>
      </p:sp>
      <p:sp>
        <p:nvSpPr>
          <p:cNvPr id="7" name="Shape 5"/>
          <p:cNvSpPr/>
          <p:nvPr/>
        </p:nvSpPr>
        <p:spPr>
          <a:xfrm>
            <a:off x="2651760" y="1261872"/>
            <a:ext cx="3063240" cy="658368"/>
          </a:xfrm>
          <a:prstGeom prst="roundRect">
            <a:avLst>
              <a:gd name="adj" fmla="val 6944"/>
            </a:avLst>
          </a:prstGeom>
          <a:solidFill>
            <a:srgbClr val="FFFFFF"/>
          </a:solidFill>
          <a:ln w="17780">
            <a:solidFill>
              <a:srgbClr val="E5535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852928" y="1444752"/>
            <a:ext cx="26700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3941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绪论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760720" y="1591056"/>
            <a:ext cx="566928" cy="0"/>
          </a:xfrm>
          <a:prstGeom prst="line">
            <a:avLst/>
          </a:prstGeom>
          <a:noFill/>
          <a:ln w="27940">
            <a:solidFill>
              <a:srgbClr val="E55353"/>
            </a:solidFill>
            <a:prstDash val="solid"/>
            <a:headEnd type="none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6400800" y="1261872"/>
            <a:ext cx="4864608" cy="658368"/>
          </a:xfrm>
          <a:prstGeom prst="roundRect">
            <a:avLst>
              <a:gd name="adj" fmla="val 6944"/>
            </a:avLst>
          </a:prstGeom>
          <a:solidFill>
            <a:srgbClr val="F4F7FA"/>
          </a:solidFill>
          <a:ln w="12700">
            <a:solidFill>
              <a:srgbClr val="D8E2E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601968" y="1444752"/>
            <a:ext cx="44622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30" dirty="0">
                <a:solidFill>
                  <a:srgbClr val="4D64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背景、现状、问题与贡献</a:t>
            </a:r>
            <a:endParaRPr lang="en-US" sz="1130" dirty="0"/>
          </a:p>
        </p:txBody>
      </p:sp>
      <p:sp>
        <p:nvSpPr>
          <p:cNvPr id="12" name="Shape 10"/>
          <p:cNvSpPr/>
          <p:nvPr/>
        </p:nvSpPr>
        <p:spPr>
          <a:xfrm>
            <a:off x="804672" y="2194560"/>
            <a:ext cx="1188720" cy="658368"/>
          </a:xfrm>
          <a:prstGeom prst="roundRect">
            <a:avLst>
              <a:gd name="adj" fmla="val 6944"/>
            </a:avLst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96112" y="2395728"/>
            <a:ext cx="1005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第二章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2029968" y="2523744"/>
            <a:ext cx="548640" cy="0"/>
          </a:xfrm>
          <a:prstGeom prst="line">
            <a:avLst/>
          </a:prstGeom>
          <a:noFill/>
          <a:ln w="27940">
            <a:solidFill>
              <a:srgbClr val="F59E0B"/>
            </a:solidFill>
            <a:prstDash val="solid"/>
            <a:headEnd type="none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2651760" y="2194560"/>
            <a:ext cx="3063240" cy="658368"/>
          </a:xfrm>
          <a:prstGeom prst="roundRect">
            <a:avLst>
              <a:gd name="adj" fmla="val 6944"/>
            </a:avLst>
          </a:prstGeom>
          <a:solidFill>
            <a:srgbClr val="FFFFFF"/>
          </a:solidFill>
          <a:ln w="17780">
            <a:solidFill>
              <a:srgbClr val="F59E0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852928" y="2377440"/>
            <a:ext cx="26700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3941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理论与系统基础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5760720" y="2523744"/>
            <a:ext cx="566928" cy="0"/>
          </a:xfrm>
          <a:prstGeom prst="line">
            <a:avLst/>
          </a:prstGeom>
          <a:noFill/>
          <a:ln w="27940">
            <a:solidFill>
              <a:srgbClr val="F59E0B"/>
            </a:solidFill>
            <a:prstDash val="solid"/>
            <a:headEnd type="none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6400800" y="2194560"/>
            <a:ext cx="4864608" cy="658368"/>
          </a:xfrm>
          <a:prstGeom prst="roundRect">
            <a:avLst>
              <a:gd name="adj" fmla="val 6944"/>
            </a:avLst>
          </a:prstGeom>
          <a:solidFill>
            <a:srgbClr val="F4F7FA"/>
          </a:solidFill>
          <a:ln w="12700">
            <a:solidFill>
              <a:srgbClr val="D8E2E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601968" y="2377440"/>
            <a:ext cx="44622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30" dirty="0">
                <a:solidFill>
                  <a:srgbClr val="4D64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视觉几何、SLAM、Looming、单应性</a:t>
            </a:r>
            <a:endParaRPr lang="en-US" sz="1130" dirty="0"/>
          </a:p>
        </p:txBody>
      </p:sp>
      <p:sp>
        <p:nvSpPr>
          <p:cNvPr id="20" name="Shape 18"/>
          <p:cNvSpPr/>
          <p:nvPr/>
        </p:nvSpPr>
        <p:spPr>
          <a:xfrm>
            <a:off x="804672" y="3127248"/>
            <a:ext cx="1188720" cy="658368"/>
          </a:xfrm>
          <a:prstGeom prst="roundRect">
            <a:avLst>
              <a:gd name="adj" fmla="val 6944"/>
            </a:avLst>
          </a:prstGeom>
          <a:solidFill>
            <a:srgbClr val="2367D1"/>
          </a:solidFill>
          <a:ln w="12700">
            <a:solidFill>
              <a:srgbClr val="2367D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96112" y="3328416"/>
            <a:ext cx="1005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第三章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2029968" y="3456432"/>
            <a:ext cx="548640" cy="0"/>
          </a:xfrm>
          <a:prstGeom prst="line">
            <a:avLst/>
          </a:prstGeom>
          <a:noFill/>
          <a:ln w="27940">
            <a:solidFill>
              <a:srgbClr val="2367D1"/>
            </a:solidFill>
            <a:prstDash val="solid"/>
            <a:headEnd type="none"/>
            <a:tailEnd type="triangle"/>
          </a:ln>
        </p:spPr>
      </p:sp>
      <p:sp>
        <p:nvSpPr>
          <p:cNvPr id="23" name="Shape 21"/>
          <p:cNvSpPr/>
          <p:nvPr/>
        </p:nvSpPr>
        <p:spPr>
          <a:xfrm>
            <a:off x="2651760" y="3127248"/>
            <a:ext cx="3063240" cy="658368"/>
          </a:xfrm>
          <a:prstGeom prst="roundRect">
            <a:avLst>
              <a:gd name="adj" fmla="val 6944"/>
            </a:avLst>
          </a:prstGeom>
          <a:solidFill>
            <a:srgbClr val="FFFFFF"/>
          </a:solidFill>
          <a:ln w="17780">
            <a:solidFill>
              <a:srgbClr val="2367D1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852928" y="3310128"/>
            <a:ext cx="26700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3941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交通标志度量相对位姿估计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5760720" y="3456432"/>
            <a:ext cx="566928" cy="0"/>
          </a:xfrm>
          <a:prstGeom prst="line">
            <a:avLst/>
          </a:prstGeom>
          <a:noFill/>
          <a:ln w="27940">
            <a:solidFill>
              <a:srgbClr val="2367D1"/>
            </a:solidFill>
            <a:prstDash val="solid"/>
            <a:headEnd type="none"/>
            <a:tailEnd type="triangle"/>
          </a:ln>
        </p:spPr>
      </p:sp>
      <p:sp>
        <p:nvSpPr>
          <p:cNvPr id="26" name="Shape 24"/>
          <p:cNvSpPr/>
          <p:nvPr/>
        </p:nvSpPr>
        <p:spPr>
          <a:xfrm>
            <a:off x="6400800" y="3127248"/>
            <a:ext cx="4864608" cy="658368"/>
          </a:xfrm>
          <a:prstGeom prst="roundRect">
            <a:avLst>
              <a:gd name="adj" fmla="val 6944"/>
            </a:avLst>
          </a:prstGeom>
          <a:solidFill>
            <a:srgbClr val="F2EEFF"/>
          </a:solidFill>
          <a:ln w="12700">
            <a:solidFill>
              <a:srgbClr val="D8E2EC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601968" y="3310128"/>
            <a:ext cx="44622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30" b="1" dirty="0">
                <a:solidFill>
                  <a:srgbClr val="7657D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尺度锚定、结构消歧、米制位姿</a:t>
            </a:r>
            <a:endParaRPr lang="en-US" sz="1130" dirty="0"/>
          </a:p>
        </p:txBody>
      </p:sp>
      <p:sp>
        <p:nvSpPr>
          <p:cNvPr id="28" name="Shape 26"/>
          <p:cNvSpPr/>
          <p:nvPr/>
        </p:nvSpPr>
        <p:spPr>
          <a:xfrm>
            <a:off x="804672" y="4059936"/>
            <a:ext cx="1188720" cy="658368"/>
          </a:xfrm>
          <a:prstGeom prst="roundRect">
            <a:avLst>
              <a:gd name="adj" fmla="val 6944"/>
            </a:avLst>
          </a:prstGeom>
          <a:solidFill>
            <a:srgbClr val="12B8A6"/>
          </a:solidFill>
          <a:ln w="12700">
            <a:solidFill>
              <a:srgbClr val="12B8A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96112" y="4261104"/>
            <a:ext cx="1005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第四章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2029968" y="4389120"/>
            <a:ext cx="548640" cy="0"/>
          </a:xfrm>
          <a:prstGeom prst="line">
            <a:avLst/>
          </a:prstGeom>
          <a:noFill/>
          <a:ln w="27940">
            <a:solidFill>
              <a:srgbClr val="12B8A6"/>
            </a:solidFill>
            <a:prstDash val="solid"/>
            <a:headEnd type="none"/>
            <a:tailEnd type="triangle"/>
          </a:ln>
        </p:spPr>
      </p:sp>
      <p:sp>
        <p:nvSpPr>
          <p:cNvPr id="31" name="Shape 29"/>
          <p:cNvSpPr/>
          <p:nvPr/>
        </p:nvSpPr>
        <p:spPr>
          <a:xfrm>
            <a:off x="2651760" y="4059936"/>
            <a:ext cx="3063240" cy="658368"/>
          </a:xfrm>
          <a:prstGeom prst="roundRect">
            <a:avLst>
              <a:gd name="adj" fmla="val 6944"/>
            </a:avLst>
          </a:prstGeom>
          <a:solidFill>
            <a:srgbClr val="FFFFFF"/>
          </a:solidFill>
          <a:ln w="17780">
            <a:solidFill>
              <a:srgbClr val="12B8A6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2852928" y="4242816"/>
            <a:ext cx="26700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3941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跨天气重定位系统与实验</a:t>
            </a:r>
            <a:endParaRPr lang="en-US" sz="1300" dirty="0"/>
          </a:p>
        </p:txBody>
      </p:sp>
      <p:sp>
        <p:nvSpPr>
          <p:cNvPr id="33" name="Shape 31"/>
          <p:cNvSpPr/>
          <p:nvPr/>
        </p:nvSpPr>
        <p:spPr>
          <a:xfrm>
            <a:off x="5760720" y="4389120"/>
            <a:ext cx="566928" cy="0"/>
          </a:xfrm>
          <a:prstGeom prst="line">
            <a:avLst/>
          </a:prstGeom>
          <a:noFill/>
          <a:ln w="27940">
            <a:solidFill>
              <a:srgbClr val="12B8A6"/>
            </a:solidFill>
            <a:prstDash val="solid"/>
            <a:headEnd type="none"/>
            <a:tailEnd type="triangle"/>
          </a:ln>
        </p:spPr>
      </p:sp>
      <p:sp>
        <p:nvSpPr>
          <p:cNvPr id="34" name="Shape 32"/>
          <p:cNvSpPr/>
          <p:nvPr/>
        </p:nvSpPr>
        <p:spPr>
          <a:xfrm>
            <a:off x="6400800" y="4059936"/>
            <a:ext cx="4864608" cy="658368"/>
          </a:xfrm>
          <a:prstGeom prst="roundRect">
            <a:avLst>
              <a:gd name="adj" fmla="val 6944"/>
            </a:avLst>
          </a:prstGeom>
          <a:solidFill>
            <a:srgbClr val="F2EEFF"/>
          </a:solidFill>
          <a:ln w="12700">
            <a:solidFill>
              <a:srgbClr val="D8E2EC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601968" y="4242816"/>
            <a:ext cx="44622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30" b="1" dirty="0">
                <a:solidFill>
                  <a:srgbClr val="7657D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采集同步、位置推算、对比与消融</a:t>
            </a:r>
            <a:endParaRPr lang="en-US" sz="1130" dirty="0"/>
          </a:p>
        </p:txBody>
      </p:sp>
      <p:sp>
        <p:nvSpPr>
          <p:cNvPr id="36" name="Shape 34"/>
          <p:cNvSpPr/>
          <p:nvPr/>
        </p:nvSpPr>
        <p:spPr>
          <a:xfrm>
            <a:off x="804672" y="4992624"/>
            <a:ext cx="1188720" cy="658368"/>
          </a:xfrm>
          <a:prstGeom prst="roundRect">
            <a:avLst>
              <a:gd name="adj" fmla="val 6944"/>
            </a:avLst>
          </a:prstGeom>
          <a:solidFill>
            <a:srgbClr val="7657D5"/>
          </a:solidFill>
          <a:ln w="12700">
            <a:solidFill>
              <a:srgbClr val="7657D5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896112" y="5193792"/>
            <a:ext cx="1005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第五章</a:t>
            </a:r>
            <a:endParaRPr lang="en-US" sz="1200" dirty="0"/>
          </a:p>
        </p:txBody>
      </p:sp>
      <p:sp>
        <p:nvSpPr>
          <p:cNvPr id="38" name="Shape 36"/>
          <p:cNvSpPr/>
          <p:nvPr/>
        </p:nvSpPr>
        <p:spPr>
          <a:xfrm>
            <a:off x="2029968" y="5321808"/>
            <a:ext cx="548640" cy="0"/>
          </a:xfrm>
          <a:prstGeom prst="line">
            <a:avLst/>
          </a:prstGeom>
          <a:noFill/>
          <a:ln w="27940">
            <a:solidFill>
              <a:srgbClr val="7657D5"/>
            </a:solidFill>
            <a:prstDash val="solid"/>
            <a:headEnd type="none"/>
            <a:tailEnd type="triangle"/>
          </a:ln>
        </p:spPr>
      </p:sp>
      <p:sp>
        <p:nvSpPr>
          <p:cNvPr id="39" name="Shape 37"/>
          <p:cNvSpPr/>
          <p:nvPr/>
        </p:nvSpPr>
        <p:spPr>
          <a:xfrm>
            <a:off x="2651760" y="4992624"/>
            <a:ext cx="3063240" cy="658368"/>
          </a:xfrm>
          <a:prstGeom prst="roundRect">
            <a:avLst>
              <a:gd name="adj" fmla="val 6944"/>
            </a:avLst>
          </a:prstGeom>
          <a:solidFill>
            <a:srgbClr val="FFFFFF"/>
          </a:solidFill>
          <a:ln w="17780">
            <a:solidFill>
              <a:srgbClr val="7657D5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2852928" y="5175504"/>
            <a:ext cx="26700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3941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总结与展望</a:t>
            </a:r>
            <a:endParaRPr lang="en-US" sz="1300" dirty="0"/>
          </a:p>
        </p:txBody>
      </p:sp>
      <p:sp>
        <p:nvSpPr>
          <p:cNvPr id="41" name="Shape 39"/>
          <p:cNvSpPr/>
          <p:nvPr/>
        </p:nvSpPr>
        <p:spPr>
          <a:xfrm>
            <a:off x="5760720" y="5321808"/>
            <a:ext cx="566928" cy="0"/>
          </a:xfrm>
          <a:prstGeom prst="line">
            <a:avLst/>
          </a:prstGeom>
          <a:noFill/>
          <a:ln w="27940">
            <a:solidFill>
              <a:srgbClr val="7657D5"/>
            </a:solidFill>
            <a:prstDash val="solid"/>
            <a:headEnd type="none"/>
            <a:tailEnd type="triangle"/>
          </a:ln>
        </p:spPr>
      </p:sp>
      <p:sp>
        <p:nvSpPr>
          <p:cNvPr id="42" name="Shape 40"/>
          <p:cNvSpPr/>
          <p:nvPr/>
        </p:nvSpPr>
        <p:spPr>
          <a:xfrm>
            <a:off x="6400800" y="4992624"/>
            <a:ext cx="4864608" cy="658368"/>
          </a:xfrm>
          <a:prstGeom prst="roundRect">
            <a:avLst>
              <a:gd name="adj" fmla="val 6944"/>
            </a:avLst>
          </a:prstGeom>
          <a:solidFill>
            <a:srgbClr val="F4F7FA"/>
          </a:solidFill>
          <a:ln w="12700">
            <a:solidFill>
              <a:srgbClr val="D8E2EC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601968" y="5175504"/>
            <a:ext cx="44622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30" dirty="0">
                <a:solidFill>
                  <a:srgbClr val="4D64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结论、适用边界与后续工作</a:t>
            </a:r>
            <a:endParaRPr lang="en-US" sz="1130" dirty="0"/>
          </a:p>
        </p:txBody>
      </p:sp>
      <p:sp>
        <p:nvSpPr>
          <p:cNvPr id="44" name="Text 42"/>
          <p:cNvSpPr/>
          <p:nvPr/>
        </p:nvSpPr>
        <p:spPr>
          <a:xfrm>
            <a:off x="6565392" y="5925312"/>
            <a:ext cx="1463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7657D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论文核心两章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8065008" y="6025896"/>
            <a:ext cx="2331720" cy="0"/>
          </a:xfrm>
          <a:prstGeom prst="line">
            <a:avLst/>
          </a:prstGeom>
          <a:noFill/>
          <a:ln w="38100">
            <a:solidFill>
              <a:srgbClr val="7657D5"/>
            </a:solidFill>
            <a:prstDash val="solid"/>
          </a:ln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39728" y="656539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A8A8A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28</a:t>
            </a:fld>
            <a:endParaRPr lang="en-US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481328" y="2697480"/>
            <a:ext cx="2084832" cy="1353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0" b="1" dirty="0">
                <a:solidFill>
                  <a:srgbClr val="39417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06</a:t>
            </a:r>
            <a:endParaRPr lang="en-US" sz="8200" dirty="0"/>
          </a:p>
        </p:txBody>
      </p:sp>
      <p:sp>
        <p:nvSpPr>
          <p:cNvPr id="3" name="Text 1"/>
          <p:cNvSpPr/>
          <p:nvPr/>
        </p:nvSpPr>
        <p:spPr>
          <a:xfrm>
            <a:off x="1481328" y="3383280"/>
            <a:ext cx="20848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39417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PART  SIX</a:t>
            </a:r>
            <a:endParaRPr lang="en-US" sz="1900" dirty="0"/>
          </a:p>
        </p:txBody>
      </p:sp>
      <p:sp>
        <p:nvSpPr>
          <p:cNvPr id="4" name="Text 2"/>
          <p:cNvSpPr/>
          <p:nvPr/>
        </p:nvSpPr>
        <p:spPr>
          <a:xfrm>
            <a:off x="5166360" y="2788920"/>
            <a:ext cx="4754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主要参考文献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4983480" y="3639312"/>
            <a:ext cx="5623560" cy="0"/>
          </a:xfrm>
          <a:prstGeom prst="line">
            <a:avLst/>
          </a:prstGeom>
          <a:noFill/>
          <a:ln w="15240">
            <a:solidFill>
              <a:srgbClr val="394179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533888" y="3575304"/>
            <a:ext cx="146304" cy="146304"/>
          </a:xfrm>
          <a:prstGeom prst="ellipse">
            <a:avLst/>
          </a:prstGeom>
          <a:solidFill>
            <a:srgbClr val="394179"/>
          </a:solidFill>
          <a:ln w="12700">
            <a:solidFill>
              <a:srgbClr val="39417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257800" y="4023360"/>
            <a:ext cx="5257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References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39728" y="656539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A8A8A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29</a:t>
            </a:fld>
            <a:endParaRPr lang="en-US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78992" y="256032"/>
            <a:ext cx="717804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主要参考文献与相关工作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9555480" y="1005840"/>
            <a:ext cx="1874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80" b="1" dirty="0">
                <a:solidFill>
                  <a:srgbClr val="3941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主要参考文献</a:t>
            </a:r>
            <a:endParaRPr lang="en-US" sz="880" dirty="0"/>
          </a:p>
        </p:txBody>
      </p:sp>
      <p:sp>
        <p:nvSpPr>
          <p:cNvPr id="4" name="Shape 2"/>
          <p:cNvSpPr/>
          <p:nvPr/>
        </p:nvSpPr>
        <p:spPr>
          <a:xfrm>
            <a:off x="658368" y="1225296"/>
            <a:ext cx="5394960" cy="749808"/>
          </a:xfrm>
          <a:prstGeom prst="roundRect">
            <a:avLst>
              <a:gd name="adj" fmla="val 4878"/>
            </a:avLst>
          </a:prstGeom>
          <a:solidFill>
            <a:srgbClr val="EEF8F6"/>
          </a:solidFill>
          <a:ln w="12700">
            <a:solidFill>
              <a:srgbClr val="A8DDD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1344168"/>
            <a:ext cx="50657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39417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[1] Yuan J Z, Chen H, Zhao B, et al. Estimation of Vehicle Pose and Position with Monocular Camera at Urban Road Intersections. JCST, 2017.</a:t>
            </a:r>
            <a:endParaRPr lang="en-US" sz="880" dirty="0"/>
          </a:p>
        </p:txBody>
      </p:sp>
      <p:sp>
        <p:nvSpPr>
          <p:cNvPr id="6" name="Shape 4"/>
          <p:cNvSpPr/>
          <p:nvPr/>
        </p:nvSpPr>
        <p:spPr>
          <a:xfrm>
            <a:off x="6309360" y="1225296"/>
            <a:ext cx="5394960" cy="749808"/>
          </a:xfrm>
          <a:prstGeom prst="roundRect">
            <a:avLst>
              <a:gd name="adj" fmla="val 4878"/>
            </a:avLst>
          </a:prstGeom>
          <a:solidFill>
            <a:srgbClr val="EEF8F6"/>
          </a:solidFill>
          <a:ln w="12700">
            <a:solidFill>
              <a:srgbClr val="A8DDD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73952" y="1344168"/>
            <a:ext cx="50657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39417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[2] Cui Z, Liu Y, Ren F. Homography-based Traffic Sign Localisation and Pose Estimation from Image Sequence. IET Image Processing, 2019.</a:t>
            </a:r>
            <a:endParaRPr lang="en-US" sz="880" dirty="0"/>
          </a:p>
        </p:txBody>
      </p:sp>
      <p:sp>
        <p:nvSpPr>
          <p:cNvPr id="8" name="Shape 6"/>
          <p:cNvSpPr/>
          <p:nvPr/>
        </p:nvSpPr>
        <p:spPr>
          <a:xfrm>
            <a:off x="658368" y="2185416"/>
            <a:ext cx="5394960" cy="749808"/>
          </a:xfrm>
          <a:prstGeom prst="roundRect">
            <a:avLst>
              <a:gd name="adj" fmla="val 4878"/>
            </a:avLst>
          </a:prstGeom>
          <a:solidFill>
            <a:srgbClr val="EEF8F6"/>
          </a:solidFill>
          <a:ln w="12700">
            <a:solidFill>
              <a:srgbClr val="A8DDD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2304288"/>
            <a:ext cx="50657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39417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[3] Qu X, Soheilian B, Paparoditis N. Vehicle Localization Using Mono-Camera and Geo-Referenced Traffic Signs. IEEE IV, 2015.</a:t>
            </a:r>
            <a:endParaRPr lang="en-US" sz="880" dirty="0"/>
          </a:p>
        </p:txBody>
      </p:sp>
      <p:sp>
        <p:nvSpPr>
          <p:cNvPr id="10" name="Shape 8"/>
          <p:cNvSpPr/>
          <p:nvPr/>
        </p:nvSpPr>
        <p:spPr>
          <a:xfrm>
            <a:off x="6309360" y="2185416"/>
            <a:ext cx="5394960" cy="749808"/>
          </a:xfrm>
          <a:prstGeom prst="roundRect">
            <a:avLst>
              <a:gd name="adj" fmla="val 4878"/>
            </a:avLst>
          </a:prstGeom>
          <a:solidFill>
            <a:srgbClr val="EEF8F6"/>
          </a:solidFill>
          <a:ln w="12700">
            <a:solidFill>
              <a:srgbClr val="A8DDD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73952" y="2304288"/>
            <a:ext cx="50657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39417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[4] Chen X, Xue J, Pang S. Sparse Semantic Map-Based Monocular Localization Using Learned 2D-3D Point-Line Correspondences. RA-L, 2022.</a:t>
            </a:r>
            <a:endParaRPr lang="en-US" sz="880" dirty="0"/>
          </a:p>
        </p:txBody>
      </p:sp>
      <p:sp>
        <p:nvSpPr>
          <p:cNvPr id="12" name="Shape 10"/>
          <p:cNvSpPr/>
          <p:nvPr/>
        </p:nvSpPr>
        <p:spPr>
          <a:xfrm>
            <a:off x="658368" y="3145536"/>
            <a:ext cx="5394960" cy="749808"/>
          </a:xfrm>
          <a:prstGeom prst="roundRect">
            <a:avLst>
              <a:gd name="adj" fmla="val 4878"/>
            </a:avLst>
          </a:prstGeom>
          <a:solidFill>
            <a:srgbClr val="FFFFFF"/>
          </a:solidFill>
          <a:ln w="12700">
            <a:solidFill>
              <a:srgbClr val="D8E2E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22960" y="3264408"/>
            <a:ext cx="50657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4D64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[5] Schönberger J L, Pollefeys M, Geiger A, et al. Semantic Visual Localization. CVPR, 2018.</a:t>
            </a:r>
            <a:endParaRPr lang="en-US" sz="880" dirty="0"/>
          </a:p>
        </p:txBody>
      </p:sp>
      <p:sp>
        <p:nvSpPr>
          <p:cNvPr id="14" name="Shape 12"/>
          <p:cNvSpPr/>
          <p:nvPr/>
        </p:nvSpPr>
        <p:spPr>
          <a:xfrm>
            <a:off x="6309360" y="3145536"/>
            <a:ext cx="5394960" cy="749808"/>
          </a:xfrm>
          <a:prstGeom prst="roundRect">
            <a:avLst>
              <a:gd name="adj" fmla="val 4878"/>
            </a:avLst>
          </a:prstGeom>
          <a:solidFill>
            <a:srgbClr val="FFFFFF"/>
          </a:solidFill>
          <a:ln w="12700">
            <a:solidFill>
              <a:srgbClr val="D8E2E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73952" y="3264408"/>
            <a:ext cx="50657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4D64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[6] You C, Wen C, Wang C, et al. Joint 2-D–3-D Traffic Sign Landmark Data Set for Geo-Localization. IEEE T-ITS, 2019.</a:t>
            </a:r>
            <a:endParaRPr lang="en-US" sz="880" dirty="0"/>
          </a:p>
        </p:txBody>
      </p:sp>
      <p:sp>
        <p:nvSpPr>
          <p:cNvPr id="16" name="Shape 14"/>
          <p:cNvSpPr/>
          <p:nvPr/>
        </p:nvSpPr>
        <p:spPr>
          <a:xfrm>
            <a:off x="658368" y="4105656"/>
            <a:ext cx="5394960" cy="749808"/>
          </a:xfrm>
          <a:prstGeom prst="roundRect">
            <a:avLst>
              <a:gd name="adj" fmla="val 4878"/>
            </a:avLst>
          </a:prstGeom>
          <a:solidFill>
            <a:srgbClr val="FFFFFF"/>
          </a:solidFill>
          <a:ln w="12700">
            <a:solidFill>
              <a:srgbClr val="D8E2E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22960" y="4224528"/>
            <a:ext cx="50657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4D64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[7] Maddern W, Stewart A D, McManus C, et al. LAPS-II: 6-DoF Day and Night Visual Localisation with Prior 3D Structure. IEEE IV, 2014.</a:t>
            </a:r>
            <a:endParaRPr lang="en-US" sz="880" dirty="0"/>
          </a:p>
        </p:txBody>
      </p:sp>
      <p:sp>
        <p:nvSpPr>
          <p:cNvPr id="18" name="Shape 16"/>
          <p:cNvSpPr/>
          <p:nvPr/>
        </p:nvSpPr>
        <p:spPr>
          <a:xfrm>
            <a:off x="6309360" y="4105656"/>
            <a:ext cx="5394960" cy="749808"/>
          </a:xfrm>
          <a:prstGeom prst="roundRect">
            <a:avLst>
              <a:gd name="adj" fmla="val 4878"/>
            </a:avLst>
          </a:prstGeom>
          <a:solidFill>
            <a:srgbClr val="FFFFFF"/>
          </a:solidFill>
          <a:ln w="12700">
            <a:solidFill>
              <a:srgbClr val="D8E2E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473952" y="4224528"/>
            <a:ext cx="50657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4D64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[8] Sarlin P E, DeTone D, Malisiewicz T, et al. LoFTR: Detector-Free Local Feature Matching with Transformers. CVPR, 2021.</a:t>
            </a:r>
            <a:endParaRPr lang="en-US" sz="880" dirty="0"/>
          </a:p>
        </p:txBody>
      </p:sp>
      <p:sp>
        <p:nvSpPr>
          <p:cNvPr id="20" name="Shape 18"/>
          <p:cNvSpPr/>
          <p:nvPr/>
        </p:nvSpPr>
        <p:spPr>
          <a:xfrm>
            <a:off x="658368" y="5065776"/>
            <a:ext cx="5394960" cy="749808"/>
          </a:xfrm>
          <a:prstGeom prst="roundRect">
            <a:avLst>
              <a:gd name="adj" fmla="val 4878"/>
            </a:avLst>
          </a:prstGeom>
          <a:solidFill>
            <a:srgbClr val="FFFFFF"/>
          </a:solidFill>
          <a:ln w="12700">
            <a:solidFill>
              <a:srgbClr val="D8E2E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22960" y="5184648"/>
            <a:ext cx="50657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4D64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[9] Campos C, Elvira R, Rodríguez J J G, et al. ORB-SLAM3: An Accurate Open-Source Library for Visual, Visual–Inertial and Multi-Map SLAM. IEEE TRO, 2021.</a:t>
            </a:r>
            <a:endParaRPr lang="en-US" sz="880" dirty="0"/>
          </a:p>
        </p:txBody>
      </p:sp>
      <p:sp>
        <p:nvSpPr>
          <p:cNvPr id="22" name="Text 20"/>
          <p:cNvSpPr/>
          <p:nvPr/>
        </p:nvSpPr>
        <p:spPr>
          <a:xfrm>
            <a:off x="914400" y="6108192"/>
            <a:ext cx="10332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2B8A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与本课题最接近的工作集中在“交通标志地图定位”和“单应性标志位姿”；本文重点差异是无标志绝对坐标的跨序列尺度传递。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39728" y="656539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A8A8A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30</a:t>
            </a:fld>
            <a:endParaRPr lang="en-US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417320" y="2377440"/>
            <a:ext cx="93726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37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请各位老师批评指正</a:t>
            </a:r>
            <a:endParaRPr lang="en-US" sz="3700" dirty="0"/>
          </a:p>
          <a:p>
            <a:pPr algn="ctr" indent="0" marL="0">
              <a:buNone/>
            </a:pPr>
            <a:r>
              <a:rPr lang="en-US" sz="37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谢谢！</a:t>
            </a:r>
            <a:endParaRPr lang="en-US" sz="3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39728" y="656539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A8A8A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31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Microsoft YaHe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icrosoft YaHe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31</Slides>
  <Notes>31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31</vt:i4>
      </vt:variant>
    </vt:vector>
  </HeadingPairs>
  <TitlesOfParts>
    <vt:vector size="3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</vt:vector>
  </TitlesOfParts>
  <Company>Graduate Mid-term Assessment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基于道路交通标志的跨天气视觉重定位方法研究</dc:title>
  <dc:subject>硕士研究生中期考核汇报</dc:subject>
  <dc:creator>ORBSLAM3-TrafficSign-Pose</dc:creator>
  <cp:lastModifiedBy>ORBSLAM3-TrafficSign-Pose</cp:lastModifiedBy>
  <cp:revision>1</cp:revision>
  <dcterms:created xsi:type="dcterms:W3CDTF">2026-10-29T07:58:55Z</dcterms:created>
  <dcterms:modified xsi:type="dcterms:W3CDTF">2026-10-29T07:58:55Z</dcterms:modified>
</cp:coreProperties>
</file>