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6766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基于道路交通标志的跨天气视觉重定位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9672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18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毕业论文核心章节汇报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138160" y="-1645920"/>
            <a:ext cx="6126480" cy="6126480"/>
          </a:xfrm>
          <a:prstGeom prst="arc">
            <a:avLst/>
          </a:prstGeom>
          <a:solidFill>
            <a:srgbClr val="14B8A6">
              <a:alpha val="6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4389120"/>
            <a:ext cx="2194560" cy="2194560"/>
          </a:xfrm>
          <a:prstGeom prst="ellipse">
            <a:avLst/>
          </a:prstGeom>
          <a:solidFill>
            <a:srgbClr val="2367D1">
              <a:alpha val="55000"/>
            </a:srgbClr>
          </a:solidFill>
          <a:ln w="12700">
            <a:solidFill>
              <a:srgbClr val="2367D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713232"/>
            <a:ext cx="2057400" cy="310896"/>
          </a:xfrm>
          <a:prstGeom prst="roundRect">
            <a:avLst>
              <a:gd name="adj" fmla="val 20588"/>
            </a:avLst>
          </a:prstGeom>
          <a:solidFill>
            <a:srgbClr val="123D4B"/>
          </a:solidFill>
          <a:ln w="12700">
            <a:solidFill>
              <a:srgbClr val="123D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777240"/>
            <a:ext cx="191109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毕业论文核心两章汇报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1417320"/>
            <a:ext cx="8823960" cy="1490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基于道路交通标志的</a:t>
            </a:r>
            <a:endParaRPr lang="en-US" sz="32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跨天气视觉重定位方法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49808" y="315468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9CA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以稳定语义路标连接“离线建图”与“二次经过时的 GPS 恢复”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3858768"/>
            <a:ext cx="1874520" cy="0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47091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4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汇报人：张奥恒 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51389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10 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汇报结构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围绕“问题—方法—证据—结论”展开两个核心章节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6576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106527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1848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455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47088" y="157276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问题描述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29000" y="160020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为什么传统离线视觉地图在跨天气条件下失效？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560320"/>
            <a:ext cx="106527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6148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67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47088" y="271576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74320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交通标志语义锚点 + 度量相对位姿 + GPS 恢复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703320"/>
            <a:ext cx="106527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90448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47088" y="385876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29000" y="388620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核心算法链路、单次实验结果与评价设计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846320"/>
            <a:ext cx="106527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504748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47088" y="500176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29000" y="502920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创新点、阶段结论与汇报前优先工作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" y="605332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核心判断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5998464"/>
            <a:ext cx="9052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传统方法依赖“看起来相似”；本文进一步利用“同一块固定交通标志的世界位置不变”。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8778240" y="-1005840"/>
            <a:ext cx="4754880" cy="4754880"/>
          </a:xfrm>
          <a:prstGeom prst="arc">
            <a:avLst/>
          </a:prstGeom>
          <a:solidFill>
            <a:srgbClr val="E45555">
              <a:alpha val="72000"/>
            </a:srgbClr>
          </a:solidFill>
          <a:ln w="12700">
            <a:solidFill>
              <a:srgbClr val="E4555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4297680"/>
            <a:ext cx="1417320" cy="1417320"/>
          </a:xfrm>
          <a:prstGeom prst="ellipse">
            <a:avLst/>
          </a:prstGeom>
          <a:solidFill>
            <a:srgbClr val="E45555">
              <a:alpha val="45000"/>
            </a:srgbClr>
          </a:solidFill>
          <a:ln w="12700">
            <a:solidFill>
              <a:srgbClr val="E4555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932688"/>
            <a:ext cx="1005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455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58368" y="1828800"/>
            <a:ext cx="969264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问题描述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841248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9CA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跨天气外观变化，使传统离线视觉地图重定位失去稳定对应关系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694176"/>
            <a:ext cx="1828800" cy="0"/>
          </a:xfrm>
          <a:prstGeom prst="line">
            <a:avLst/>
          </a:prstGeom>
          <a:noFill/>
          <a:ln w="50800">
            <a:solidFill>
              <a:srgbClr val="E45555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现有方案：基于离线视觉地图的重定位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104120" y="36576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问题描述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2880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1581912"/>
            <a:ext cx="438912" cy="438912"/>
          </a:xfrm>
          <a:prstGeom prst="ellipse">
            <a:avLst/>
          </a:prstGeom>
          <a:solidFill>
            <a:srgbClr val="2367D1"/>
          </a:solidFill>
          <a:ln w="12700">
            <a:solidFill>
              <a:srgbClr val="2367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68780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3312" y="1572768"/>
            <a:ext cx="2057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第一次经过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3312" y="1892808"/>
            <a:ext cx="20574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采集图像并构建离线视觉地图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93592" y="1920240"/>
            <a:ext cx="658368" cy="0"/>
          </a:xfrm>
          <a:prstGeom prst="line">
            <a:avLst/>
          </a:prstGeom>
          <a:noFill/>
          <a:ln w="27940">
            <a:solidFill>
              <a:srgbClr val="2367D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15968" y="1417320"/>
            <a:ext cx="2880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53128" y="1581912"/>
            <a:ext cx="438912" cy="438912"/>
          </a:xfrm>
          <a:prstGeom prst="ellipse">
            <a:avLst/>
          </a:prstGeom>
          <a:solidFill>
            <a:srgbClr val="2367D1"/>
          </a:solidFill>
          <a:ln w="12700">
            <a:solidFill>
              <a:srgbClr val="2367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1668780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10912" y="1572768"/>
            <a:ext cx="2057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第二次经过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892808"/>
            <a:ext cx="20574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当前图像与地图特征/外观匹配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51192" y="1920240"/>
            <a:ext cx="658368" cy="0"/>
          </a:xfrm>
          <a:prstGeom prst="line">
            <a:avLst/>
          </a:prstGeom>
          <a:noFill/>
          <a:ln w="27940">
            <a:solidFill>
              <a:srgbClr val="2367D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73568" y="1417320"/>
            <a:ext cx="35204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0728" y="1581912"/>
            <a:ext cx="438912" cy="438912"/>
          </a:xfrm>
          <a:prstGeom prst="ellipse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0728" y="1668780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68512" y="1572768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恢复位置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68512" y="1892808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求解当前车辆在历史地图中的位姿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41248" y="2971800"/>
            <a:ext cx="10469880" cy="2304288"/>
          </a:xfrm>
          <a:prstGeom prst="roundRect">
            <a:avLst>
              <a:gd name="adj" fmla="val 3175"/>
            </a:avLst>
          </a:prstGeom>
          <a:solidFill>
            <a:srgbClr val="EEF4FA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3291840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67D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隐含前提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697480" y="32918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第二次看到的道路场景，必须与离线地图中的图像“足够相似”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70432" y="4041648"/>
            <a:ext cx="9052560" cy="8686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17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局部特征需要可重复检测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17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全局外观描述需要保持相似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17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跨序列必须建立足够多的正确对应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天气变化打破了“外观一致”假设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104120" y="36576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问题描述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53312"/>
            <a:ext cx="3246120" cy="4315968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517904"/>
            <a:ext cx="73152" cy="566928"/>
          </a:xfrm>
          <a:prstGeom prst="roundRect">
            <a:avLst>
              <a:gd name="adj" fmla="val 37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17904"/>
            <a:ext cx="271576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天气 A：离线建图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05840" y="1865376"/>
            <a:ext cx="2697480" cy="3657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清晰纹理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稳定阴影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较高对比度</a:t>
            </a:r>
            <a:endParaRPr lang="en-US" sz="1400" dirty="0"/>
          </a:p>
        </p:txBody>
      </p:sp>
      <p:pic>
        <p:nvPicPr>
          <p:cNvPr id="9" name="Image 0" descr="/home/ehuy/ORBSLAM3-TrafficSign-Pose/manual_split/seg_manual_0/rgb/178237446351475046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834640"/>
            <a:ext cx="2788920" cy="15819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096512" y="3410712"/>
            <a:ext cx="768096" cy="0"/>
          </a:xfrm>
          <a:prstGeom prst="line">
            <a:avLst/>
          </a:prstGeom>
          <a:noFill/>
          <a:ln w="38100">
            <a:solidFill>
              <a:srgbClr val="E45555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901184" y="3017520"/>
            <a:ext cx="777240" cy="777240"/>
          </a:xfrm>
          <a:prstGeom prst="ellipse">
            <a:avLst/>
          </a:prstGeom>
          <a:solidFill>
            <a:srgbClr val="FDECEC"/>
          </a:solidFill>
          <a:ln w="25400">
            <a:solidFill>
              <a:srgbClr val="E455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01184" y="3108960"/>
            <a:ext cx="777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4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2500" dirty="0"/>
          </a:p>
        </p:txBody>
      </p:sp>
      <p:sp>
        <p:nvSpPr>
          <p:cNvPr id="13" name="Shape 10"/>
          <p:cNvSpPr/>
          <p:nvPr/>
        </p:nvSpPr>
        <p:spPr>
          <a:xfrm>
            <a:off x="5715000" y="3410712"/>
            <a:ext cx="731520" cy="0"/>
          </a:xfrm>
          <a:prstGeom prst="line">
            <a:avLst/>
          </a:prstGeom>
          <a:noFill/>
          <a:ln w="38100">
            <a:solidFill>
              <a:srgbClr val="E45555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656832" y="1353312"/>
            <a:ext cx="4892040" cy="4315968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21424" y="1517904"/>
            <a:ext cx="73152" cy="566928"/>
          </a:xfrm>
          <a:prstGeom prst="roundRect">
            <a:avLst>
              <a:gd name="adj" fmla="val 37500"/>
            </a:avLst>
          </a:prstGeom>
          <a:solidFill>
            <a:srgbClr val="E45555"/>
          </a:solidFill>
          <a:ln w="12700">
            <a:solidFill>
              <a:srgbClr val="E455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22592" y="1517904"/>
            <a:ext cx="43616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天气 B：再次经过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022592" y="1865376"/>
            <a:ext cx="4343400" cy="3657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雨雾、强弱光变化、能见度下降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关键点重复率下降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误匹配增加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重定位失败</a:t>
            </a:r>
            <a:endParaRPr lang="en-US" sz="1350" dirty="0"/>
          </a:p>
        </p:txBody>
      </p:sp>
      <p:pic>
        <p:nvPicPr>
          <p:cNvPr id="18" name="Image 1" descr="/home/ehuy/ORBSLAM3-TrafficSign-Pose/manual_split/seg_manual_1/rgb/1782374541542287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3172968"/>
            <a:ext cx="4343400" cy="193852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67728" y="5212080"/>
            <a:ext cx="425196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示意说明：图中展示两次独立道路序列的场景外观差异。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804672" y="5961888"/>
            <a:ext cx="10744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4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核心矛盾：不是地图中没有这个地方，而是天气变化后“认不出来”。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本文思路：增加道路交通标志语义锚点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104120" y="36576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问题描述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53312"/>
            <a:ext cx="4800600" cy="4480560"/>
          </a:xfrm>
          <a:prstGeom prst="roundRect">
            <a:avLst>
              <a:gd name="adj" fmla="val 1224"/>
            </a:avLst>
          </a:prstGeom>
          <a:solidFill>
            <a:srgbClr val="FFF7E8"/>
          </a:solidFill>
          <a:ln w="12700">
            <a:solidFill>
              <a:srgbClr val="F5D5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916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A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普通道路背景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267712"/>
            <a:ext cx="3886200" cy="150876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7150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纹理受雨、雾、光照影响明显</a:t>
            </a:r>
            <a:endParaRPr lang="en-US" sz="14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7150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阴影和动态车辆改变外观</a:t>
            </a:r>
            <a:endParaRPr lang="en-US" sz="14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7150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跨天气匹配稳定性不足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482803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18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外观线索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57400" y="4700016"/>
            <a:ext cx="2560320" cy="502920"/>
          </a:xfrm>
          <a:prstGeom prst="chevron">
            <a:avLst/>
          </a:prstGeom>
          <a:solidFill>
            <a:srgbClr val="E45555">
              <a:alpha val="85000"/>
            </a:srgbClr>
          </a:solidFill>
          <a:ln w="12700">
            <a:solidFill>
              <a:srgbClr val="E4555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484632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易退化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1353312"/>
            <a:ext cx="5760720" cy="4480560"/>
          </a:xfrm>
          <a:prstGeom prst="roundRect">
            <a:avLst>
              <a:gd name="adj" fmla="val 1224"/>
            </a:avLst>
          </a:prstGeom>
          <a:solidFill>
            <a:srgbClr val="EAF8F5"/>
          </a:solidFill>
          <a:ln w="12700">
            <a:solidFill>
              <a:srgbClr val="A7DD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08192" y="16916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75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道路交通标志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26480" y="2212848"/>
            <a:ext cx="4754880" cy="20574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155E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位置固定：可绑定全局坐标</a:t>
            </a:r>
            <a:endParaRPr lang="en-US" sz="14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155E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语义明确：类别与文字可辅助重识别</a:t>
            </a:r>
            <a:endParaRPr lang="en-US" sz="14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155E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形状规范：可提供平面与结构几何约束</a:t>
            </a:r>
            <a:endParaRPr lang="en-US" sz="14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155E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跨天气条件下通常比普通背景更易辨识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44768" y="482803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18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 + 几何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43800" y="4700016"/>
            <a:ext cx="3246120" cy="502920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484632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长期定位锚点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608076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从“匹配整幅场景”转为“识别固定路标并恢复相对位姿”。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关键价值：一种基于稳定语义锚点的重识别新思路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核心不局限于 GPS，而是用“可重复识别的固定目标”连接离线先验与在线观测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6576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问题描述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53312"/>
            <a:ext cx="51663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17904"/>
            <a:ext cx="73152" cy="566928"/>
          </a:xfrm>
          <a:prstGeom prst="roundRect">
            <a:avLst>
              <a:gd name="adj" fmla="val 37500"/>
            </a:avLst>
          </a:prstGeom>
          <a:solidFill>
            <a:srgbClr val="2367D1"/>
          </a:solidFill>
          <a:ln w="12700">
            <a:solidFill>
              <a:srgbClr val="2367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517904"/>
            <a:ext cx="463600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离线端｜建立语义锚点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87552" y="2066544"/>
            <a:ext cx="449884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4712" y="2231136"/>
            <a:ext cx="438912" cy="438912"/>
          </a:xfrm>
          <a:prstGeom prst="ellipse">
            <a:avLst/>
          </a:prstGeom>
          <a:solidFill>
            <a:srgbClr val="2367D1"/>
          </a:solidFill>
          <a:ln w="12700">
            <a:solidFill>
              <a:srgbClr val="2367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318004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82496" y="2221992"/>
            <a:ext cx="367588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绑定全局参考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82496" y="2542032"/>
            <a:ext cx="367588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GPS、高精地图、测量控制点等；本次以 GPS 为例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87552" y="3310128"/>
            <a:ext cx="449884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4712" y="3474720"/>
            <a:ext cx="438912" cy="438912"/>
          </a:xfrm>
          <a:prstGeom prst="ellipse">
            <a:avLst/>
          </a:prstGeom>
          <a:solidFill>
            <a:srgbClr val="2367D1"/>
          </a:solidFill>
          <a:ln w="12700">
            <a:solidFill>
              <a:srgbClr val="2367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561588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82496" y="3465576"/>
            <a:ext cx="367588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估计相对位姿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82496" y="3785616"/>
            <a:ext cx="367588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求参考时刻相机到标志牌 T_C1S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87552" y="4553712"/>
            <a:ext cx="449884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4712" y="4718304"/>
            <a:ext cx="438912" cy="438912"/>
          </a:xfrm>
          <a:prstGeom prst="ellipse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4712" y="4805172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82496" y="4709160"/>
            <a:ext cx="367588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语义锚点入库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82496" y="5029200"/>
            <a:ext cx="367588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保存身份、描述信息与全局位姿 T_WS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3493008"/>
            <a:ext cx="512064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29400" y="1353312"/>
            <a:ext cx="4901184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93992" y="1517904"/>
            <a:ext cx="73152" cy="566928"/>
          </a:xfrm>
          <a:prstGeom prst="roundRect">
            <a:avLst>
              <a:gd name="adj" fmla="val 375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1517904"/>
            <a:ext cx="437083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在线端｜跨天气重识别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967728" y="2066544"/>
            <a:ext cx="422452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04888" y="2231136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04888" y="2318004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62672" y="2221992"/>
            <a:ext cx="340156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关联同一语义锚点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662672" y="2542032"/>
            <a:ext cx="340156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语义类别 + 外观/结构联合确认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67728" y="3310128"/>
            <a:ext cx="422452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04888" y="3474720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04888" y="3561588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62672" y="3465576"/>
            <a:ext cx="340156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估计当前相对位姿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662672" y="3785616"/>
            <a:ext cx="340156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求当前相机到标志牌 T_C2S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967728" y="4553712"/>
            <a:ext cx="422452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04888" y="4718304"/>
            <a:ext cx="438912" cy="438912"/>
          </a:xfrm>
          <a:prstGeom prst="ellipse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04888" y="4805172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662672" y="4709160"/>
            <a:ext cx="340156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恢复全局状态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662672" y="5029200"/>
            <a:ext cx="340156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反推车辆位置；本次汇报具体恢复 GPS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41248" y="6071616"/>
            <a:ext cx="10497312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方法价值在于验证“语义锚点重识别 + 几何定位”可行；GPS 是本次实验载体，而不是方法边界。</a:t>
            </a:r>
            <a:endParaRPr lang="en-US" sz="142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定位闭环的坐标关系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W：世界/GPS 坐标系；C₁：建图相机；C₂：重定位相机；S：交通标志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6576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问题描述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481328"/>
            <a:ext cx="51663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645920"/>
            <a:ext cx="73152" cy="566928"/>
          </a:xfrm>
          <a:prstGeom prst="roundRect">
            <a:avLst>
              <a:gd name="adj" fmla="val 37500"/>
            </a:avLst>
          </a:prstGeom>
          <a:solidFill>
            <a:srgbClr val="2367D1"/>
          </a:solidFill>
          <a:ln w="12700">
            <a:solidFill>
              <a:srgbClr val="2367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1645920"/>
            <a:ext cx="463600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第一次经过：标定路标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15568" y="2240280"/>
            <a:ext cx="434340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367D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T_WS  =  T_WC₁ᴳᴾˢ  ·  T_C₁S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188720" y="3026664"/>
            <a:ext cx="4160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短段高精度 GPS       相机→标志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97280" y="3840480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输出：交通标志在世界坐标系中的固定位置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81928" y="1481328"/>
            <a:ext cx="51663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645920"/>
            <a:ext cx="73152" cy="566928"/>
          </a:xfrm>
          <a:prstGeom prst="roundRect">
            <a:avLst>
              <a:gd name="adj" fmla="val 375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7688" y="1645920"/>
            <a:ext cx="463600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第二次经过：恢复车辆位置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720840" y="2240280"/>
            <a:ext cx="42976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T_WC₂  =  T_WS  ·  T_C₂S⁻¹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784848" y="3026664"/>
            <a:ext cx="4160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已知路标全局位置       当前观测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11696" y="3840480"/>
            <a:ext cx="431596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输出：当前车辆全局位姿与 GPS 坐标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0" y="5212080"/>
            <a:ext cx="8522208" cy="749808"/>
          </a:xfrm>
          <a:prstGeom prst="roundRect">
            <a:avLst>
              <a:gd name="adj" fmla="val 6098"/>
            </a:avLst>
          </a:prstGeom>
          <a:solidFill>
            <a:srgbClr val="EEF7F6"/>
          </a:solidFill>
          <a:ln w="12700">
            <a:solidFill>
              <a:srgbClr val="B7D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57400" y="5440680"/>
            <a:ext cx="806500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6B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核心瓶颈：两次经过时，都必须稳定获得“相机—交通标志”的度量相对位姿。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由应用问题抽象出的四个科学问题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104120" y="36576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问题描述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389888"/>
            <a:ext cx="51937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636776"/>
            <a:ext cx="6217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455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64792" y="1618488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跨天气关联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64792" y="2139696"/>
            <a:ext cx="373075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如何利用交通标志语义，建立天气 A 与天气 B 的可靠路标对应？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389888"/>
            <a:ext cx="51937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636776"/>
            <a:ext cx="6217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67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60920" y="1618488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绝对尺度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60920" y="2139696"/>
            <a:ext cx="373075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单目视觉缺少米制尺度，如何恢复目标的真实深度？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3232" y="3602736"/>
            <a:ext cx="51937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849624"/>
            <a:ext cx="6217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557D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64792" y="3831336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位姿多解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64792" y="4352544"/>
            <a:ext cx="373075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平面单应性分解存在多组候选，如何选出物理解？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602736"/>
            <a:ext cx="51937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3849624"/>
            <a:ext cx="6217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60920" y="3831336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全局闭环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60920" y="4352544"/>
            <a:ext cx="373075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如何将相对位姿与 GPS/SLAM 坐标统一并验证精度？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5980176"/>
            <a:ext cx="104698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论文核心两章分别回答：如何“算准相对位姿”，以及如何“用路标完成跨天气重定位”。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核心章一：交通标志度量相对位姿估计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序列内恢复尺度，跨序列恢复姿态，目标结构排除伪解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6576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1874520" cy="2423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2212848"/>
            <a:ext cx="658368" cy="658368"/>
          </a:xfrm>
          <a:prstGeom prst="ellipse">
            <a:avLst/>
          </a:prstGeom>
          <a:solidFill>
            <a:srgbClr val="2367D1"/>
          </a:solidFill>
          <a:ln w="12700">
            <a:solidFill>
              <a:srgbClr val="2367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386584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" y="3154680"/>
            <a:ext cx="154533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多帧目标观测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" y="3611880"/>
            <a:ext cx="1545336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ROI / 四角点序列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04872" y="3081528"/>
            <a:ext cx="365760" cy="0"/>
          </a:xfrm>
          <a:prstGeom prst="line">
            <a:avLst/>
          </a:prstGeom>
          <a:noFill/>
          <a:ln w="2032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34640" y="1874520"/>
            <a:ext cx="1874520" cy="2423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7288" y="2212848"/>
            <a:ext cx="658368" cy="658368"/>
          </a:xfrm>
          <a:prstGeom prst="ellipse">
            <a:avLst/>
          </a:prstGeom>
          <a:solidFill>
            <a:srgbClr val="0EA5C6"/>
          </a:solidFill>
          <a:ln w="12700">
            <a:solidFill>
              <a:srgbClr val="0EA5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7288" y="2386584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99232" y="3154680"/>
            <a:ext cx="154533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Looming 测距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99232" y="3611880"/>
            <a:ext cx="1545336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时序运动恢复绝对深度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36592" y="3081528"/>
            <a:ext cx="365760" cy="0"/>
          </a:xfrm>
          <a:prstGeom prst="line">
            <a:avLst/>
          </a:prstGeom>
          <a:noFill/>
          <a:ln w="2032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66360" y="1874520"/>
            <a:ext cx="1874520" cy="2423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79008" y="2212848"/>
            <a:ext cx="658368" cy="658368"/>
          </a:xfrm>
          <a:prstGeom prst="ellipse">
            <a:avLst/>
          </a:prstGeom>
          <a:solidFill>
            <a:srgbClr val="7557D3"/>
          </a:solidFill>
          <a:ln w="12700">
            <a:solidFill>
              <a:srgbClr val="7557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79008" y="2386584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30952" y="3154680"/>
            <a:ext cx="154533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跨序列匹配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30952" y="3611880"/>
            <a:ext cx="1545336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LoFTR + RANSAC 单应性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068312" y="3081528"/>
            <a:ext cx="365760" cy="0"/>
          </a:xfrm>
          <a:prstGeom prst="line">
            <a:avLst/>
          </a:prstGeom>
          <a:noFill/>
          <a:ln w="2032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98080" y="1874520"/>
            <a:ext cx="1874520" cy="2423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0728" y="2212848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10728" y="2386584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62672" y="3154680"/>
            <a:ext cx="154533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结构消歧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62672" y="3611880"/>
            <a:ext cx="1545336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汉字横/竖拓扑约束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400032" y="3081528"/>
            <a:ext cx="365760" cy="0"/>
          </a:xfrm>
          <a:prstGeom prst="line">
            <a:avLst/>
          </a:prstGeom>
          <a:noFill/>
          <a:ln w="2032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829800" y="1874520"/>
            <a:ext cx="1874520" cy="2423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42448" y="2212848"/>
            <a:ext cx="658368" cy="658368"/>
          </a:xfrm>
          <a:prstGeom prst="ellipse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42448" y="2386584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94392" y="3154680"/>
            <a:ext cx="154533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尺度注入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994392" y="3611880"/>
            <a:ext cx="1545336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输出米制 6-DoF 位姿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115568" y="5001768"/>
            <a:ext cx="9921240" cy="694944"/>
          </a:xfrm>
          <a:prstGeom prst="roundRect">
            <a:avLst>
              <a:gd name="adj" fmla="val 5263"/>
            </a:avLst>
          </a:prstGeom>
          <a:solidFill>
            <a:srgbClr val="EEF4FA"/>
          </a:solidFill>
          <a:ln w="12700">
            <a:solidFill>
              <a:srgbClr val="D9E5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89888" y="5212080"/>
            <a:ext cx="9372600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输入：两次独立行驶序列 + 相机内参 + 各自短时 VIO 轨迹    →    输出：具有真实尺度的相对位姿 T_C₁C₂</a:t>
            </a:r>
            <a:endParaRPr lang="en-US" sz="13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步骤一：时序运动学尺度锚定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利用车辆逼近目标产生的视觉膨胀，恢复标志牌绝对深度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6576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53312"/>
            <a:ext cx="4663440" cy="4462272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17904"/>
            <a:ext cx="73152" cy="566928"/>
          </a:xfrm>
          <a:prstGeom prst="roundRect">
            <a:avLst>
              <a:gd name="adj" fmla="val 37500"/>
            </a:avLst>
          </a:prstGeom>
          <a:solidFill>
            <a:srgbClr val="2367D1"/>
          </a:solidFill>
          <a:ln w="12700">
            <a:solidFill>
              <a:srgbClr val="2367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517904"/>
            <a:ext cx="41330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为什么需要多帧？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1993392"/>
            <a:ext cx="3931920" cy="25146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17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单目 SLAM 的平移只有相对尺度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17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相邻两帧像素膨胀量太小，1 px 抖动会显著放大深度误差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17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使用更长时间基线与滑动窗口最小二乘，提高数值稳定性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17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 H_R = K R₁₂ K⁻¹ 消除相机旋转分量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24128" y="4864608"/>
            <a:ext cx="3913632" cy="566928"/>
          </a:xfrm>
          <a:prstGeom prst="roundRect">
            <a:avLst>
              <a:gd name="adj" fmla="val 4839"/>
            </a:avLst>
          </a:prstGeom>
          <a:solidFill>
            <a:srgbClr val="EAF2FF"/>
          </a:solidFill>
          <a:ln w="12700">
            <a:solidFill>
              <a:srgbClr val="C6D9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5038344"/>
            <a:ext cx="3493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67D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尺度来源：短时视觉—惯性位移 Δd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50992" y="1353312"/>
            <a:ext cx="5870448" cy="4462272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15584" y="1517904"/>
            <a:ext cx="73152" cy="566928"/>
          </a:xfrm>
          <a:prstGeom prst="roundRect">
            <a:avLst>
              <a:gd name="adj" fmla="val 375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16752" y="1517904"/>
            <a:ext cx="534009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核心模型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199632" y="2084832"/>
            <a:ext cx="4736592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 = r_near · Δd / Δr − Δd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473952" y="2926080"/>
            <a:ext cx="4160520" cy="115214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r：目标中心到 FOE 的径向距离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Δr：多帧观测中的径向膨胀量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Δd：相机沿前进方向的真实位移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6208" y="4453128"/>
            <a:ext cx="4663440" cy="749808"/>
          </a:xfrm>
          <a:prstGeom prst="roundRect">
            <a:avLst>
              <a:gd name="adj" fmla="val 4878"/>
            </a:avLst>
          </a:prstGeom>
          <a:solidFill>
            <a:srgbClr val="EAF8F5"/>
          </a:solidFill>
          <a:ln w="12700">
            <a:solidFill>
              <a:srgbClr val="B7D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5664" y="4645152"/>
            <a:ext cx="4224528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6B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当前实现：16 帧滑动窗口 LSQ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6B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典型记录：Z = 7.951 m，Δr = 32.6 px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步骤二：跨序列平面几何初解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在两次独立经过之间恢复旋转、平移方向与标志牌法向量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6576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pic>
        <p:nvPicPr>
          <p:cNvPr id="6" name="Image 0" descr="/home/ehuy/ORBSLAM3-TrafficSign-Pose/manual_split/seg_manual_0/rgb/178237446351475046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89888"/>
            <a:ext cx="4251960" cy="2404872"/>
          </a:xfrm>
          <a:prstGeom prst="rect">
            <a:avLst/>
          </a:prstGeom>
        </p:spPr>
      </p:pic>
      <p:pic>
        <p:nvPicPr>
          <p:cNvPr id="7" name="Image 1" descr="/home/ehuy/ORBSLAM3-TrafficSign-Pose/manual_split/seg_manual_1/rgb/1782374541542287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89888"/>
            <a:ext cx="4251960" cy="24048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536319" y="2541905"/>
            <a:ext cx="2331720" cy="310896"/>
          </a:xfrm>
          <a:prstGeom prst="roundRect">
            <a:avLst>
              <a:gd name="adj" fmla="val 20588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609471" y="2605913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367D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序列 1 / 天气 A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8029067" y="2440940"/>
            <a:ext cx="2331720" cy="310896"/>
          </a:xfrm>
          <a:prstGeom prst="roundRect">
            <a:avLst>
              <a:gd name="adj" fmla="val 20588"/>
            </a:avLst>
          </a:prstGeom>
          <a:solidFill>
            <a:srgbClr val="F0ECFB"/>
          </a:solidFill>
          <a:ln w="12700">
            <a:solidFill>
              <a:srgbClr val="F0ECF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102219" y="2504948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557D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序列 2 / 天气 B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230368" y="1837944"/>
            <a:ext cx="171907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532120" y="2130552"/>
            <a:ext cx="1115568" cy="7955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55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LoFTR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755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755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RANSAC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4892040" y="2542032"/>
            <a:ext cx="301752" cy="0"/>
          </a:xfrm>
          <a:prstGeom prst="line">
            <a:avLst/>
          </a:prstGeom>
          <a:noFill/>
          <a:ln w="27940">
            <a:solidFill>
              <a:srgbClr val="7557D3"/>
            </a:solidFill>
            <a:prstDash val="solid"/>
            <a:headEnd type="none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6967728" y="2542032"/>
            <a:ext cx="265176" cy="0"/>
          </a:xfrm>
          <a:prstGeom prst="line">
            <a:avLst/>
          </a:prstGeom>
          <a:noFill/>
          <a:ln w="27940">
            <a:solidFill>
              <a:srgbClr val="7557D3"/>
            </a:solidFill>
            <a:prstDash val="solid"/>
            <a:headEnd type="none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1005840" y="4681728"/>
            <a:ext cx="10149840" cy="1115568"/>
          </a:xfrm>
          <a:prstGeom prst="roundRect">
            <a:avLst>
              <a:gd name="adj" fmla="val 4098"/>
            </a:avLst>
          </a:prstGeom>
          <a:solidFill>
            <a:srgbClr val="F2F0FA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417320" y="4956048"/>
            <a:ext cx="39776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557D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 → 分解得到多组候选 (R, t/d, n)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5504688" y="4974336"/>
            <a:ext cx="523036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旋转 R 可估计｜平移只有方向 t/d｜存在 4 组候选解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步骤三：利用标志内部结构排除伪解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104120" y="36576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4114800" cy="452628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536192"/>
            <a:ext cx="73152" cy="566928"/>
          </a:xfrm>
          <a:prstGeom prst="roundRect">
            <a:avLst>
              <a:gd name="adj" fmla="val 37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536192"/>
            <a:ext cx="358444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结构先验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51560" y="1883664"/>
            <a:ext cx="3566160" cy="3867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交通标志中的汉字/图形包含大量横向与竖向笔画。将这些线段按候选平面逆投影到 3D 后，正确位姿应更符合平行与正交关系。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07008" y="3867912"/>
            <a:ext cx="1234440" cy="0"/>
          </a:xfrm>
          <a:prstGeom prst="line">
            <a:avLst/>
          </a:prstGeom>
          <a:noFill/>
          <a:ln w="63500">
            <a:solidFill>
              <a:srgbClr val="2367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47088" y="3246120"/>
            <a:ext cx="0" cy="1234440"/>
          </a:xfrm>
          <a:prstGeom prst="line">
            <a:avLst/>
          </a:prstGeom>
          <a:noFill/>
          <a:ln w="63500">
            <a:solidFill>
              <a:srgbClr val="E4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24328" y="3602736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v_h ⟂ v_v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230368" y="1371600"/>
            <a:ext cx="6272784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170992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候选解结构一致性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596128" y="239572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候选解 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66560" y="2340864"/>
            <a:ext cx="3337560" cy="310896"/>
          </a:xfrm>
          <a:prstGeom prst="roundRect">
            <a:avLst>
              <a:gd name="adj" fmla="val 8824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2340864"/>
            <a:ext cx="3204058" cy="310896"/>
          </a:xfrm>
          <a:prstGeom prst="roundRect">
            <a:avLst>
              <a:gd name="adj" fmla="val 8824"/>
            </a:avLst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0" y="238658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0.720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71632" y="2386584"/>
            <a:ext cx="530352" cy="192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未通过正深度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96128" y="3099816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候选解 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66560" y="3044952"/>
            <a:ext cx="3337560" cy="310896"/>
          </a:xfrm>
          <a:prstGeom prst="roundRect">
            <a:avLst>
              <a:gd name="adj" fmla="val 8824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3044952"/>
            <a:ext cx="516209" cy="310896"/>
          </a:xfrm>
          <a:prstGeom prst="roundRect">
            <a:avLst>
              <a:gd name="adj" fmla="val 8824"/>
            </a:avLst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0" y="309067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0.116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771632" y="3090672"/>
            <a:ext cx="530352" cy="192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当前最优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596128" y="3803904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候选解 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66560" y="3749040"/>
            <a:ext cx="3337560" cy="310896"/>
          </a:xfrm>
          <a:prstGeom prst="roundRect">
            <a:avLst>
              <a:gd name="adj" fmla="val 8824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3749040"/>
            <a:ext cx="2892552" cy="310896"/>
          </a:xfrm>
          <a:prstGeom prst="roundRect">
            <a:avLst>
              <a:gd name="adj" fmla="val 8824"/>
            </a:avLst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0" y="3794760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0.650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771632" y="3794760"/>
            <a:ext cx="530352" cy="192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未通过正深度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596128" y="4507992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候选解 4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766560" y="4453128"/>
            <a:ext cx="3337560" cy="310896"/>
          </a:xfrm>
          <a:prstGeom prst="roundRect">
            <a:avLst>
              <a:gd name="adj" fmla="val 8824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0" y="4453128"/>
            <a:ext cx="2621097" cy="310896"/>
          </a:xfrm>
          <a:prstGeom prst="roundRect">
            <a:avLst>
              <a:gd name="adj" fmla="val 8824"/>
            </a:avLst>
          </a:prstGeom>
          <a:solidFill>
            <a:srgbClr val="E45555"/>
          </a:solidFill>
          <a:ln w="12700">
            <a:solidFill>
              <a:srgbClr val="E455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0" y="449884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4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771632" y="4498848"/>
            <a:ext cx="530352" cy="192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结构误差较大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949440" y="5294376"/>
            <a:ext cx="2788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E_ortho = | v_hᵀ v_v |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68112" y="6016752"/>
            <a:ext cx="58064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80" i="1" dirty="0">
                <a:solidFill>
                  <a:srgbClr val="718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数值来自 2026-06-30 单次可追溯运行记录。</a:t>
            </a:r>
            <a:endParaRPr lang="en-US" sz="88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步骤四：跨模态尺度注入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把序列内恢复的绝对深度，注入跨序列无尺度平面几何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6576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18488"/>
            <a:ext cx="2450592" cy="3401568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18488"/>
            <a:ext cx="2450592" cy="109728"/>
          </a:xfrm>
          <a:prstGeom prst="rect">
            <a:avLst/>
          </a:prstGeom>
          <a:solidFill>
            <a:srgbClr val="2367D1"/>
          </a:solidFill>
          <a:ln w="12700">
            <a:solidFill>
              <a:srgbClr val="2367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084832"/>
            <a:ext cx="2048256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Looming 深度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2852928"/>
            <a:ext cx="2084832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367D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95528" y="4059936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米制尺度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54096" y="3328416"/>
            <a:ext cx="329184" cy="0"/>
          </a:xfrm>
          <a:prstGeom prst="line">
            <a:avLst/>
          </a:prstGeom>
          <a:noFill/>
          <a:ln w="2159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47288" y="1618488"/>
            <a:ext cx="2450592" cy="3401568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7288" y="1618488"/>
            <a:ext cx="2450592" cy="109728"/>
          </a:xfrm>
          <a:prstGeom prst="rect">
            <a:avLst/>
          </a:prstGeom>
          <a:solidFill>
            <a:srgbClr val="0EA5C6"/>
          </a:solidFill>
          <a:ln w="12700">
            <a:solidFill>
              <a:srgbClr val="0EA5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48456" y="2084832"/>
            <a:ext cx="2048256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中心像素反投影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30168" y="2852928"/>
            <a:ext cx="2084832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X_c = ZK⁻¹p_c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75888" y="4059936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目标中心 3D 点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34456" y="3328416"/>
            <a:ext cx="329184" cy="0"/>
          </a:xfrm>
          <a:prstGeom prst="line">
            <a:avLst/>
          </a:prstGeom>
          <a:noFill/>
          <a:ln w="2159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27648" y="1618488"/>
            <a:ext cx="2450592" cy="3401568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27648" y="1618488"/>
            <a:ext cx="2450592" cy="109728"/>
          </a:xfrm>
          <a:prstGeom prst="rect">
            <a:avLst/>
          </a:prstGeom>
          <a:solidFill>
            <a:srgbClr val="7557D3"/>
          </a:solidFill>
          <a:ln w="12700">
            <a:solidFill>
              <a:srgbClr val="7557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8816" y="2084832"/>
            <a:ext cx="2048256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投影到平面法向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10528" y="2852928"/>
            <a:ext cx="2084832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7557D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 = nᵀX_c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6556248" y="4059936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正交平面距离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14816" y="3328416"/>
            <a:ext cx="329184" cy="0"/>
          </a:xfrm>
          <a:prstGeom prst="line">
            <a:avLst/>
          </a:prstGeom>
          <a:noFill/>
          <a:ln w="2159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208008" y="1618488"/>
            <a:ext cx="2450592" cy="3401568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08008" y="1618488"/>
            <a:ext cx="2450592" cy="109728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09176" y="2084832"/>
            <a:ext cx="2048256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尺度恢复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90888" y="2852928"/>
            <a:ext cx="2084832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A36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t_real = (t/d)·d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36608" y="4059936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米制平移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606040" y="5394960"/>
            <a:ext cx="6995160" cy="621792"/>
          </a:xfrm>
          <a:prstGeom prst="roundRect">
            <a:avLst>
              <a:gd name="adj" fmla="val 5882"/>
            </a:avLst>
          </a:prstGeom>
          <a:solidFill>
            <a:srgbClr val="EAF8F5"/>
          </a:solidFill>
          <a:ln w="12700">
            <a:solidFill>
              <a:srgbClr val="B7D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4640" y="5577840"/>
            <a:ext cx="65379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B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最终输出：T_C₁C₂ = {R, t_real}，平移具有真实物理单位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从“能运行”走向“可用”：稳健化设计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104120" y="36576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53312"/>
            <a:ext cx="34747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17904"/>
            <a:ext cx="73152" cy="566928"/>
          </a:xfrm>
          <a:prstGeom prst="roundRect">
            <a:avLst>
              <a:gd name="adj" fmla="val 37500"/>
            </a:avLst>
          </a:prstGeom>
          <a:solidFill>
            <a:srgbClr val="2367D1"/>
          </a:solidFill>
          <a:ln w="12700">
            <a:solidFill>
              <a:srgbClr val="2367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517904"/>
            <a:ext cx="294436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长基线 + 滑动窗口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865376"/>
            <a:ext cx="2926080" cy="10789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增大 Δr，减弱像素量化误差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353312"/>
            <a:ext cx="34747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5152" y="1517904"/>
            <a:ext cx="73152" cy="566928"/>
          </a:xfrm>
          <a:prstGeom prst="roundRect">
            <a:avLst>
              <a:gd name="adj" fmla="val 37500"/>
            </a:avLst>
          </a:prstGeom>
          <a:solidFill>
            <a:srgbClr val="0EA5C6"/>
          </a:solidFill>
          <a:ln w="12700">
            <a:solidFill>
              <a:srgbClr val="0EA5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517904"/>
            <a:ext cx="294436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旋转补偿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865376"/>
            <a:ext cx="2926080" cy="10789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去除相机偏航/俯仰对 Looming 的污染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02752" y="1353312"/>
            <a:ext cx="34747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67344" y="1517904"/>
            <a:ext cx="73152" cy="566928"/>
          </a:xfrm>
          <a:prstGeom prst="roundRect">
            <a:avLst>
              <a:gd name="adj" fmla="val 37500"/>
            </a:avLst>
          </a:prstGeom>
          <a:solidFill>
            <a:srgbClr val="7557D3"/>
          </a:solidFill>
          <a:ln w="12700">
            <a:solidFill>
              <a:srgbClr val="7557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1517904"/>
            <a:ext cx="294436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ROI + RANSAC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68512" y="1865376"/>
            <a:ext cx="2926080" cy="10789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提高平面匹配纯度，过滤错误对应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" y="3566160"/>
            <a:ext cx="34747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730752"/>
            <a:ext cx="73152" cy="566928"/>
          </a:xfrm>
          <a:prstGeom prst="roundRect">
            <a:avLst>
              <a:gd name="adj" fmla="val 37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3730752"/>
            <a:ext cx="294436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正深度 + 结构筛选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4078224"/>
            <a:ext cx="2926080" cy="10789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排除单应性分解的伪解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3566160"/>
            <a:ext cx="34747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45152" y="3730752"/>
            <a:ext cx="73152" cy="566928"/>
          </a:xfrm>
          <a:prstGeom prst="roundRect">
            <a:avLst>
              <a:gd name="adj" fmla="val 37500"/>
            </a:avLst>
          </a:prstGeom>
          <a:solidFill>
            <a:srgbClr val="E45555"/>
          </a:solidFill>
          <a:ln w="12700">
            <a:solidFill>
              <a:srgbClr val="E455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730752"/>
            <a:ext cx="294436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自动退化判据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4078224"/>
            <a:ext cx="2926080" cy="10789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Δr、FOE 距离、条件数、覆盖率联合门控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02752" y="3566160"/>
            <a:ext cx="34747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67344" y="3730752"/>
            <a:ext cx="73152" cy="566928"/>
          </a:xfrm>
          <a:prstGeom prst="roundRect">
            <a:avLst>
              <a:gd name="adj" fmla="val 37500"/>
            </a:avLst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68512" y="3730752"/>
            <a:ext cx="294436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联合非线性优化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68512" y="4078224"/>
            <a:ext cx="2926080" cy="10789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统一优化尺度、位姿、法向量与重投影误差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23160" y="5815584"/>
            <a:ext cx="73609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 = λ₁E_looming + λ₂E_H + λ₃E_ortho + λ₄E_reproj</a:t>
            </a:r>
            <a:endParaRPr lang="en-US" sz="19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核心章二：跨天气重定位系统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交通标志把天气 A 的离线地图与天气 B 的当前车辆连接起来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6576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07592"/>
            <a:ext cx="5212080" cy="4526280"/>
          </a:xfrm>
          <a:prstGeom prst="roundRect">
            <a:avLst>
              <a:gd name="adj" fmla="val 1616"/>
            </a:avLst>
          </a:prstGeom>
          <a:solidFill>
            <a:srgbClr val="EDF4FF"/>
          </a:solidFill>
          <a:ln w="12700">
            <a:solidFill>
              <a:srgbClr val="C8D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27632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67D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离线端｜天气 A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41832" y="2176272"/>
            <a:ext cx="459943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2340864"/>
            <a:ext cx="438912" cy="438912"/>
          </a:xfrm>
          <a:prstGeom prst="ellipse">
            <a:avLst/>
          </a:prstGeom>
          <a:solidFill>
            <a:srgbClr val="2367D1"/>
          </a:solidFill>
          <a:ln w="12700">
            <a:solidFill>
              <a:srgbClr val="2367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427732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36776" y="2331720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D456 图像 + IMU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36776" y="2651760"/>
            <a:ext cx="3776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ORB-SLAM3 局部轨迹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41832" y="3008376"/>
            <a:ext cx="459943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8992" y="3172968"/>
            <a:ext cx="438912" cy="438912"/>
          </a:xfrm>
          <a:prstGeom prst="ellipse">
            <a:avLst/>
          </a:prstGeom>
          <a:solidFill>
            <a:srgbClr val="2367D1"/>
          </a:solidFill>
          <a:ln w="12700">
            <a:solidFill>
              <a:srgbClr val="2367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259836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36776" y="3163824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短段 RTK-GPS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36776" y="3483864"/>
            <a:ext cx="3776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世界坐标锚定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41832" y="3840480"/>
            <a:ext cx="459943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8992" y="4005072"/>
            <a:ext cx="438912" cy="438912"/>
          </a:xfrm>
          <a:prstGeom prst="ellipse">
            <a:avLst/>
          </a:prstGeom>
          <a:solidFill>
            <a:srgbClr val="2367D1"/>
          </a:solidFill>
          <a:ln w="12700">
            <a:solidFill>
              <a:srgbClr val="2367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4091940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36776" y="3995928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交通标志观测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36776" y="4315968"/>
            <a:ext cx="3776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T_C₁S 相对位姿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41832" y="4672584"/>
            <a:ext cx="459943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8992" y="4837176"/>
            <a:ext cx="438912" cy="438912"/>
          </a:xfrm>
          <a:prstGeom prst="ellipse">
            <a:avLst/>
          </a:prstGeom>
          <a:solidFill>
            <a:srgbClr val="2367D1"/>
          </a:solidFill>
          <a:ln w="12700">
            <a:solidFill>
              <a:srgbClr val="2367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4924044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36776" y="4828032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语义路标入库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36776" y="5148072"/>
            <a:ext cx="3776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 / 描述子 / T_WS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1307592"/>
            <a:ext cx="5212080" cy="4526280"/>
          </a:xfrm>
          <a:prstGeom prst="roundRect">
            <a:avLst>
              <a:gd name="adj" fmla="val 1616"/>
            </a:avLst>
          </a:prstGeom>
          <a:solidFill>
            <a:srgbClr val="EAF8F5"/>
          </a:solidFill>
          <a:ln w="12700">
            <a:solidFill>
              <a:srgbClr val="B7D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0256" y="1627632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在线端｜天气 B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6601968" y="2176272"/>
            <a:ext cx="459943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39128" y="2340864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39128" y="2427732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96912" y="2331720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检测交通标志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96912" y="2651760"/>
            <a:ext cx="3776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语义类别与区域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01968" y="3008376"/>
            <a:ext cx="459943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39128" y="3172968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39128" y="3259836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96912" y="3163824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跨天气重识别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296912" y="3483864"/>
            <a:ext cx="3776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确认同一物理路标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601968" y="3840480"/>
            <a:ext cx="459943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4005072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39128" y="4091940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296912" y="3995928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当前相对位姿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296912" y="4315968"/>
            <a:ext cx="3776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 T_C₂S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601968" y="4672584"/>
            <a:ext cx="459943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39128" y="4837176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39128" y="4924044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296912" y="4828032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车辆 GPS 恢复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296912" y="5148072"/>
            <a:ext cx="3776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T_WC₂ = T_WS T_C₂S⁻¹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897880" y="3547872"/>
            <a:ext cx="374904" cy="0"/>
          </a:xfrm>
          <a:prstGeom prst="line">
            <a:avLst/>
          </a:prstGeom>
          <a:noFill/>
          <a:ln w="38100">
            <a:solidFill>
              <a:srgbClr val="16A36A"/>
            </a:solidFill>
            <a:prstDash val="solid"/>
            <a:headEnd type="none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4270248" y="6007608"/>
            <a:ext cx="365760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A3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共享：交通标志全局位姿 T_WS</a:t>
            </a:r>
            <a:endParaRPr lang="en-US" sz="135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数据采集与时间同步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保证相机、IMU、GPS 与 ORB-SLAM3 轨迹处于可审计的时间链路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6576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1490472"/>
            <a:ext cx="73152" cy="566928"/>
          </a:xfrm>
          <a:prstGeom prst="roundRect">
            <a:avLst>
              <a:gd name="adj" fmla="val 37500"/>
            </a:avLst>
          </a:prstGeom>
          <a:solidFill>
            <a:srgbClr val="2367D1"/>
          </a:solidFill>
          <a:ln w="12700">
            <a:solidFill>
              <a:srgbClr val="2367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490472"/>
            <a:ext cx="289864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D456 彩色图像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1837944"/>
            <a:ext cx="2880360" cy="7589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848×480 @ 30 FPS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132588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0872" y="1490472"/>
            <a:ext cx="73152" cy="566928"/>
          </a:xfrm>
          <a:prstGeom prst="roundRect">
            <a:avLst>
              <a:gd name="adj" fmla="val 37500"/>
            </a:avLst>
          </a:prstGeom>
          <a:solidFill>
            <a:srgbClr val="0EA5C6"/>
          </a:solidFill>
          <a:ln w="12700">
            <a:solidFill>
              <a:srgbClr val="0EA5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90472"/>
            <a:ext cx="289864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D456 IMU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1837944"/>
            <a:ext cx="2880360" cy="7589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200 Hz，设备时钟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66760" y="132588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31352" y="1490472"/>
            <a:ext cx="73152" cy="566928"/>
          </a:xfrm>
          <a:prstGeom prst="roundRect">
            <a:avLst>
              <a:gd name="adj" fmla="val 37500"/>
            </a:avLst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1490472"/>
            <a:ext cx="289864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G90 RTK-GNSS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32520" y="1837944"/>
            <a:ext cx="2880360" cy="7589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NMEA UTC，高精度参考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95728" y="2953512"/>
            <a:ext cx="0" cy="484632"/>
          </a:xfrm>
          <a:prstGeom prst="line">
            <a:avLst/>
          </a:prstGeom>
          <a:noFill/>
          <a:ln w="2794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36208" y="2953512"/>
            <a:ext cx="0" cy="484632"/>
          </a:xfrm>
          <a:prstGeom prst="line">
            <a:avLst/>
          </a:prstGeom>
          <a:noFill/>
          <a:ln w="2794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76688" y="2953512"/>
            <a:ext cx="0" cy="484632"/>
          </a:xfrm>
          <a:prstGeom prst="line">
            <a:avLst/>
          </a:prstGeom>
          <a:noFill/>
          <a:ln w="2794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298448" y="3493008"/>
            <a:ext cx="9601200" cy="932688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D3E0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27632" y="3749040"/>
            <a:ext cx="31546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设备时间 ↔ 主机 UTC 仿射拟合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3749040"/>
            <a:ext cx="557784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输出同步残差、每帧 GPS 时间差、卫星数与 HDOP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4956048"/>
            <a:ext cx="2377440" cy="310896"/>
          </a:xfrm>
          <a:prstGeom prst="roundRect">
            <a:avLst>
              <a:gd name="adj" fmla="val 2058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5020056"/>
            <a:ext cx="223113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367D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EuRoC 图像/IMU目录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03320" y="4956048"/>
            <a:ext cx="2377440" cy="310896"/>
          </a:xfrm>
          <a:prstGeom prst="roundRect">
            <a:avLst>
              <a:gd name="adj" fmla="val 20588"/>
            </a:avLst>
          </a:prstGeom>
          <a:solidFill>
            <a:srgbClr val="EAF8F0"/>
          </a:solidFill>
          <a:ln w="12700">
            <a:solidFill>
              <a:srgbClr val="EAF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76472" y="5020056"/>
            <a:ext cx="223113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frame_gps.csv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92240" y="4956048"/>
            <a:ext cx="2377440" cy="310896"/>
          </a:xfrm>
          <a:prstGeom prst="roundRect">
            <a:avLst>
              <a:gd name="adj" fmla="val 2058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392" y="5020056"/>
            <a:ext cx="223113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557D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ORB-SLAM3 轨迹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281160" y="4956048"/>
            <a:ext cx="2377440" cy="310896"/>
          </a:xfrm>
          <a:prstGeom prst="roundRect">
            <a:avLst>
              <a:gd name="adj" fmla="val 2058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54312" y="5020056"/>
            <a:ext cx="223113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metadata.json 质量指标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14400" y="5797296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4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说明：未接 GPS PPS，因此属于“有误差度量的软件同步”，不宣称硬件零误差同步。</a:t>
            </a:r>
            <a:endParaRPr lang="en-US" sz="12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实验平台与当前数据链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104120" y="36576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pic>
        <p:nvPicPr>
          <p:cNvPr id="5" name="Image 0" descr="/home/ehuy/ORBSLAM3-TrafficSign-Pose/manual_split/seg_manual_0/rgb/178237446351475046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353312"/>
            <a:ext cx="4800600" cy="2715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57400" y="4187952"/>
            <a:ext cx="2057400" cy="310896"/>
          </a:xfrm>
          <a:prstGeom prst="roundRect">
            <a:avLst>
              <a:gd name="adj" fmla="val 20588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30552" y="4251960"/>
            <a:ext cx="191109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367D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真实道路采集帧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806440" y="1353312"/>
            <a:ext cx="5669280" cy="2715768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71032" y="1517904"/>
            <a:ext cx="73152" cy="566928"/>
          </a:xfrm>
          <a:prstGeom prst="roundRect">
            <a:avLst>
              <a:gd name="adj" fmla="val 37500"/>
            </a:avLst>
          </a:prstGeom>
          <a:solidFill>
            <a:srgbClr val="2367D1"/>
          </a:solidFill>
          <a:ln w="12700">
            <a:solidFill>
              <a:srgbClr val="2367D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72200" y="1517904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硬件与数据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172200" y="1865376"/>
            <a:ext cx="5120640" cy="2057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Intel RealSense D456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G90 RTK-GNSS / NMEA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图像 848×480 @ 30 FPS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IMU 约 200 Hz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多段道路序列、逐帧轨迹、ROI/四角点标注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4681728"/>
            <a:ext cx="107899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0120" y="5029200"/>
            <a:ext cx="1078992" cy="310896"/>
          </a:xfrm>
          <a:prstGeom prst="roundRect">
            <a:avLst>
              <a:gd name="adj" fmla="val 20588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33272" y="5093208"/>
            <a:ext cx="93268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367D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采集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057400" y="5184648"/>
            <a:ext cx="301752" cy="0"/>
          </a:xfrm>
          <a:prstGeom prst="line">
            <a:avLst/>
          </a:prstGeom>
          <a:noFill/>
          <a:ln w="1651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441448" y="5029200"/>
            <a:ext cx="1078992" cy="310896"/>
          </a:xfrm>
          <a:prstGeom prst="roundRect">
            <a:avLst>
              <a:gd name="adj" fmla="val 20588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14600" y="5093208"/>
            <a:ext cx="93268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367D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SLAM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38728" y="5184648"/>
            <a:ext cx="301752" cy="0"/>
          </a:xfrm>
          <a:prstGeom prst="line">
            <a:avLst/>
          </a:prstGeom>
          <a:noFill/>
          <a:ln w="1651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922776" y="5029200"/>
            <a:ext cx="1078992" cy="310896"/>
          </a:xfrm>
          <a:prstGeom prst="roundRect">
            <a:avLst>
              <a:gd name="adj" fmla="val 20588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95928" y="5093208"/>
            <a:ext cx="93268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367D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分段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20056" y="5184648"/>
            <a:ext cx="301752" cy="0"/>
          </a:xfrm>
          <a:prstGeom prst="line">
            <a:avLst/>
          </a:prstGeom>
          <a:noFill/>
          <a:ln w="1651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404104" y="5029200"/>
            <a:ext cx="1078992" cy="310896"/>
          </a:xfrm>
          <a:prstGeom prst="roundRect">
            <a:avLst>
              <a:gd name="adj" fmla="val 20588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77256" y="5093208"/>
            <a:ext cx="93268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367D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标注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501384" y="5184648"/>
            <a:ext cx="301752" cy="0"/>
          </a:xfrm>
          <a:prstGeom prst="line">
            <a:avLst/>
          </a:prstGeom>
          <a:noFill/>
          <a:ln w="1651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885432" y="5029200"/>
            <a:ext cx="1078992" cy="310896"/>
          </a:xfrm>
          <a:prstGeom prst="roundRect">
            <a:avLst>
              <a:gd name="adj" fmla="val 20588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58584" y="5093208"/>
            <a:ext cx="93268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367D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Looming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982712" y="5184648"/>
            <a:ext cx="301752" cy="0"/>
          </a:xfrm>
          <a:prstGeom prst="line">
            <a:avLst/>
          </a:prstGeom>
          <a:noFill/>
          <a:ln w="1651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366760" y="5029200"/>
            <a:ext cx="1078992" cy="310896"/>
          </a:xfrm>
          <a:prstGeom prst="roundRect">
            <a:avLst>
              <a:gd name="adj" fmla="val 20588"/>
            </a:avLst>
          </a:prstGeom>
          <a:solidFill>
            <a:srgbClr val="F0ECFB"/>
          </a:solidFill>
          <a:ln w="12700">
            <a:solidFill>
              <a:srgbClr val="F0ECF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439912" y="5093208"/>
            <a:ext cx="93268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557D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LoFTR/H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9464040" y="5184648"/>
            <a:ext cx="301752" cy="0"/>
          </a:xfrm>
          <a:prstGeom prst="line">
            <a:avLst/>
          </a:prstGeom>
          <a:noFill/>
          <a:ln w="1651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9848088" y="5029200"/>
            <a:ext cx="1078992" cy="310896"/>
          </a:xfrm>
          <a:prstGeom prst="roundRect">
            <a:avLst>
              <a:gd name="adj" fmla="val 20588"/>
            </a:avLst>
          </a:prstGeom>
          <a:solidFill>
            <a:srgbClr val="F0ECFB"/>
          </a:solidFill>
          <a:ln w="12700">
            <a:solidFill>
              <a:srgbClr val="F0ECF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921240" y="5093208"/>
            <a:ext cx="93268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557D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GPS验证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05840" y="599846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现状：工程流水线已形成；需要用跨天气成对数据重新完成最终对比实验。</a:t>
            </a:r>
            <a:endParaRPr lang="en-US" sz="13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单次可追溯运行结果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来源：experiment_results.txt，运行时间 2026-06-30 16:46:08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6576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749808" y="1335024"/>
          <a:ext cx="7315200" cy="4297680"/>
        </p:xfrm>
        <a:graphic>
          <a:graphicData uri="http://schemas.openxmlformats.org/drawingml/2006/table">
            <a:tbl>
              <a:tblPr/>
              <a:tblGrid>
                <a:gridCol w="1508760"/>
                <a:gridCol w="3310128"/>
                <a:gridCol w="2487168"/>
              </a:tblGrid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模块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指标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记录值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Looming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滑动窗口 / 膨胀量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 帧 / 32.6 px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Looming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恢复光轴深度 Z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7.951 m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跨序列匹配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LoFTR ROI 有效匹配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62 对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结构消歧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候选 2 / 候选 4 正交误差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0.1160 / 0.5893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尺度注入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恢复平面距离 d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8.697 m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尺度注入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恢复平移模长 |t_real|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1.5162 m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9808" y="1335024"/>
            <a:ext cx="7315200" cy="55778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150876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350008" y="1508760"/>
            <a:ext cx="30358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0136" y="1508760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记录值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430768" y="1335024"/>
            <a:ext cx="30175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95360" y="1499616"/>
            <a:ext cx="73152" cy="566928"/>
          </a:xfrm>
          <a:prstGeom prst="roundRect">
            <a:avLst>
              <a:gd name="adj" fmla="val 37500"/>
            </a:avLst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96528" y="1499616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能够说明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796528" y="1847088"/>
            <a:ext cx="2468880" cy="1307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核心链路已经跑通：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测距 → 匹配 → 消歧 → 尺度恢复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430768" y="3611880"/>
            <a:ext cx="30175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95360" y="3776472"/>
            <a:ext cx="73152" cy="566928"/>
          </a:xfrm>
          <a:prstGeom prst="roundRect">
            <a:avLst>
              <a:gd name="adj" fmla="val 37500"/>
            </a:avLst>
          </a:prstGeom>
          <a:solidFill>
            <a:srgbClr val="E45555"/>
          </a:solidFill>
          <a:ln w="12700">
            <a:solidFill>
              <a:srgbClr val="E455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96528" y="3776472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不能说明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796528" y="4123944"/>
            <a:ext cx="2468880" cy="1307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单次结果不能证明跨天气定位精度，也不能代替批量真值评估。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14400" y="601675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阶段判断：方法原型“可运行”，但最终论文结论仍应以跨天气批量实验为准。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系统实现与当前成果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104120" y="36576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25880"/>
            <a:ext cx="5266944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90472"/>
            <a:ext cx="73152" cy="566928"/>
          </a:xfrm>
          <a:prstGeom prst="roundRect">
            <a:avLst>
              <a:gd name="adj" fmla="val 37500"/>
            </a:avLst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490472"/>
            <a:ext cx="47365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工程系统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05840" y="1993392"/>
            <a:ext cx="4407408" cy="324612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225A4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D456 图像/IMU 与 GPS 同步采集工具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225A4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在线/离线 ORB-SLAM3 与轨迹导出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225A4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轨迹分段、标注、缓存与可视化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225A4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多帧 Looming 深度恢复原型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225A4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LoFTR + 单应性分解 + 结构消歧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225A4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跨序列尺度注入计算链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54496" y="1325880"/>
            <a:ext cx="5266944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9088" y="1490472"/>
            <a:ext cx="73152" cy="566928"/>
          </a:xfrm>
          <a:prstGeom prst="roundRect">
            <a:avLst>
              <a:gd name="adj" fmla="val 37500"/>
            </a:avLst>
          </a:prstGeom>
          <a:solidFill>
            <a:srgbClr val="2367D1"/>
          </a:solidFill>
          <a:ln w="12700">
            <a:solidFill>
              <a:srgbClr val="2367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0256" y="1490472"/>
            <a:ext cx="47365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核心算法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01968" y="1993392"/>
            <a:ext cx="4407408" cy="324612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24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跨序列交通标志 ROI 匹配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24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滑动窗口 Looming 深度恢复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24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旋转补偿与 FOE 几何建模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24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单应性分解与候选位姿生成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24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汉字横竖结构约束消歧</a:t>
            </a:r>
            <a:endParaRPr lang="en-US" sz="130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24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绝对尺度注入与轨迹对齐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6035040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已形成“数据采集—轨迹恢复—目标匹配—尺度恢复—全局定位”的完整技术链。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完整实验设计：验证“跨天气重定位”是否成立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104120" y="36576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53312"/>
            <a:ext cx="3474720" cy="3547872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17904"/>
            <a:ext cx="73152" cy="566928"/>
          </a:xfrm>
          <a:prstGeom prst="roundRect">
            <a:avLst>
              <a:gd name="adj" fmla="val 37500"/>
            </a:avLst>
          </a:prstGeom>
          <a:solidFill>
            <a:srgbClr val="E45555"/>
          </a:solidFill>
          <a:ln w="12700">
            <a:solidFill>
              <a:srgbClr val="E4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517904"/>
            <a:ext cx="294436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A｜跨天气识别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139696"/>
            <a:ext cx="2761488" cy="208483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17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晴→雨、晴→雾等天气组合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17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标志检出率与重识别 Recall@1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17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传统外观检索 vs 标志辅助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353312"/>
            <a:ext cx="3474720" cy="3547872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5152" y="1517904"/>
            <a:ext cx="73152" cy="566928"/>
          </a:xfrm>
          <a:prstGeom prst="roundRect">
            <a:avLst>
              <a:gd name="adj" fmla="val 37500"/>
            </a:avLst>
          </a:prstGeom>
          <a:solidFill>
            <a:srgbClr val="2367D1"/>
          </a:solidFill>
          <a:ln w="12700">
            <a:solidFill>
              <a:srgbClr val="2367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517904"/>
            <a:ext cx="294436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B｜几何精度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28032" y="2139696"/>
            <a:ext cx="2761488" cy="208483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17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深度 MAE / RMSE / MAPE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17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平移误差与旋转误差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17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GPS 平面定位误差 / ATE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02752" y="1353312"/>
            <a:ext cx="3474720" cy="3547872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67344" y="1517904"/>
            <a:ext cx="73152" cy="566928"/>
          </a:xfrm>
          <a:prstGeom prst="roundRect">
            <a:avLst>
              <a:gd name="adj" fmla="val 37500"/>
            </a:avLst>
          </a:prstGeom>
          <a:solidFill>
            <a:srgbClr val="7557D3"/>
          </a:solidFill>
          <a:ln w="12700">
            <a:solidFill>
              <a:srgbClr val="7557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1517904"/>
            <a:ext cx="294436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C｜消融与鲁棒性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50224" y="2139696"/>
            <a:ext cx="2761488" cy="208483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17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单帧 vs 多帧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17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无去旋 / 无结构筛选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17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距离、FOE、模糊、匹配数分组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41248" y="5285232"/>
            <a:ext cx="10497312" cy="685800"/>
          </a:xfrm>
          <a:prstGeom prst="roundRect">
            <a:avLst>
              <a:gd name="adj" fmla="val 5333"/>
            </a:avLst>
          </a:prstGeom>
          <a:solidFill>
            <a:srgbClr val="FFF7E8"/>
          </a:solidFill>
          <a:ln w="12700">
            <a:solidFill>
              <a:srgbClr val="F1D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5486400"/>
            <a:ext cx="9838944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805A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结果必须同时报告：样本数 N、均值、中位数、RMSE、95% 分位数、成功率，并按天气组合分组。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结论与创新点凝练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104120" y="36576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44168"/>
            <a:ext cx="10661904" cy="795528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508760"/>
            <a:ext cx="457200" cy="457200"/>
          </a:xfrm>
          <a:prstGeom prst="ellipse">
            <a:avLst/>
          </a:prstGeom>
          <a:solidFill>
            <a:srgbClr val="E45555"/>
          </a:solidFill>
          <a:ln w="12700">
            <a:solidFill>
              <a:srgbClr val="E4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18488"/>
            <a:ext cx="4572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73352" y="1517904"/>
            <a:ext cx="20848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跨天气语义锚点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77640" y="1545336"/>
            <a:ext cx="6903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交通标志在传统视觉地图匹配退化时提供稳定定位参照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404872"/>
            <a:ext cx="10661904" cy="795528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569464"/>
            <a:ext cx="457200" cy="457200"/>
          </a:xfrm>
          <a:prstGeom prst="ellipse">
            <a:avLst/>
          </a:prstGeom>
          <a:solidFill>
            <a:srgbClr val="2367D1"/>
          </a:solidFill>
          <a:ln w="12700">
            <a:solidFill>
              <a:srgbClr val="2367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679192"/>
            <a:ext cx="4572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73352" y="2578608"/>
            <a:ext cx="20848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时序运动尺度锚定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77640" y="2606040"/>
            <a:ext cx="6903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多帧视觉膨胀与短时 VIO 运动联合恢复绝对深度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3465576"/>
            <a:ext cx="10661904" cy="795528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630168"/>
            <a:ext cx="457200" cy="457200"/>
          </a:xfrm>
          <a:prstGeom prst="ellipse">
            <a:avLst/>
          </a:prstGeom>
          <a:solidFill>
            <a:srgbClr val="7557D3"/>
          </a:solidFill>
          <a:ln w="12700">
            <a:solidFill>
              <a:srgbClr val="7557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739896"/>
            <a:ext cx="4572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73352" y="3639312"/>
            <a:ext cx="20848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目标结构消歧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77640" y="3666744"/>
            <a:ext cx="6903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利用标志内部横/竖拓扑筛选单应性物理解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7240" y="4526280"/>
            <a:ext cx="10661904" cy="795528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" y="4690872"/>
            <a:ext cx="457200" cy="457200"/>
          </a:xfrm>
          <a:prstGeom prst="ellipse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800600"/>
            <a:ext cx="4572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73352" y="4700016"/>
            <a:ext cx="20848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通用重定位闭环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77640" y="4727448"/>
            <a:ext cx="6903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语义锚点可连接不同全局参考；本次以 GPS 恢复为实例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078992" y="5715000"/>
            <a:ext cx="10040112" cy="548640"/>
          </a:xfrm>
          <a:prstGeom prst="roundRect">
            <a:avLst>
              <a:gd name="adj" fmla="val 6667"/>
            </a:avLst>
          </a:prstGeom>
          <a:solidFill>
            <a:srgbClr val="EAF8F5"/>
          </a:solidFill>
          <a:ln w="12700">
            <a:solidFill>
              <a:srgbClr val="B7D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53312" y="5879592"/>
            <a:ext cx="949147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6B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结论：已形成以交通标志为语义锚点、由相对位姿恢复车辆全局位置的完整方法框架。</a:t>
            </a:r>
            <a:endParaRPr lang="en-US" sz="13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下一步工作与优先级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104120" y="36576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81328"/>
            <a:ext cx="594360" cy="310896"/>
          </a:xfrm>
          <a:prstGeom prst="roundRect">
            <a:avLst>
              <a:gd name="adj" fmla="val 20588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45336"/>
            <a:ext cx="44805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4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45920" y="1426464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修复 GPS 真值链路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24528" y="1444752"/>
            <a:ext cx="67208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核对时间戳、帧索引、ENU 转换与坐标方向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664208" y="1938528"/>
            <a:ext cx="93726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414016"/>
            <a:ext cx="594360" cy="310896"/>
          </a:xfrm>
          <a:prstGeom prst="roundRect">
            <a:avLst>
              <a:gd name="adj" fmla="val 20588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478024"/>
            <a:ext cx="44805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4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45920" y="235915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采集跨天气成对数据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24528" y="2377440"/>
            <a:ext cx="67208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同一路段、同一标志、不同天气，保证 RTK 真值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664208" y="2871216"/>
            <a:ext cx="93726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346704"/>
            <a:ext cx="594360" cy="310896"/>
          </a:xfrm>
          <a:prstGeom prst="roundRect">
            <a:avLst>
              <a:gd name="adj" fmla="val 20588"/>
            </a:avLst>
          </a:prstGeom>
          <a:solidFill>
            <a:srgbClr val="FFF4DB"/>
          </a:solidFill>
          <a:ln w="12700">
            <a:solidFill>
              <a:srgbClr val="FFF4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3410712"/>
            <a:ext cx="44805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45920" y="3291840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完成批量对比与消融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24528" y="3310128"/>
            <a:ext cx="67208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传统视觉检索 / PnP / 纯 SLAM / 本文方法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664208" y="3803904"/>
            <a:ext cx="93726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279392"/>
            <a:ext cx="594360" cy="310896"/>
          </a:xfrm>
          <a:prstGeom prst="roundRect">
            <a:avLst>
              <a:gd name="adj" fmla="val 20588"/>
            </a:avLst>
          </a:prstGeom>
          <a:solidFill>
            <a:srgbClr val="FFF4DB"/>
          </a:solidFill>
          <a:ln w="12700">
            <a:solidFill>
              <a:srgbClr val="FFF4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4343400"/>
            <a:ext cx="44805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45920" y="4224528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实现自动退化检测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24528" y="4242816"/>
            <a:ext cx="67208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Δr、FOE、单应性条件数、匹配覆盖率联合门控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664208" y="4736592"/>
            <a:ext cx="93726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212080"/>
            <a:ext cx="594360" cy="310896"/>
          </a:xfrm>
          <a:prstGeom prst="roundRect">
            <a:avLst>
              <a:gd name="adj" fmla="val 20588"/>
            </a:avLst>
          </a:prstGeom>
          <a:solidFill>
            <a:srgbClr val="EAF8F0"/>
          </a:solidFill>
          <a:ln w="12700">
            <a:solidFill>
              <a:srgbClr val="EAF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5276088"/>
            <a:ext cx="44805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45920" y="5157216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统一联合优化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224528" y="5175504"/>
            <a:ext cx="67208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A62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鲁棒核 + 不确定性权重 + 多约束联合求解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664208" y="5669280"/>
            <a:ext cx="93726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688" y="5907024"/>
            <a:ext cx="10314432" cy="457200"/>
          </a:xfrm>
          <a:prstGeom prst="roundRect">
            <a:avLst>
              <a:gd name="adj" fmla="val 8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6044184"/>
            <a:ext cx="980236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近期目标：形成 1 套可复现跨天气数据 + 1 张主结果表 + 1 组消融图 + 1 张完整系统流程图</a:t>
            </a:r>
            <a:endParaRPr lang="en-US" sz="12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8046720" y="-1371600"/>
            <a:ext cx="5852160" cy="5852160"/>
          </a:xfrm>
          <a:prstGeom prst="arc">
            <a:avLst/>
          </a:prstGeom>
          <a:solidFill>
            <a:srgbClr val="14B8A6">
              <a:alpha val="62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822960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9808" y="150876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以固定交通标志为跨天气语义锚点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86384" y="2450592"/>
            <a:ext cx="6858000" cy="10241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C6D5E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用一小段高精度 GPS 标定路标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C6D5E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在第二次经过时恢复车辆当前 GPS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86384" y="3913632"/>
            <a:ext cx="1965960" cy="0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4617720"/>
            <a:ext cx="3977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谢谢，请批评指正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86384" y="528523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 &amp; 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4659</Words>
  <Application>WPS 演示</Application>
  <PresentationFormat>On-screen Show (16:9)</PresentationFormat>
  <Paragraphs>771</Paragraphs>
  <Slides>24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51" baseType="lpstr">
      <vt:lpstr>Arial</vt:lpstr>
      <vt:lpstr>宋体</vt:lpstr>
      <vt:lpstr>Wingdings</vt:lpstr>
      <vt:lpstr>Aptos</vt:lpstr>
      <vt:lpstr>Noto Sans CJK SC</vt:lpstr>
      <vt:lpstr>DejaVu Sans</vt:lpstr>
      <vt:lpstr>微软雅黑</vt:lpstr>
      <vt:lpstr>文泉驿微米黑</vt:lpstr>
      <vt:lpstr>微软雅黑</vt:lpstr>
      <vt:lpstr>微软雅黑</vt:lpstr>
      <vt:lpstr>Aptos Display</vt:lpstr>
      <vt:lpstr>Aptos Display</vt:lpstr>
      <vt:lpstr>Aptos Display</vt:lpstr>
      <vt:lpstr>Aptos</vt:lpstr>
      <vt:lpstr>Aptos</vt:lpstr>
      <vt:lpstr>Aptos</vt:lpstr>
      <vt:lpstr>宋体</vt:lpstr>
      <vt:lpstr>Arial Unicode MS</vt:lpstr>
      <vt:lpstr>等线</vt:lpstr>
      <vt:lpstr>C059</vt:lpstr>
      <vt:lpstr>Noto Serif CJK SC</vt:lpstr>
      <vt:lpstr>Cambria Math</vt:lpstr>
      <vt:lpstr>Cambria Math</vt:lpstr>
      <vt:lpstr>Cambria Math</vt:lpstr>
      <vt:lpstr>DejaVu Math TeX Gyre</vt:lpstr>
      <vt:lpstr>OpenSymbol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Graduate Thesis Progress Report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基于道路交通标志的跨天气视觉重定位方法</dc:title>
  <dc:creator>ORBSLAM3-TrafficSign-Pose</dc:creator>
  <dc:subject>毕业论文核心两章汇报</dc:subject>
  <cp:lastModifiedBy>McCain</cp:lastModifiedBy>
  <cp:revision>3</cp:revision>
  <dcterms:created xsi:type="dcterms:W3CDTF">2026-10-13T04:45:06Z</dcterms:created>
  <dcterms:modified xsi:type="dcterms:W3CDTF">2026-10-13T04:45:06Z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82D92B8BA65E791532B7CD6AC79393AB_42</vt:lpwstr>
  </property>
  <property fmtid="{D5CDD505-2E9C-101B-9397-08002B2CF9AE}" pid="3" name="KSOProductBuildVer">
    <vt:lpwstr>2052-12.1.2.25882</vt:lpwstr>
  </property>
</Properties>
</file>